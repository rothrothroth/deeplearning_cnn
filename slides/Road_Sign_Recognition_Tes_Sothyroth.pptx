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ec7a8b-a9b5-862a-0a49-41a736063b47}">
          <p14:sldIdLst>
            <p14:sldId id="256"/>
            <p14:sldId id="257"/>
            <p14:sldId id="258"/>
          </p14:sldIdLst>
        </p14:section>
        <p14:section name="Data" id="{35b99438-5bd0-eee6-1198-9fcd6bd61a03}">
          <p14:sldIdLst>
            <p14:sldId id="259"/>
            <p14:sldId id="260"/>
            <p14:sldId id="261"/>
          </p14:sldIdLst>
        </p14:section>
        <p14:section name="Method" id="{8401c3d7-5e8a-08aa-4490-78a43fd9e620}">
          <p14:sldIdLst>
            <p14:sldId id="262"/>
            <p14:sldId id="263"/>
          </p14:sldIdLst>
        </p14:section>
        <p14:section name="Results" id="{f039b005-a865-fbbe-763b-d8d6fb0a1a4e}">
          <p14:sldIdLst>
            <p14:sldId id="264"/>
            <p14:sldId id="265"/>
            <p14:sldId id="266"/>
            <p14:sldId id="267"/>
          </p14:sldIdLst>
        </p14:section>
        <p14:section name="Analysis" id="{0d4e8ace-f5ba-ba34-ffff-6f3169ab293a}">
          <p14:sldIdLst>
            <p14:sldId id="268"/>
            <p14:sldId id="269"/>
            <p14:sldId id="270"/>
          </p14:sldIdLst>
        </p14:section>
        <p14:section name="Conclusion" id="{01b68dbd-7ef2-07aa-93ab-b65c563157c8}">
          <p14:sldIdLst>
            <p14:sldId id="271"/>
            <p14:sldId id="272"/>
            <p14:sldId id="273"/>
          </p14:sldIdLst>
        </p14:section>
        <p14:section name="Backup" id="{587dac5a-356a-d98a-d848-8535847a650c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classifying cropped Cambodian traffic signs into 26 classes, comparing three deep-learning approaches on the same data. The final model is a fully fine-tuned ResNet-18 at 98.70% test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of the talk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task precisely: input is a cropped sign image, output is one of 26 classes. Motivation: road safety, Cambodia-specific signs, and the challenge of look-alike classes and imbalance.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Kaggle dataset under Apache 2.0. Explain the crop pipeline and the 117 excluded UNDEFINED annotations. Point out the imbalance: KM_POST has 738 crops, the rarest class only 29. That is why macro F1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methodological choice. Because many photos contain several signs, I split by source photo, then cropped. Every approach uses the same committed manifests. Zero photo overlap, and the test set is only used once after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Mild augmentation for training only. ImageNet normalisation because two approaches use ImageNet-pretrained weights. Explain the no-flip decision with the left-bend example: flipping changes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distinct approaches, following the rubric example: from scratch, linear probe, full fine-tuning. Highlight trainable parameters: 133K, 13K, 11.2M. The frozen model keeps BatchNorm statistics fixed so the backbone is truly frozen.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protocol for every approach, so the comparison is fair. Seeds fixed. Same metrics everywhere; macro F1 because of the imbalance. Test set touched once per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top to bottom: each step of transfer learning helps. Biggest jump is from scratch to frozen pretrained features. Fine-tuning mostly helps macro F1, i.e. rare classes. Final model: 98.70% accuracy, 98.47% macro F1, 457 of 463 correct. Training time is on one Tesla T4.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and macro F1 side by side. Point out that SmallCNN's macro F1 is much lower than its accuracy: it does well on big classes like KM_POST but poorly on rare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SmallCNN underfits: it has not even fitted the training data, so capacity and data are the limit. Frozen fits well with a small growing gap. Fine-tuned fits training data almost perfectly; validation loss rises after epoch 7, a mild overfit in confidence, contained by early stopping and keeping the best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here: tuning did not separate the configurations on validation accuracy; all tied. B won the pre-defined tie-break on validation loss. On the untouched test set it was 3 images better than the baseline, which is small and from a single seed, so I do not claim it is reliably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result to course concepts: transfer learning, feature adaptation, capacity versus data size, and regularisation.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6 errors, no confusion repeated. Three look like dataset annotation errors: a right bend labelled left bend, a keep-right sign labelled KM post, and a children-crossing sign labelled pedestrian crossing. I only inspected these 6, so I make no claim about the rest of the dataset. The genuine errors are small, occluded or similar-looking signs, mostly with low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replace with the final demo (live run or screenshots of real predictions with confidence).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limitations clearly, especially single seed and small test set, and link each future-work item to an observed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three takeaways and the main conclusion: fine-tuned ResNet-18 is the best approach,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 Backup slides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Q&amp;A: per-class recall of the final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Q&amp;A: the four tuning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Q&amp;A: accuracy curves.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IT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SUS G 16 JVR/AppData/Local/Temp/claude/C--Users-ASUS-G-16-JVR-Desktop-deepLearning-CNN/ddb4b7a1-b5ad-4432-b312-271443ec143d/scratchpad/deck/assets/kit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877824" cy="5852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noFill/>
          <a:ln w="15875">
            <a:solidFill>
              <a:srgbClr val="0B5A3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4C32"/>
          </a:solidFill>
          <a:ln w="12700">
            <a:solidFill>
              <a:srgbClr val="084C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final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644652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3444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Sign Recognition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Deep Learning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26 Cambodian traffic signs: a CNN trained from scratch vs. ResNet-18 transfer learning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Tes Sothyroth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1702250028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Deep Learning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Lecturer: Him Soklong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School: Kirirom Institute of Technology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____________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29400" y="1234440"/>
            <a:ext cx="0" cy="4754880"/>
          </a:xfrm>
          <a:prstGeom prst="line">
            <a:avLst/>
          </a:prstGeom>
          <a:noFill/>
          <a:ln w="12700">
            <a:solidFill>
              <a:srgbClr val="C9DDD2"/>
            </a:solidFill>
            <a:prstDash val="solid"/>
          </a:ln>
        </p:spPr>
      </p:sp>
      <p:sp>
        <p:nvSpPr>
          <p:cNvPr id="6" name="title-card"/>
          <p:cNvSpPr/>
          <p:nvPr/>
        </p:nvSpPr>
        <p:spPr>
          <a:xfrm>
            <a:off x="6903720" y="1234440"/>
            <a:ext cx="4828032" cy="4754880"/>
          </a:xfrm>
          <a:prstGeom prst="roundRect">
            <a:avLst>
              <a:gd name="adj" fmla="val 1538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pic>
        <p:nvPicPr>
          <p:cNvPr id="7" name="sample-grid" descr="C:/Users/ASUS G 16 JVR/AppData/Local/Temp/claude/C--Users-ASUS-G-16-JVR-Desktop-deepLearning-CNN/ddb4b7a1-b5ad-4432-b312-271443ec143d/scratchpad/deck/assets/sampl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83921"/>
            <a:ext cx="4370832" cy="21527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0" y="370332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test-set crops, all classified correctly by the final model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4114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98.70%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4773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accuracy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72600" y="4114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372600" y="4773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classes</a:t>
            </a:r>
            <a:endParaRPr lang="en-US" sz="1200" dirty="0"/>
          </a:p>
        </p:txBody>
      </p:sp>
      <p:sp>
        <p:nvSpPr>
          <p:cNvPr id="14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5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478024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715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715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319272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570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5570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Leak-free split &amp; preprocessing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3982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3982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5001768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39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2395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843016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8745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comparison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2478024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715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715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curves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0" y="3319272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5570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5570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0" y="4160520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43982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3982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&amp; demo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00800" y="5001768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52395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52395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conclusion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5843016"/>
            <a:ext cx="5120640" cy="0"/>
          </a:xfrm>
          <a:prstGeom prst="line">
            <a:avLst/>
          </a:prstGeom>
          <a:noFill/>
          <a:ln w="9525">
            <a:solidFill>
              <a:srgbClr val="C9DDD2"/>
            </a:solidFill>
            <a:prstDash val="solid"/>
          </a:ln>
        </p:spPr>
      </p:sp>
      <p:sp>
        <p:nvSpPr>
          <p:cNvPr id="34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classification: one cropped traffic sign in, one of 26 classes out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definition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95728"/>
            <a:ext cx="60350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RGB image of one traffic sign, cropped from a street photo and resized to 224 × 224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26 Cambodian sign classes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multi-class image classification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148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interesting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98848"/>
            <a:ext cx="60350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Traffic-sign recognition supports driver assistance and road-safety systems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Cambodian signs include country-specific classes, e.g. kilometre posts with Khmer 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look-alike signs (left vs. right bend, speed limits) and a small, imbalanced dataset</a:t>
            </a:r>
            <a:endParaRPr lang="en-US" sz="1500" dirty="0"/>
          </a:p>
        </p:txBody>
      </p:sp>
      <p:sp>
        <p:nvSpPr>
          <p:cNvPr id="8" name="io-card"/>
          <p:cNvSpPr/>
          <p:nvPr/>
        </p:nvSpPr>
        <p:spPr>
          <a:xfrm>
            <a:off x="6858000" y="2011680"/>
            <a:ext cx="4873752" cy="4206240"/>
          </a:xfrm>
          <a:prstGeom prst="roundRect">
            <a:avLst>
              <a:gd name="adj" fmla="val 1739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pic>
        <p:nvPicPr>
          <p:cNvPr id="9" name="input-image" descr="C:/Users/ASUS G 16 JVR/AppData/Local/Temp/claude/C--Users-ASUS-G-16-JVR-Desktop-deepLearning-CNN/ddb4b7a1-b5ad-4432-b312-271443ec143d/scratchpad/deck/assets/example_keep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606040"/>
            <a:ext cx="1737360" cy="17373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7804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crop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006840" y="3474720"/>
            <a:ext cx="502920" cy="0"/>
          </a:xfrm>
          <a:prstGeom prst="line">
            <a:avLst/>
          </a:prstGeom>
          <a:noFill/>
          <a:ln w="28575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601200" y="3017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0" y="3017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classifier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538460" y="3977640"/>
            <a:ext cx="0" cy="548640"/>
          </a:xfrm>
          <a:prstGeom prst="line">
            <a:avLst/>
          </a:prstGeom>
          <a:noFill/>
          <a:ln w="28575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189720" y="46177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B5A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89720" y="4617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KEEP_RIGHT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53766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class (1 of 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 Traffic Signs Dataset (Kaggle, Sophal Ratitya) · License: Apache 2.0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2,766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24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street-scene photos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965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624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signs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965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used (26 classes)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annotations to classification crops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13048"/>
            <a:ext cx="5852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 cropped from each photo (VIA JSON annotations)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26 target classes kept; 117 UNDEFINED annotations excluded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class imbalance: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 crops (KM_POST) down to 29 (CARRIAGE_WAY_NARROWS)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is therefore reported next to accuracy</a:t>
            </a:r>
            <a:endParaRPr lang="en-US" sz="1500" dirty="0"/>
          </a:p>
        </p:txBody>
      </p:sp>
      <p:pic>
        <p:nvPicPr>
          <p:cNvPr id="12" name="class-distribution" descr="C:/Users/ASUS G 16 JVR/AppData/Local/Temp/claude/C--Users-ASUS-G-16-JVR-Desktop-deepLearning-CNN/ddb4b7a1-b5ad-4432-b312-271443ec143d/scratchpad/deck/asset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775" y="1920240"/>
            <a:ext cx="4300451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Leak-Free Train / Validation / Test Split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source photo before cropping, so no photo appears in two splits</a:t>
            </a:r>
            <a:endParaRPr lang="en-US" sz="1400" dirty="0"/>
          </a:p>
        </p:txBody>
      </p:sp>
      <p:sp>
        <p:nvSpPr>
          <p:cNvPr id="4" name="problem-card"/>
          <p:cNvSpPr/>
          <p:nvPr/>
        </p:nvSpPr>
        <p:spPr>
          <a:xfrm>
            <a:off x="457200" y="20574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627 raw photos contain several signs. A random split of crops could put signs from the same photo (same light, camera, background) into both training and test data, which inflates test scores.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0" y="26974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2697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2,523 source photos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70 / 15 / 15, seed 42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6492240" y="2377440"/>
            <a:ext cx="777240" cy="777240"/>
          </a:xfrm>
          <a:prstGeom prst="line">
            <a:avLst/>
          </a:prstGeom>
          <a:noFill/>
          <a:ln w="19050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0" y="2057400"/>
            <a:ext cx="4416552" cy="640080"/>
          </a:xfrm>
          <a:prstGeom prst="roundRect">
            <a:avLst>
              <a:gd name="adj" fmla="val 11429"/>
            </a:avLst>
          </a:prstGeom>
          <a:solidFill>
            <a:srgbClr val="EEF5F1"/>
          </a:solidFill>
          <a:ln w="12700">
            <a:solidFill>
              <a:srgbClr val="C9DD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2,153 crops  ·  1,766 photos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777240" cy="0"/>
          </a:xfrm>
          <a:prstGeom prst="line">
            <a:avLst/>
          </a:prstGeom>
          <a:noFill/>
          <a:ln w="19050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2834640"/>
            <a:ext cx="4416552" cy="640080"/>
          </a:xfrm>
          <a:prstGeom prst="roundRect">
            <a:avLst>
              <a:gd name="adj" fmla="val 11429"/>
            </a:avLst>
          </a:prstGeom>
          <a:solidFill>
            <a:srgbClr val="EEF5F1"/>
          </a:solidFill>
          <a:ln w="12700">
            <a:solidFill>
              <a:srgbClr val="C9DD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454 crops  ·  378 photos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3154680"/>
            <a:ext cx="777240" cy="777240"/>
          </a:xfrm>
          <a:prstGeom prst="line">
            <a:avLst/>
          </a:prstGeom>
          <a:noFill/>
          <a:ln w="19050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3611880"/>
            <a:ext cx="4416552" cy="640080"/>
          </a:xfrm>
          <a:prstGeom prst="roundRect">
            <a:avLst>
              <a:gd name="adj" fmla="val 11429"/>
            </a:avLst>
          </a:prstGeom>
          <a:solidFill>
            <a:srgbClr val="FBEDE5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3611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463 crops  ·  379 photos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230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shared between splits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4572000"/>
            <a:ext cx="757123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split saved as manifests (dataset/splits/*.csv) and used unchanged by every approach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used once per model, only after the model was selected on validation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Augmentation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test-time preprocessing for every approach</a:t>
            </a:r>
            <a:endParaRPr lang="en-US" sz="1400" dirty="0"/>
          </a:p>
        </p:txBody>
      </p:sp>
      <p:sp>
        <p:nvSpPr>
          <p:cNvPr id="4" name="train-card"/>
          <p:cNvSpPr/>
          <p:nvPr/>
        </p:nvSpPr>
        <p:spPr>
          <a:xfrm>
            <a:off x="457200" y="20116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images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31546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224 × 224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rotation ±10°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jitter (brightness 0.15, contrast 0.15, saturation 0.10)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normalisation</a:t>
            </a:r>
            <a:endParaRPr lang="en-US" sz="1400" dirty="0"/>
          </a:p>
        </p:txBody>
      </p:sp>
      <p:sp>
        <p:nvSpPr>
          <p:cNvPr id="7" name="eval-card"/>
          <p:cNvSpPr/>
          <p:nvPr/>
        </p:nvSpPr>
        <p:spPr>
          <a:xfrm>
            <a:off x="4251960" y="20116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148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test images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560320"/>
            <a:ext cx="31546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224 × 224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normalisation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randomness: identical for all three approaches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horizontal flip?</a:t>
            </a:r>
            <a:endParaRPr lang="en-US" sz="1600" dirty="0"/>
          </a:p>
        </p:txBody>
      </p:sp>
      <p:pic>
        <p:nvPicPr>
          <p:cNvPr id="11" name="left-bend" descr="C:/Users/ASUS G 16 JVR/AppData/Local/Temp/claude/C--Users-ASUS-G-16-JVR-Desktop-deepLearning-CNN/ddb4b7a1-b5ad-4432-b312-271443ec143d/scratchpad/deck/assets/left_b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514600"/>
            <a:ext cx="1600200" cy="1600200"/>
          </a:xfrm>
          <a:prstGeom prst="rect">
            <a:avLst/>
          </a:prstGeom>
        </p:spPr>
      </p:pic>
      <p:pic>
        <p:nvPicPr>
          <p:cNvPr id="12" name="left-bend-flipped" descr="C:/Users/ASUS G 16 JVR/AppData/Local/Temp/claude/C--Users-ASUS-G-16-JVR-Desktop-deepLearning-CNN/ddb4b7a1-b5ad-4432-b312-271443ec143d/scratchpad/deck/assets/left_bend_fli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514600"/>
            <a:ext cx="1600200" cy="1600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784080" y="3310128"/>
            <a:ext cx="228600" cy="0"/>
          </a:xfrm>
          <a:prstGeom prst="line">
            <a:avLst/>
          </a:prstGeom>
          <a:noFill/>
          <a:ln w="28575">
            <a:solidFill>
              <a:srgbClr val="C44E52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813816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LEFT_BEND (real crop)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966960" y="4160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Flipped: looks like RIGHT_BEND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138160" y="4709160"/>
            <a:ext cx="3593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mirrored sign can show a different class, so flipping would create wrongly labelled training images.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Deep-Learning Approaches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architecture and different training strategy, compared on identical data</a:t>
            </a:r>
            <a:endParaRPr lang="en-US" sz="1400" dirty="0"/>
          </a:p>
        </p:txBody>
      </p:sp>
      <p:sp>
        <p:nvSpPr>
          <p:cNvPr id="4" name="approach-1"/>
          <p:cNvSpPr/>
          <p:nvPr/>
        </p:nvSpPr>
        <p:spPr>
          <a:xfrm>
            <a:off x="457200" y="20116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SmallCNN from scratch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3200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conv blocks (32 / 64 / 128 filters) + BatchNorm, ReLU, max-pool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 → FC 256 → dropout 0.5 → 26 classes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initialisation, no pretrained weights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133,178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413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parameters</a:t>
            </a:r>
            <a:endParaRPr lang="en-US" sz="1200" dirty="0"/>
          </a:p>
        </p:txBody>
      </p:sp>
      <p:sp>
        <p:nvSpPr>
          <p:cNvPr id="11" name="approach-2"/>
          <p:cNvSpPr/>
          <p:nvPr/>
        </p:nvSpPr>
        <p:spPr>
          <a:xfrm>
            <a:off x="4279392" y="20116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2194560"/>
            <a:ext cx="502920" cy="502920"/>
          </a:xfrm>
          <a:prstGeom prst="ellipse">
            <a:avLst/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799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ResNet-18, frozen backbone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2880360"/>
            <a:ext cx="3200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ImageNet-pretrained ResNet-18 (IMAGENET1K_V1)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frozen, BatchNorm statistics kept fixed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new Linear(512 → 26) layer is trained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13,338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5413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parameters</a:t>
            </a:r>
            <a:endParaRPr lang="en-US" sz="1200" dirty="0"/>
          </a:p>
        </p:txBody>
      </p:sp>
      <p:sp>
        <p:nvSpPr>
          <p:cNvPr id="18" name="approach-3"/>
          <p:cNvSpPr/>
          <p:nvPr/>
        </p:nvSpPr>
        <p:spPr>
          <a:xfrm>
            <a:off x="8101584" y="20116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2194560"/>
            <a:ext cx="502920" cy="502920"/>
          </a:xfrm>
          <a:prstGeom prst="ellipse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70264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ResNet-18, fully fine-tuned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2880360"/>
            <a:ext cx="3200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ImageNet weights and new Linear(512 → 26)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is trained on the traffic signs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tuned: learning rate × weight decay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30184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11,189,850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330184" y="5413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parameters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053328"/>
            <a:ext cx="11274552" cy="0"/>
          </a:xfrm>
          <a:prstGeom prst="line">
            <a:avLst/>
          </a:prstGeom>
          <a:noFill/>
          <a:ln w="25400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480560" y="60899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use of transfer learning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training protocol, so only the model changes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6766560" cy="5303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0116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0116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Adam, learning rate 1e-3, weight decay 1e-4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15184"/>
            <a:ext cx="6766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151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/ batch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1518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Cross-entropy, batch size 32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6766560" cy="5303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2186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2186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40 epochs; ReduceLROnPlateau (×0.5, patience 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6766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8221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82219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(patience 10), best-validation checkpoint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25696"/>
            <a:ext cx="6766560" cy="530352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4256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42569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42 for Python, NumPy and PyTorch; deterministic cuDNN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6766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50292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50292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Colab, NVIDIA Tesla T4, PyTorch 2.11.0 (CUDA 13.0)</a:t>
            </a:r>
            <a:endParaRPr lang="en-US" sz="1400" dirty="0"/>
          </a:p>
        </p:txBody>
      </p:sp>
      <p:sp>
        <p:nvSpPr>
          <p:cNvPr id="22" name="metrics-card"/>
          <p:cNvSpPr/>
          <p:nvPr/>
        </p:nvSpPr>
        <p:spPr>
          <a:xfrm>
            <a:off x="7589520" y="2011680"/>
            <a:ext cx="4142232" cy="3566160"/>
          </a:xfrm>
          <a:prstGeom prst="roundRect">
            <a:avLst>
              <a:gd name="adj" fmla="val 2051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1812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560320"/>
            <a:ext cx="37490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precision, recall and F1 (every class counts equally)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and per-class F1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parameters and training time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571500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set is used once per model, after selection on validation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Same 463-Image Test Set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approaches evaluated once on the identical held-out test set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1691640"/>
                <a:gridCol w="1600200"/>
                <a:gridCol w="201168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accuracy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F1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Trainable parameters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SmallCNN from scratch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70.19%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50.78%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133,178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ResNet-18, frozen backbone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92.44%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88.37%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13,338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ResNet-18, fine-tuned (untuned baseline)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98.06%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11,189,850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ResNet-18, fine-tuned + tuned (FINAL MODEL)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98.70%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11,189,850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 / 463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779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images correct (final model)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+22.25 pp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5779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scratch → frozen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65592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+8.43 pp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165592" y="5779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F1: frozen → fine-tuned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Figures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highlighted in orange</a:t>
            </a:r>
            <a:endParaRPr lang="en-US" sz="1400" dirty="0"/>
          </a:p>
        </p:txBody>
      </p:sp>
      <p:pic>
        <p:nvPicPr>
          <p:cNvPr id="4" name="fig-accuracy" descr="C:/Users/ASUS G 16 JVR/Desktop/deepLearning_CNN/results/final_comparison/comparison_test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2970"/>
            <a:ext cx="5532120" cy="3380740"/>
          </a:xfrm>
          <a:prstGeom prst="rect">
            <a:avLst/>
          </a:prstGeom>
        </p:spPr>
      </p:pic>
      <p:pic>
        <p:nvPicPr>
          <p:cNvPr id="5" name="fig-macro-f1" descr="C:/Users/ASUS G 16 JVR/Desktop/deepLearning_CNN/results/final_comparison/comparison_macro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172970"/>
            <a:ext cx="5532120" cy="33807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58521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shows the gap more clearly than accuracy: SmallCNN reaches 70.19% accuracy but only 50.78% macro F1, because it fails on rare classes.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Curves: Training vs. Validation Loss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of underfitting and overfitting for each approach</a:t>
            </a:r>
            <a:endParaRPr lang="en-US" sz="1400" dirty="0"/>
          </a:p>
        </p:txBody>
      </p:sp>
      <p:pic>
        <p:nvPicPr>
          <p:cNvPr id="4" name="curve-0" descr="C:/Users/ASUS G 16 JVR/Desktop/deepLearning_CNN/results/small_cnn/20261006-081721_seed42/figures/loss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5968"/>
            <a:ext cx="3611880" cy="22574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4805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SmallCNN: underfitting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92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≈ 73%, val ≈ 74–75% accuracy; still improving at epoch 40 (best 37)</a:t>
            </a:r>
            <a:endParaRPr lang="en-US" sz="1300" dirty="0"/>
          </a:p>
        </p:txBody>
      </p:sp>
      <p:pic>
        <p:nvPicPr>
          <p:cNvPr id="7" name="curve-1" descr="C:/Users/ASUS G 16 JVR/Desktop/deepLearning_CNN/results/resnet18_frozen/20261006-085519_seed42/figures/loss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025968"/>
            <a:ext cx="3611880" cy="22574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79392" y="44805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Frozen: good fit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279392" y="4892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≈ 97% vs. val 95–96%; gap grows from +0.8 to +2.3 pp</a:t>
            </a:r>
            <a:endParaRPr lang="en-US" sz="1300" dirty="0"/>
          </a:p>
        </p:txBody>
      </p:sp>
      <p:pic>
        <p:nvPicPr>
          <p:cNvPr id="10" name="curve-2" descr="C:/Users/ASUS G 16 JVR/Desktop/deepLearning_CNN/results/resnet18_finetuned/20261006-130538_seed42/figures/loss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025968"/>
            <a:ext cx="3611880" cy="225742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01584" y="44805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Fine-tuned: mild overfitting in the loss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101584" y="4892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loss → 0.002; val loss rises from 0.023 to 0.042–0.059; best checkpoint kept (epoch 8)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(Approach 3)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 grid: learning rate × weight decay, selected on validation data only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decay 1e-4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5196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decay 1e-3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325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1e-3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1325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1e-4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228600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EEF5F1"/>
          </a:solidFill>
          <a:ln w="9525">
            <a:solidFill>
              <a:srgbClr val="C9DD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2395728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 99.78%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(453 / 454)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 0.0290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BEDE5"/>
          </a:solidFill>
          <a:ln w="25400">
            <a:solidFill>
              <a:srgbClr val="DD84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2395728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B  ✓ selected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 99.78%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(453 / 454)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 0.0280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74520" y="402336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EEF5F1"/>
          </a:solidFill>
          <a:ln w="9525">
            <a:solidFill>
              <a:srgbClr val="C9DD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4133088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C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 99.78%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(453 / 454)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 0.0330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51960" y="402336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EEF5F1"/>
          </a:solidFill>
          <a:ln w="9525">
            <a:solidFill>
              <a:srgbClr val="C9DD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4133088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 99.78%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(453 / 454)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 0.0324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0116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423160"/>
            <a:ext cx="4873752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configurations tied at 99.78% validation accuracy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(453 of 454)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B selected by the pre-defined tie-break: lowest validation loss at its best epoch (0.02796)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evaluated once, after the choice: 98.06% → 98.70% (+0.65 pp = 3 more correct images)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run per configuration with one seed: the difference may be within run-to-run variation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Fine-Tuning ResNet-18 Performed Best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with course concepts</a:t>
            </a:r>
            <a:endParaRPr lang="en-US" sz="1400" dirty="0"/>
          </a:p>
        </p:txBody>
      </p:sp>
      <p:sp>
        <p:nvSpPr>
          <p:cNvPr id="4" name="why-0"/>
          <p:cNvSpPr/>
          <p:nvPr/>
        </p:nvSpPr>
        <p:spPr>
          <a:xfrm>
            <a:off x="457200" y="2011680"/>
            <a:ext cx="5559552" cy="1938528"/>
          </a:xfrm>
          <a:prstGeom prst="roundRect">
            <a:avLst>
              <a:gd name="adj" fmla="val 3774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40280"/>
            <a:ext cx="438912" cy="438912"/>
          </a:xfrm>
          <a:prstGeom prst="ellipse">
            <a:avLst/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features (edges, shapes, colours) cannot be learned well from 2,153 images. Frozen features alone lift accuracy from 70.19% to 92.44%.</a:t>
            </a:r>
            <a:endParaRPr lang="en-US" sz="1400" dirty="0"/>
          </a:p>
        </p:txBody>
      </p:sp>
      <p:sp>
        <p:nvSpPr>
          <p:cNvPr id="9" name="why-1"/>
          <p:cNvSpPr/>
          <p:nvPr/>
        </p:nvSpPr>
        <p:spPr>
          <a:xfrm>
            <a:off x="6172200" y="2011680"/>
            <a:ext cx="5559552" cy="1938528"/>
          </a:xfrm>
          <a:prstGeom prst="roundRect">
            <a:avLst>
              <a:gd name="adj" fmla="val 3774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240280"/>
            <a:ext cx="438912" cy="438912"/>
          </a:xfrm>
          <a:prstGeom prst="ellipse">
            <a:avLst/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2128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Adapting the features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889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 backbone only re-weights fixed features. Fine-tuning adapts every layer to Cambodian signs, which mostly helps rare and similar classes: macro F1 88.37% → 96.80%.</a:t>
            </a:r>
            <a:endParaRPr lang="en-US" sz="1400" dirty="0"/>
          </a:p>
        </p:txBody>
      </p:sp>
      <p:sp>
        <p:nvSpPr>
          <p:cNvPr id="14" name="why-2"/>
          <p:cNvSpPr/>
          <p:nvPr/>
        </p:nvSpPr>
        <p:spPr>
          <a:xfrm>
            <a:off x="457200" y="4114800"/>
            <a:ext cx="5559552" cy="1938528"/>
          </a:xfrm>
          <a:prstGeom prst="roundRect">
            <a:avLst>
              <a:gd name="adj" fmla="val 3774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343400"/>
            <a:ext cx="438912" cy="438912"/>
          </a:xfrm>
          <a:prstGeom prst="ellipse">
            <a:avLst/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159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vs. data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920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SmallCNN underfits (limited capacity, trained from scratch). The 11.2M-parameter ResNet starts from good weights, so it fits without memorising.</a:t>
            </a:r>
            <a:endParaRPr lang="en-US" sz="1400" dirty="0"/>
          </a:p>
        </p:txBody>
      </p:sp>
      <p:sp>
        <p:nvSpPr>
          <p:cNvPr id="19" name="why-3"/>
          <p:cNvSpPr/>
          <p:nvPr/>
        </p:nvSpPr>
        <p:spPr>
          <a:xfrm>
            <a:off x="6172200" y="4114800"/>
            <a:ext cx="5559552" cy="1938528"/>
          </a:xfrm>
          <a:prstGeom prst="roundRect">
            <a:avLst>
              <a:gd name="adj" fmla="val 3774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343400"/>
            <a:ext cx="438912" cy="438912"/>
          </a:xfrm>
          <a:prstGeom prst="ellipse">
            <a:avLst/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3159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Regularisation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920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initialisation, augmentation, weight decay, early stopping and the best-validation checkpoint keep overfitting mild.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Analysis: Final Model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misclassified test images (of 463)</a:t>
            </a:r>
            <a:endParaRPr lang="en-US" sz="1400" dirty="0"/>
          </a:p>
        </p:txBody>
      </p:sp>
      <p:pic>
        <p:nvPicPr>
          <p:cNvPr id="4" name="error-gallery" descr="C:/Users/ASUS G 16 JVR/Desktop/deepLearning_CNN/results/final_model/misclassified_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5068389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 / 463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images correct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26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with perfect F1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2461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probable annotation errors (purple)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11880"/>
            <a:ext cx="5788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examples appear to be annotation errors based on visual inspection and comparison with the original dataset annotations: the model predicted the sign that is visible. Metrics are not adjusted.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47091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 errors (red)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5074920"/>
            <a:ext cx="5788152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road → cross road: visually similar symbols (confidence 0.84)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Tiny, blurred no-entry sign: 39 × 39 px (confidence 0.32)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road covered by branches (confidence 0.25)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a traffic-sign image with the trained final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EEF5F1"/>
          </a:solidFill>
          <a:ln w="12700">
            <a:solidFill>
              <a:srgbClr val="C9DD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image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cropped traffic-sign photo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86200" y="2971800"/>
            <a:ext cx="731520" cy="0"/>
          </a:xfrm>
          <a:prstGeom prst="line">
            <a:avLst/>
          </a:prstGeom>
          <a:noFill/>
          <a:ln w="28575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63440" y="22860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0B5A3C"/>
          </a:solidFill>
          <a:ln w="12700">
            <a:solidFill>
              <a:srgbClr val="0B5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286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 fine-tuned + tuned (best checkpoint)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971800"/>
            <a:ext cx="731520" cy="0"/>
          </a:xfrm>
          <a:prstGeom prst="line">
            <a:avLst/>
          </a:prstGeom>
          <a:noFill/>
          <a:ln w="28575">
            <a:solidFill>
              <a:srgbClr val="0B5A3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22860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EEF5F1"/>
          </a:solidFill>
          <a:ln w="12700">
            <a:solidFill>
              <a:srgbClr val="C9DD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2286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name + confidence</a:t>
            </a:r>
            <a:endParaRPr lang="en-US" sz="1700" dirty="0"/>
          </a:p>
        </p:txBody>
      </p:sp>
      <p:sp>
        <p:nvSpPr>
          <p:cNvPr id="12" name="demo-placeholder"/>
          <p:cNvSpPr/>
          <p:nvPr/>
        </p:nvSpPr>
        <p:spPr>
          <a:xfrm>
            <a:off x="822960" y="4069080"/>
            <a:ext cx="10607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C9DD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206240"/>
            <a:ext cx="10058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 format to be finalised: e.g. live notebook cell or web app, with screenshots of real predictions added here]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 of the study and what to do next</a:t>
            </a:r>
            <a:endParaRPr lang="en-US" sz="1400" dirty="0"/>
          </a:p>
        </p:txBody>
      </p:sp>
      <p:sp>
        <p:nvSpPr>
          <p:cNvPr id="4" name="limits-card"/>
          <p:cNvSpPr/>
          <p:nvPr/>
        </p:nvSpPr>
        <p:spPr>
          <a:xfrm>
            <a:off x="457200" y="201168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507492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split and seed 42: no repeated runs, variance not measured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test set: 1 image ≈ 0.22 pp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classes have only 3–10 test images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given crops; does not detect signs in full scenes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limited to a 2 × 2 grid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label noise found among the misclassified test images</a:t>
            </a:r>
            <a:endParaRPr lang="en-US" sz="1400" dirty="0"/>
          </a:p>
        </p:txBody>
      </p:sp>
      <p:sp>
        <p:nvSpPr>
          <p:cNvPr id="7" name="future-card"/>
          <p:cNvSpPr/>
          <p:nvPr/>
        </p:nvSpPr>
        <p:spPr>
          <a:xfrm>
            <a:off x="6245352" y="201168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2148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560320"/>
            <a:ext cx="507492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experiments with several seeds / cross-validation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annotations with the dataset author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data, class-balanced sampling or a weighted loss for rare classes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learning rate or warm-up to stabilise fine-tuning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in full street scenes (YOLO labels exist in the raw data)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on small, blurred, occluded signs; other architectures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takeaways</a:t>
            </a:r>
            <a:endParaRPr lang="en-US" sz="1400" dirty="0"/>
          </a:p>
        </p:txBody>
      </p:sp>
      <p:sp>
        <p:nvSpPr>
          <p:cNvPr id="4" name="take-0"/>
          <p:cNvSpPr/>
          <p:nvPr/>
        </p:nvSpPr>
        <p:spPr>
          <a:xfrm>
            <a:off x="457200" y="201168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98.70%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of the final fine-tuned ResNet-18 (98.47% macro F1)</a:t>
            </a:r>
            <a:endParaRPr lang="en-US" sz="1300" dirty="0"/>
          </a:p>
        </p:txBody>
      </p:sp>
      <p:sp>
        <p:nvSpPr>
          <p:cNvPr id="7" name="take-1"/>
          <p:cNvSpPr/>
          <p:nvPr/>
        </p:nvSpPr>
        <p:spPr>
          <a:xfrm>
            <a:off x="4279392" y="201168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2148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+22.25 pp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9718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gained from transfer learning alone (scratch → frozen)</a:t>
            </a:r>
            <a:endParaRPr lang="en-US" sz="1300" dirty="0"/>
          </a:p>
        </p:txBody>
      </p:sp>
      <p:sp>
        <p:nvSpPr>
          <p:cNvPr id="10" name="take-2"/>
          <p:cNvSpPr/>
          <p:nvPr/>
        </p:nvSpPr>
        <p:spPr>
          <a:xfrm>
            <a:off x="8101584" y="201168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2148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9718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shared between splits: a leak-free, fair comparison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97680"/>
            <a:ext cx="11274552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matters most on a small dataset; full fine-tuning adds the most on rare and similar classes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source-photo split and a single use of the test set keep the comparison fair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confirmed the setup: all configurations tied on validation accuracy; the selected one was 3 test images better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9202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4" name="repo-card"/>
          <p:cNvSpPr/>
          <p:nvPr/>
        </p:nvSpPr>
        <p:spPr>
          <a:xfrm>
            <a:off x="2898648" y="3931920"/>
            <a:ext cx="6400800" cy="1280160"/>
          </a:xfrm>
          <a:prstGeom prst="roundRect">
            <a:avLst>
              <a:gd name="adj" fmla="val 5714"/>
            </a:avLst>
          </a:prstGeom>
          <a:solidFill>
            <a:srgbClr val="EEF5F1"/>
          </a:solidFill>
          <a:ln w="9525">
            <a:solidFill>
              <a:srgbClr val="EE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98648" y="3931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results and README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github.com/RothRothRoth/DeepLearning_CNN</a:t>
            </a:r>
            <a:endParaRPr lang="en-US" sz="16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Final Model Confusion Matrix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Row-normalised (recall per class) on the 463-image test set</a:t>
            </a:r>
            <a:endParaRPr lang="en-US" sz="1400" dirty="0"/>
          </a:p>
        </p:txBody>
      </p:sp>
      <p:pic>
        <p:nvPicPr>
          <p:cNvPr id="4" name="confusion-matrix" descr="C:/Users/ASUS G 16 JVR/Desktop/deepLearning_CNN/results/hyperparameter_tuning/resnet18_finetuned_lr_wd_seed42/figures/final_confusion_matrix_norma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0816" y="1874520"/>
            <a:ext cx="522732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Tuning Validation Curves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accuracy and loss per epoch for configurations A–D</a:t>
            </a:r>
            <a:endParaRPr lang="en-US" sz="1400" dirty="0"/>
          </a:p>
        </p:txBody>
      </p:sp>
      <p:pic>
        <p:nvPicPr>
          <p:cNvPr id="4" name="tuning-curves" descr="C:/Users/ASUS G 16 JVR/Desktop/deepLearning_CNN/results/hyperparameter_tuning/resnet18_finetuned_lr_wd_seed42/figures/tuning_val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" y="1965960"/>
            <a:ext cx="11265408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epochs: A 8, B 14, C 3, D 3 · training time: A 3.9, B 5.5, C 2.9, D 3.0 min · all reached 99.78% validation accuracy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Training vs. Validation Accuracy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53619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curves for the three approaches</a:t>
            </a:r>
            <a:endParaRPr lang="en-US" sz="1400" dirty="0"/>
          </a:p>
        </p:txBody>
      </p:sp>
      <p:pic>
        <p:nvPicPr>
          <p:cNvPr id="4" name="acc-curve-0" descr="C:/Users/ASUS G 16 JVR/Desktop/deepLearning_CNN/results/small_cnn/20261006-081721_seed42/figures/accuracy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3611880" cy="22574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89145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SmallCNN from scratch</a:t>
            </a:r>
            <a:endParaRPr lang="en-US" sz="1400" dirty="0"/>
          </a:p>
        </p:txBody>
      </p:sp>
      <p:pic>
        <p:nvPicPr>
          <p:cNvPr id="6" name="acc-curve-1" descr="C:/Users/ASUS G 16 JVR/Desktop/deepLearning_CNN/results/resnet18_frozen/20261006-085519_seed42/figures/accuracy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194560"/>
            <a:ext cx="3611880" cy="22574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79392" y="4589145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 frozen</a:t>
            </a:r>
            <a:endParaRPr lang="en-US" sz="1400" dirty="0"/>
          </a:p>
        </p:txBody>
      </p:sp>
      <p:pic>
        <p:nvPicPr>
          <p:cNvPr id="8" name="acc-curve-2" descr="C:/Users/ASUS G 16 JVR/Desktop/deepLearning_CNN/results/resnet18_finetuned/20261006-130538_seed42/figures/accuracy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194560"/>
            <a:ext cx="3611880" cy="225742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01584" y="4589145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 fine-tuned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3288" y="651052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Sign Recognition Using Deep Learning</dc:title>
  <dc:subject>PptxGenJS Presentation</dc:subject>
  <dc:creator>Tes Sothyroth</dc:creator>
  <cp:lastModifiedBy>Tes Sothyroth</cp:lastModifiedBy>
  <cp:revision>1</cp:revision>
  <dcterms:created xsi:type="dcterms:W3CDTF">2026-10-12T06:45:05Z</dcterms:created>
  <dcterms:modified xsi:type="dcterms:W3CDTF">2026-10-12T06:45:05Z</dcterms:modified>
</cp:coreProperties>
</file>