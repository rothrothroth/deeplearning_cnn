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3712711-3319-4f00-cc1c-41b8dd452c87}">
          <p14:sldIdLst>
            <p14:sldId id="256"/>
            <p14:sldId id="257"/>
            <p14:sldId id="258"/>
          </p14:sldIdLst>
        </p14:section>
        <p14:section name="Data" id="{cad79548-462a-9517-338b-de8842e5c95f}">
          <p14:sldIdLst>
            <p14:sldId id="259"/>
            <p14:sldId id="260"/>
            <p14:sldId id="261"/>
          </p14:sldIdLst>
        </p14:section>
        <p14:section name="Method" id="{a45cba90-a537-a48b-7306-83a6d54a61e0}">
          <p14:sldIdLst>
            <p14:sldId id="262"/>
            <p14:sldId id="263"/>
          </p14:sldIdLst>
        </p14:section>
        <p14:section name="Results" id="{23441fc4-5d20-3924-86ec-5a574c3a2a3a}">
          <p14:sldIdLst>
            <p14:sldId id="264"/>
            <p14:sldId id="265"/>
          </p14:sldIdLst>
        </p14:section>
        <p14:section name="Analysis" id="{12eb6ec0-6336-71b2-7f5f-de1b278456fb}">
          <p14:sldIdLst>
            <p14:sldId id="266"/>
            <p14:sldId id="267"/>
          </p14:sldIdLst>
        </p14:section>
        <p14:section name="Evaluation Reliability" id="{2c8adea2-2a10-fce7-9210-c2f40a4cdff2}">
          <p14:sldIdLst>
            <p14:sldId id="268"/>
            <p14:sldId id="269"/>
            <p14:sldId id="270"/>
          </p14:sldIdLst>
        </p14:section>
        <p14:section name="Extension" id="{e5666485-3133-f297-cd36-e392949dec28}">
          <p14:sldIdLst>
            <p14:sldId id="271"/>
            <p14:sldId id="272"/>
          </p14:sldIdLst>
        </p14:section>
        <p14:section name="Conclusion" id="{6a67ba9c-0671-1fcc-e0f9-677f7f3ad59e}">
          <p14:sldIdLst>
            <p14:sldId id="273"/>
            <p14:sldId id="274"/>
            <p14:sldId id="275"/>
          </p14:sldIdLst>
        </p14:section>
        <p14:section name="Backup" id="{0bee00d2-ae04-7932-8b0d-5458cbaa0d16}">
          <p14:sldIdLst>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classifying cropped Cambodian traffic signs into 26 classes, comparing three deep-learning approaches on the same data. The final model is a fully fine-tuned ResNet-18 at 98.70% test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of the talk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task precisely: input is a cropped sign image, output is one of 26 classes. Motivation: road safety, Cambodia-specific signs, and the challenge of look-alike classes and imbalance.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Kaggle dataset under Apache 2.0. Explain the crop pipeline and the 117 excluded UNDEFINED annotations. Point out the imbalance: KM_POST has 738 crops, the rarest class only 29. That is why macro F1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methodological choice. Because many photos contain several signs, I split by source photo, then cropped. Every approach uses the same committed manifests. Zero photo overlap, and the test set is only used once after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Mild augmentation for training only. ImageNet normalisation because two approaches use ImageNet-pretrained weights. Explain the no-flip decision with the left-bend example: flipping changes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distinct approaches, following the rubric example: from scratch, linear probe, full fine-tuning. Highlight trainable parameters: 133K, 13K, 11.2M. The frozen model keeps BatchNorm statistics fixed so the backbone is truly frozen.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Identical protocol for every approach, so the comparison is fair. Seeds fixed. Same metrics everywhere; macro F1 because of the imbalance. Test set touched once per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top to bottom: each step of transfer learning helps. Biggest jump is from scratch to frozen pretrained features. Fine-tuning mostly helps macro F1, i.e. rare classes. Final model: 98.70% accuracy, 98.47% macro F1, 457 of 463 correct. Training time is on one Tesla T4.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here: tuning did not separate the configurations on validation accuracy; all tied. B won the pre-defined tie-break on validation loss. On the untouched test set it was 3 images better than the baseline, which is small and from a single seed, so I do not claim it is reliably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the result to course concepts: transfer learning, feature adaptation, capacity versus data size, and regularisation.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6 errors, no confusion repeated. Three look like dataset annotation errors: a right bend labelled left bend, a keep-right sign labelled KM post, and a children-crossing sign labelled pedestrian crossing. I only inspected these 6, so I make no claim about the rest of the dataset. The genuine errors are small, occluded or similar-looking signs, mostly with low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photos are frames of GoPro videos. Splitting by photo does not separate neighbouring frames: 84 of 463 test crops, 18 percent, have a same-class training frame from the same video at most 2 seconds away. They are not why the score is high, accuracy is about the same with or without them, but the test set is not fully independent. So I re-evaluated the final configuration by drive: 20 drive clusters, 5 folds, each fold is the test set once, the next fold is used only for early stopping, and 3 seeds, so 15 runs, without any new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Pooled over all folds, the configuration reaches 98.31 percent accuracy, plus or minus 0.2 over seeds, and 97.24 percent macro F1. The chart shows that drives differ: accuracy stays between about 97.7 and 99.6 percent, but macro F1 falls to 93 percent on fold 2. Important: this is not a before-and-after comparison with 98.70. That number is one model on one random-photo test set; this is 15 models tested on whole unseen drives, which is the more trustworthy estimate for new drives on these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weakest class is Cross Road, F1 0.81 with recall 72 percent, and it has only 42 crops. It is mostly confused with Priority Road: both are yellow diamonds with a black cross, but Priority Road has a thicker, pointed vertical bar. Tilted or blurry Cross Road signs get read as Priority Road. A few errors actually look like Priority Road, so label noise may play a role, but I did not verify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classifier needs a tight crop. To handle full street photos I added a separate YOLOv8 detector with one class, traffic sign, trained on the dataset's box labels with the same photo split. On the 379 test photos it reaches 95.6 percent precision and 96.3 percent recall. The full pipeline finds and correctly names 445 of the 463 test signs, 96.1 percent. These are detection results, a different task from the classification accuracy. Most extra boxes are real signs the dataset did not annotate, so precision is probably underestimated.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replace with the final demo (live run or screenshots of real predictions with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limitations: the approach comparison and tuning are still single-split, single-seed. The original split contains near-duplicate video frames. The grouped evaluation separates drives but cannot guarantee separate locations, because the same roads were driven more than once. Few drive clusters and very few Cross Road images. Each future-work item answers one of these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transfer learning is the biggest factor; the result holds up at about 98 percent when tested on whole unseen drives, with honest caveats about locations and the Cross Road class; and the detector extension makes the system work on full street photos. Fine-tuned ResNet-18 is the best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invite questions. Backup slides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and macro F1 side by side. Point out that SmallCNN's macro F1 is much lower than its accuracy: it does well on big classes like KM_POST but poorly on rare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SmallCNN underfits: it has not even fitted the training data, so capacity and data are the limit. Frozen fits well with a small growing gap. Fine-tuned fits training data almost perfectly; validation loss rises after epoch 7, a mild overfit in confidence, contained by early stopping and keeping the best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all confusions of the grouped evaluation, summed over the three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per-class recall of the final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the four tuning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accuracy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ITH_CONTENT">
    <p:bg>
      <p:bgPr>
        <a:solidFill>
          <a:srgbClr val="FFFFFF"/>
        </a:solidFill>
      </p:bgPr>
    </p:bg>
    <p:spTree>
      <p:nvGrpSpPr>
        <p:cNvPr id="1" name=""/>
        <p:cNvGrpSpPr/>
        <p:nvPr/>
      </p:nvGrpSpPr>
      <p:grpSpPr>
        <a:xfrm>
          <a:off x="0" y="0"/>
          <a:ext cx="0" cy="0"/>
          <a:chOff x="0" y="0"/>
          <a:chExt cx="0" cy="0"/>
        </a:xfrm>
      </p:grpSpPr>
      <p:pic>
        <p:nvPicPr>
          <p:cNvPr id="2" name="Image 0" descr="C:/Users/ASUS G 16 JVR/AppData/Local/Temp/claude/C--Users-ASUS-G-16-JVR-Desktop-deepLearning-CNN/ddb4b7a1-b5ad-4432-b312-271443ec143d/scratchpad/deck/assets/kith_logo.png">    </p:cNvPr>
          <p:cNvPicPr>
            <a:picLocks noChangeAspect="1"/>
          </p:cNvPicPr>
          <p:nvPr/>
        </p:nvPicPr>
        <p:blipFill>
          <a:blip r:embed="rId1"/>
          <a:stretch>
            <a:fillRect/>
          </a:stretch>
        </p:blipFill>
        <p:spPr>
          <a:xfrm>
            <a:off x="457200" y="182880"/>
            <a:ext cx="877824" cy="585216"/>
          </a:xfrm>
          <a:prstGeom prst="rect">
            <a:avLst/>
          </a:prstGeom>
        </p:spPr>
      </p:pic>
      <p:sp>
        <p:nvSpPr>
          <p:cNvPr id="3" name="Shape 0"/>
          <p:cNvSpPr/>
          <p:nvPr/>
        </p:nvSpPr>
        <p:spPr>
          <a:xfrm>
            <a:off x="457200" y="868680"/>
            <a:ext cx="11274552" cy="0"/>
          </a:xfrm>
          <a:prstGeom prst="line">
            <a:avLst/>
          </a:prstGeom>
          <a:noFill/>
          <a:ln w="15875">
            <a:solidFill>
              <a:srgbClr val="0B5A3C"/>
            </a:solidFill>
            <a:prstDash val="solid"/>
          </a:ln>
        </p:spPr>
      </p:sp>
      <p:sp>
        <p:nvSpPr>
          <p:cNvPr id="4" name="Shape 1"/>
          <p:cNvSpPr/>
          <p:nvPr/>
        </p:nvSpPr>
        <p:spPr>
          <a:xfrm>
            <a:off x="0" y="6446520"/>
            <a:ext cx="12191695" cy="411480"/>
          </a:xfrm>
          <a:prstGeom prst="rect">
            <a:avLst/>
          </a:prstGeom>
          <a:solidFill>
            <a:srgbClr val="084C32"/>
          </a:solidFill>
          <a:ln w="12700">
            <a:solidFill>
              <a:srgbClr val="084C32"/>
            </a:solidFill>
            <a:prstDash val="solid"/>
          </a:ln>
        </p:spPr>
      </p:sp>
      <p:sp>
        <p:nvSpPr>
          <p:cNvPr id="5" name="Text 2"/>
          <p:cNvSpPr/>
          <p:nvPr/>
        </p:nvSpPr>
        <p:spPr>
          <a:xfrm>
            <a:off x="320040" y="6446520"/>
            <a:ext cx="3657600" cy="411480"/>
          </a:xfrm>
          <a:prstGeom prst="rect">
            <a:avLst/>
          </a:prstGeom>
          <a:noFill/>
          <a:ln/>
        </p:spPr>
        <p:txBody>
          <a:bodyPr wrap="square" lIns="0" tIns="0" rIns="0" bIns="0" rtlCol="0" anchor="ctr"/>
          <a:lstStyle/>
          <a:p>
            <a:pPr indent="0" marL="0">
              <a:buNone/>
            </a:pPr>
            <a:r>
              <a:rPr lang="en-US" sz="1100" dirty="0">
                <a:solidFill>
                  <a:srgbClr val="FFFFFF"/>
                </a:solidFill>
                <a:latin typeface="Arial" pitchFamily="34" charset="0"/>
                <a:ea typeface="Arial" pitchFamily="34" charset="-122"/>
                <a:cs typeface="Arial" pitchFamily="34" charset="-120"/>
              </a:rPr>
              <a:t>Student final project</a:t>
            </a:r>
            <a:endParaRPr lang="en-US" sz="1100" dirty="0"/>
          </a:p>
        </p:txBody>
      </p:sp>
      <p:sp>
        <p:nvSpPr>
          <p:cNvPr id="6" name="Text 3"/>
          <p:cNvSpPr/>
          <p:nvPr/>
        </p:nvSpPr>
        <p:spPr>
          <a:xfrm>
            <a:off x="8229600" y="6446520"/>
            <a:ext cx="3639312" cy="411480"/>
          </a:xfrm>
          <a:prstGeom prst="rect">
            <a:avLst/>
          </a:prstGeom>
          <a:noFill/>
          <a:ln/>
        </p:spPr>
        <p:txBody>
          <a:bodyPr wrap="square" lIns="0" tIns="0" rIns="0" bIns="0" rtlCol="0" anchor="ctr"/>
          <a:lstStyle/>
          <a:p>
            <a:pPr algn="r" indent="0" marL="0">
              <a:buNone/>
            </a:pPr>
            <a:r>
              <a:rPr lang="en-US" sz="1100" dirty="0">
                <a:solidFill>
                  <a:srgbClr val="FFFFFF"/>
                </a:solidFill>
                <a:latin typeface="Arial" pitchFamily="34" charset="0"/>
                <a:ea typeface="Arial" pitchFamily="34" charset="-122"/>
                <a:cs typeface="Arial" pitchFamily="34" charset="-120"/>
              </a:rPr>
              <a:t>Deep Learning</a:t>
            </a:r>
            <a:endParaRPr lang="en-US" sz="1100" dirty="0"/>
          </a:p>
        </p:txBody>
      </p:sp>
      <p:sp>
        <p:nvSpPr>
          <p:cNvPr id="7" name="Text 4"/>
          <p:cNvSpPr/>
          <p:nvPr>
            <p:ph idx="105" type="title" hasCustomPrompt="1"/>
          </p:nvPr>
        </p:nvSpPr>
        <p:spPr>
          <a:xfrm>
            <a:off x="457200" y="987552"/>
            <a:ext cx="11274552" cy="566928"/>
          </a:xfrm>
          <a:prstGeom prst="rect">
            <a:avLst/>
          </a:prstGeom>
          <a:noFill/>
          <a:ln/>
        </p:spPr>
        <p:txBody>
          <a:bodyPr wrap="square" rtlCol="0"/>
          <a:lstStyle>
            <a:lvl1pPr algn="l" indent="0" marL="0">
              <a:buNone/>
              <a:defRPr lang="en-US" sz="3000" b="1" dirty="0">
                <a:solidFill>
                  <a:srgbClr val="0B5A3C"/>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8" name="Text 4"/>
          <p:cNvSpPr/>
          <p:nvPr>
            <p:ph idx="106" type="body" hasCustomPrompt="1"/>
          </p:nvPr>
        </p:nvSpPr>
        <p:spPr>
          <a:xfrm>
            <a:off x="457200" y="1536192"/>
            <a:ext cx="11274552" cy="329184"/>
          </a:xfrm>
          <a:prstGeom prst="rect">
            <a:avLst/>
          </a:prstGeom>
          <a:noFill/>
          <a:ln/>
        </p:spPr>
        <p:txBody>
          <a:bodyPr wrap="square" rtlCol="0"/>
          <a:lstStyle>
            <a:lvl1pPr indent="0" marL="0">
              <a:buNone/>
              <a:defRPr lang="en-US" sz="1400" dirty="0">
                <a:solidFill>
                  <a:srgbClr val="0B5A3C"/>
                </a:solidFill>
                <a:latin typeface="Arial" pitchFamily="34" charset="0"/>
                <a:ea typeface="Arial" pitchFamily="34" charset="-122"/>
                <a:cs typeface="Arial" pitchFamily="34" charset="-120"/>
              </a:defRPr>
            </a:lvl1pPr>
          </a:lstStyle>
          <a:p>
            <a:pPr indent="0" marL="0">
              <a:buNone/>
            </a:pPr>
            <a:endParaRPr lang="en-US" sz="14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2.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1234440"/>
            <a:ext cx="6035040" cy="1417320"/>
          </a:xfrm>
          <a:prstGeom prst="rect">
            <a:avLst/>
          </a:prstGeom>
          <a:noFill/>
          <a:ln/>
        </p:spPr>
        <p:txBody>
          <a:bodyPr wrap="square" lIns="0" tIns="0" rIns="0" bIns="0" rtlCol="0" anchor="t"/>
          <a:lstStyle/>
          <a:p>
            <a:pPr indent="0" marL="0">
              <a:buNone/>
            </a:pPr>
            <a:r>
              <a:rPr lang="en-US" sz="3800" b="1" dirty="0">
                <a:solidFill>
                  <a:srgbClr val="0B5A3C"/>
                </a:solidFill>
                <a:latin typeface="Arial" pitchFamily="34" charset="0"/>
                <a:ea typeface="Arial" pitchFamily="34" charset="-122"/>
                <a:cs typeface="Arial" pitchFamily="34" charset="-120"/>
              </a:rPr>
              <a:t>Road Sign Recognition</a:t>
            </a:r>
            <a:endParaRPr lang="en-US" sz="3800" dirty="0"/>
          </a:p>
          <a:p>
            <a:pPr indent="0" marL="0">
              <a:buNone/>
            </a:pPr>
            <a:r>
              <a:rPr lang="en-US" sz="3800" b="1" dirty="0">
                <a:solidFill>
                  <a:srgbClr val="0B5A3C"/>
                </a:solidFill>
                <a:latin typeface="Arial" pitchFamily="34" charset="0"/>
                <a:ea typeface="Arial" pitchFamily="34" charset="-122"/>
                <a:cs typeface="Arial" pitchFamily="34" charset="-120"/>
              </a:rPr>
              <a:t>Using Deep Learning</a:t>
            </a:r>
            <a:endParaRPr lang="en-US" sz="3800" dirty="0"/>
          </a:p>
        </p:txBody>
      </p:sp>
      <p:sp>
        <p:nvSpPr>
          <p:cNvPr id="3" name="Text 1"/>
          <p:cNvSpPr txBox="1"/>
          <p:nvPr/>
        </p:nvSpPr>
        <p:spPr>
          <a:xfrm>
            <a:off x="457200" y="2743200"/>
            <a:ext cx="5852160" cy="685800"/>
          </a:xfrm>
          <a:prstGeom prst="rect">
            <a:avLst/>
          </a:prstGeom>
          <a:noFill/>
          <a:ln/>
        </p:spPr>
        <p:txBody>
          <a:bodyPr wrap="square" lIns="0" tIns="0" rIns="0" bIns="0" rtlCol="0" anchor="t"/>
          <a:lstStyle/>
          <a:p>
            <a:pPr indent="0" marL="0">
              <a:buNone/>
            </a:pPr>
            <a:r>
              <a:rPr lang="en-US" sz="1600" dirty="0">
                <a:solidFill>
                  <a:srgbClr val="0B5A3C"/>
                </a:solidFill>
                <a:latin typeface="Arial" pitchFamily="34" charset="0"/>
                <a:ea typeface="Arial" pitchFamily="34" charset="-122"/>
                <a:cs typeface="Arial" pitchFamily="34" charset="-120"/>
              </a:rPr>
              <a:t>Classifying 26 Cambodian traffic signs: a CNN trained from scratch vs. ResNet-18 transfer learning</a:t>
            </a:r>
            <a:endParaRPr lang="en-US" sz="1600" dirty="0"/>
          </a:p>
        </p:txBody>
      </p:sp>
      <p:sp>
        <p:nvSpPr>
          <p:cNvPr id="4" name="Text 2"/>
          <p:cNvSpPr txBox="1"/>
          <p:nvPr/>
        </p:nvSpPr>
        <p:spPr>
          <a:xfrm>
            <a:off x="457200" y="3657600"/>
            <a:ext cx="5669280" cy="2194560"/>
          </a:xfrm>
          <a:prstGeom prst="rect">
            <a:avLst/>
          </a:prstGeom>
          <a:noFill/>
          <a:ln/>
        </p:spPr>
        <p:txBody>
          <a:bodyPr wrap="square" lIns="0" tIns="0" rIns="0" bIns="0" rtlCol="0" anchor="t"/>
          <a:lstStyle/>
          <a:p>
            <a:pPr indent="0" marL="0">
              <a:spcAft>
                <a:spcPts val="400"/>
              </a:spcAft>
              <a:buNone/>
            </a:pPr>
            <a:r>
              <a:rPr lang="en-US" sz="1400" dirty="0">
                <a:solidFill>
                  <a:srgbClr val="111111"/>
                </a:solidFill>
                <a:latin typeface="Arial" pitchFamily="34" charset="0"/>
                <a:ea typeface="Arial" pitchFamily="34" charset="-122"/>
                <a:cs typeface="Arial" pitchFamily="34" charset="-120"/>
              </a:rPr>
              <a:t>Presenter: Tes Sothyroth</a:t>
            </a:r>
            <a:endParaRPr lang="en-US" sz="1400" dirty="0"/>
          </a:p>
          <a:p>
            <a:pPr indent="0" marL="0">
              <a:spcAft>
                <a:spcPts val="400"/>
              </a:spcAft>
              <a:buNone/>
            </a:pPr>
            <a:r>
              <a:rPr lang="en-US" sz="1400" dirty="0">
                <a:solidFill>
                  <a:srgbClr val="111111"/>
                </a:solidFill>
                <a:latin typeface="Arial" pitchFamily="34" charset="0"/>
                <a:ea typeface="Arial" pitchFamily="34" charset="-122"/>
                <a:cs typeface="Arial" pitchFamily="34" charset="-120"/>
              </a:rPr>
              <a:t>Student ID: 1702250028</a:t>
            </a:r>
            <a:endParaRPr lang="en-US" sz="1400" dirty="0"/>
          </a:p>
          <a:p>
            <a:pPr indent="0" marL="0">
              <a:spcAft>
                <a:spcPts val="400"/>
              </a:spcAft>
              <a:buNone/>
            </a:pPr>
            <a:r>
              <a:rPr lang="en-US" sz="1400" dirty="0">
                <a:solidFill>
                  <a:srgbClr val="111111"/>
                </a:solidFill>
                <a:latin typeface="Arial" pitchFamily="34" charset="0"/>
                <a:ea typeface="Arial" pitchFamily="34" charset="-122"/>
                <a:cs typeface="Arial" pitchFamily="34" charset="-120"/>
              </a:rPr>
              <a:t>Course: Deep Learning</a:t>
            </a:r>
            <a:endParaRPr lang="en-US" sz="1400" dirty="0"/>
          </a:p>
          <a:p>
            <a:pPr indent="0" marL="0">
              <a:spcAft>
                <a:spcPts val="400"/>
              </a:spcAft>
              <a:buNone/>
            </a:pPr>
            <a:r>
              <a:rPr lang="en-US" sz="1400" dirty="0">
                <a:solidFill>
                  <a:srgbClr val="111111"/>
                </a:solidFill>
                <a:latin typeface="Arial" pitchFamily="34" charset="0"/>
                <a:ea typeface="Arial" pitchFamily="34" charset="-122"/>
                <a:cs typeface="Arial" pitchFamily="34" charset="-120"/>
              </a:rPr>
              <a:t>Lecturer: Him Soklong</a:t>
            </a:r>
            <a:endParaRPr lang="en-US" sz="1400" dirty="0"/>
          </a:p>
          <a:p>
            <a:pPr indent="0" marL="0">
              <a:spcAft>
                <a:spcPts val="400"/>
              </a:spcAft>
              <a:buNone/>
            </a:pPr>
            <a:r>
              <a:rPr lang="en-US" sz="1400" dirty="0">
                <a:solidFill>
                  <a:srgbClr val="111111"/>
                </a:solidFill>
                <a:latin typeface="Arial" pitchFamily="34" charset="0"/>
                <a:ea typeface="Arial" pitchFamily="34" charset="-122"/>
                <a:cs typeface="Arial" pitchFamily="34" charset="-120"/>
              </a:rPr>
              <a:t>School: Kirirom Institute of Technology</a:t>
            </a:r>
            <a:endParaRPr lang="en-US" sz="1400" dirty="0"/>
          </a:p>
          <a:p>
            <a:pPr indent="0" marL="0">
              <a:spcAft>
                <a:spcPts val="400"/>
              </a:spcAft>
              <a:buNone/>
            </a:pPr>
            <a:r>
              <a:rPr lang="en-US" sz="1400" dirty="0">
                <a:solidFill>
                  <a:srgbClr val="111111"/>
                </a:solidFill>
                <a:latin typeface="Arial" pitchFamily="34" charset="0"/>
                <a:ea typeface="Arial" pitchFamily="34" charset="-122"/>
                <a:cs typeface="Arial" pitchFamily="34" charset="-120"/>
              </a:rPr>
              <a:t>Date: ____________</a:t>
            </a:r>
            <a:endParaRPr lang="en-US" sz="1400" dirty="0"/>
          </a:p>
        </p:txBody>
      </p:sp>
      <p:sp>
        <p:nvSpPr>
          <p:cNvPr id="5" name="Shape 3"/>
          <p:cNvSpPr/>
          <p:nvPr/>
        </p:nvSpPr>
        <p:spPr>
          <a:xfrm>
            <a:off x="6629400" y="1234440"/>
            <a:ext cx="0" cy="4754880"/>
          </a:xfrm>
          <a:prstGeom prst="line">
            <a:avLst/>
          </a:prstGeom>
          <a:noFill/>
          <a:ln w="12700">
            <a:solidFill>
              <a:srgbClr val="C9DDD2"/>
            </a:solidFill>
            <a:prstDash val="solid"/>
          </a:ln>
        </p:spPr>
      </p:sp>
      <p:sp>
        <p:nvSpPr>
          <p:cNvPr id="6" name="title-card"/>
          <p:cNvSpPr/>
          <p:nvPr/>
        </p:nvSpPr>
        <p:spPr>
          <a:xfrm>
            <a:off x="6903720" y="1234440"/>
            <a:ext cx="4828032" cy="4754880"/>
          </a:xfrm>
          <a:prstGeom prst="roundRect">
            <a:avLst>
              <a:gd name="adj" fmla="val 1538"/>
            </a:avLst>
          </a:prstGeom>
          <a:solidFill>
            <a:srgbClr val="EEF5F1"/>
          </a:solidFill>
          <a:ln w="9525">
            <a:solidFill>
              <a:srgbClr val="EEF5F1"/>
            </a:solidFill>
            <a:prstDash val="solid"/>
          </a:ln>
        </p:spPr>
      </p:sp>
      <p:pic>
        <p:nvPicPr>
          <p:cNvPr id="7" name="sample-grid" descr="C:/Users/ASUS G 16 JVR/AppData/Local/Temp/claude/C--Users-ASUS-G-16-JVR-Desktop-deepLearning-CNN/ddb4b7a1-b5ad-4432-b312-271443ec143d/scratchpad/deck/assets/sample_grid.png">    </p:cNvPr>
          <p:cNvPicPr>
            <a:picLocks noChangeAspect="1"/>
          </p:cNvPicPr>
          <p:nvPr/>
        </p:nvPicPr>
        <p:blipFill>
          <a:blip r:embed="rId1"/>
          <a:stretch>
            <a:fillRect/>
          </a:stretch>
        </p:blipFill>
        <p:spPr>
          <a:xfrm>
            <a:off x="7132320" y="1483921"/>
            <a:ext cx="4370832" cy="2152798"/>
          </a:xfrm>
          <a:prstGeom prst="rect">
            <a:avLst/>
          </a:prstGeom>
        </p:spPr>
      </p:pic>
      <p:sp>
        <p:nvSpPr>
          <p:cNvPr id="8" name="Text 5"/>
          <p:cNvSpPr txBox="1"/>
          <p:nvPr/>
        </p:nvSpPr>
        <p:spPr>
          <a:xfrm>
            <a:off x="7132320" y="3703320"/>
            <a:ext cx="4370832" cy="320040"/>
          </a:xfrm>
          <a:prstGeom prst="rect">
            <a:avLst/>
          </a:prstGeom>
          <a:noFill/>
          <a:ln/>
        </p:spPr>
        <p:txBody>
          <a:bodyPr wrap="square" lIns="0" tIns="0" rIns="0" bIns="0" rtlCol="0" anchor="t"/>
          <a:lstStyle/>
          <a:p>
            <a:pPr algn="ctr" indent="0" marL="0">
              <a:buNone/>
            </a:pPr>
            <a:r>
              <a:rPr lang="en-US" sz="1100" dirty="0">
                <a:solidFill>
                  <a:srgbClr val="555555"/>
                </a:solidFill>
                <a:latin typeface="Arial" pitchFamily="34" charset="0"/>
                <a:ea typeface="Arial" pitchFamily="34" charset="-122"/>
                <a:cs typeface="Arial" pitchFamily="34" charset="-120"/>
              </a:rPr>
              <a:t>Real test-set crops, all classified correctly by the final model</a:t>
            </a:r>
            <a:endParaRPr lang="en-US" sz="1100" dirty="0"/>
          </a:p>
        </p:txBody>
      </p:sp>
      <p:sp>
        <p:nvSpPr>
          <p:cNvPr id="9" name="Text 6"/>
          <p:cNvSpPr txBox="1"/>
          <p:nvPr/>
        </p:nvSpPr>
        <p:spPr>
          <a:xfrm>
            <a:off x="7132320" y="4114800"/>
            <a:ext cx="2103120" cy="640080"/>
          </a:xfrm>
          <a:prstGeom prst="rect">
            <a:avLst/>
          </a:prstGeom>
          <a:noFill/>
          <a:ln/>
        </p:spPr>
        <p:txBody>
          <a:bodyPr wrap="square" lIns="0" tIns="0" rIns="0" bIns="0" rtlCol="0" anchor="b"/>
          <a:lstStyle/>
          <a:p>
            <a:pPr algn="ctr" indent="0" marL="0">
              <a:buNone/>
            </a:pPr>
            <a:r>
              <a:rPr lang="en-US" sz="3000" b="1" dirty="0">
                <a:solidFill>
                  <a:srgbClr val="DD8452"/>
                </a:solidFill>
                <a:latin typeface="Arial" pitchFamily="34" charset="0"/>
                <a:ea typeface="Arial" pitchFamily="34" charset="-122"/>
                <a:cs typeface="Arial" pitchFamily="34" charset="-120"/>
              </a:rPr>
              <a:t>98.70%</a:t>
            </a:r>
            <a:endParaRPr lang="en-US" sz="3000" dirty="0"/>
          </a:p>
        </p:txBody>
      </p:sp>
      <p:sp>
        <p:nvSpPr>
          <p:cNvPr id="10" name="Text 7"/>
          <p:cNvSpPr txBox="1"/>
          <p:nvPr/>
        </p:nvSpPr>
        <p:spPr>
          <a:xfrm>
            <a:off x="7132320" y="4773168"/>
            <a:ext cx="210312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final test accuracy</a:t>
            </a:r>
            <a:endParaRPr lang="en-US" sz="1200" dirty="0"/>
          </a:p>
        </p:txBody>
      </p:sp>
      <p:sp>
        <p:nvSpPr>
          <p:cNvPr id="11" name="Text 8"/>
          <p:cNvSpPr txBox="1"/>
          <p:nvPr/>
        </p:nvSpPr>
        <p:spPr>
          <a:xfrm>
            <a:off x="9372600" y="4114800"/>
            <a:ext cx="2103120" cy="640080"/>
          </a:xfrm>
          <a:prstGeom prst="rect">
            <a:avLst/>
          </a:prstGeom>
          <a:noFill/>
          <a:ln/>
        </p:spPr>
        <p:txBody>
          <a:bodyPr wrap="square" lIns="0" tIns="0" rIns="0" bIns="0" rtlCol="0" anchor="b"/>
          <a:lstStyle/>
          <a:p>
            <a:pPr algn="ctr" indent="0" marL="0">
              <a:buNone/>
            </a:pPr>
            <a:r>
              <a:rPr lang="en-US" sz="3000" b="1" dirty="0">
                <a:solidFill>
                  <a:srgbClr val="0B5A3C"/>
                </a:solidFill>
                <a:latin typeface="Arial" pitchFamily="34" charset="0"/>
                <a:ea typeface="Arial" pitchFamily="34" charset="-122"/>
                <a:cs typeface="Arial" pitchFamily="34" charset="-120"/>
              </a:rPr>
              <a:t>26</a:t>
            </a:r>
            <a:endParaRPr lang="en-US" sz="3000" dirty="0"/>
          </a:p>
        </p:txBody>
      </p:sp>
      <p:sp>
        <p:nvSpPr>
          <p:cNvPr id="12" name="Text 9"/>
          <p:cNvSpPr txBox="1"/>
          <p:nvPr/>
        </p:nvSpPr>
        <p:spPr>
          <a:xfrm>
            <a:off x="9372600" y="4773168"/>
            <a:ext cx="210312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sign classes</a:t>
            </a:r>
            <a:endParaRPr lang="en-US" sz="1200" dirty="0"/>
          </a:p>
        </p:txBody>
      </p:sp>
      <p:sp>
        <p:nvSpPr>
          <p:cNvPr id="14"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endParaRPr lang="en-US" sz="3000" dirty="0"/>
          </a:p>
        </p:txBody>
      </p:sp>
      <p:sp>
        <p:nvSpPr>
          <p:cNvPr id="15"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Table of Contents</a:t>
            </a:r>
            <a:endParaRPr lang="en-US" sz="3000" dirty="0"/>
          </a:p>
        </p:txBody>
      </p:sp>
      <p:sp>
        <p:nvSpPr>
          <p:cNvPr id="3" name="Text 1"/>
          <p:cNvSpPr txBox="1"/>
          <p:nvPr/>
        </p:nvSpPr>
        <p:spPr>
          <a:xfrm>
            <a:off x="731520" y="1874520"/>
            <a:ext cx="640080" cy="502920"/>
          </a:xfrm>
          <a:prstGeom prst="rect">
            <a:avLst/>
          </a:prstGeom>
          <a:noFill/>
          <a:ln/>
        </p:spPr>
        <p:txBody>
          <a:bodyPr wrap="square" lIns="0" tIns="0" rIns="0" bIns="0" rtlCol="0" anchor="ctr"/>
          <a:lstStyle/>
          <a:p>
            <a:pPr indent="0" marL="0">
              <a:buNone/>
            </a:pPr>
            <a:r>
              <a:rPr lang="en-US" sz="1500" b="1" dirty="0">
                <a:solidFill>
                  <a:srgbClr val="0B5A3C"/>
                </a:solidFill>
                <a:latin typeface="Arial" pitchFamily="34" charset="0"/>
                <a:ea typeface="Arial" pitchFamily="34" charset="-122"/>
                <a:cs typeface="Arial" pitchFamily="34" charset="-120"/>
              </a:rPr>
              <a:t>01</a:t>
            </a:r>
            <a:endParaRPr lang="en-US" sz="1500" dirty="0"/>
          </a:p>
        </p:txBody>
      </p:sp>
      <p:sp>
        <p:nvSpPr>
          <p:cNvPr id="4" name="Text 2"/>
          <p:cNvSpPr txBox="1"/>
          <p:nvPr/>
        </p:nvSpPr>
        <p:spPr>
          <a:xfrm>
            <a:off x="1463040" y="1874520"/>
            <a:ext cx="4389120" cy="502920"/>
          </a:xfrm>
          <a:prstGeom prst="rect">
            <a:avLst/>
          </a:prstGeom>
          <a:noFill/>
          <a:ln/>
        </p:spPr>
        <p:txBody>
          <a:bodyPr wrap="square" lIns="0" tIns="0" rIns="0" bIns="0" rtlCol="0" anchor="ctr"/>
          <a:lstStyle/>
          <a:p>
            <a:pPr indent="0" marL="0">
              <a:buNone/>
            </a:pPr>
            <a:r>
              <a:rPr lang="en-US" sz="1800" dirty="0">
                <a:solidFill>
                  <a:srgbClr val="111111"/>
                </a:solidFill>
                <a:latin typeface="Arial" pitchFamily="34" charset="0"/>
                <a:ea typeface="Arial" pitchFamily="34" charset="-122"/>
                <a:cs typeface="Arial" pitchFamily="34" charset="-120"/>
              </a:rPr>
              <a:t>Problem, dataset &amp; split</a:t>
            </a:r>
            <a:endParaRPr lang="en-US" sz="1800" dirty="0"/>
          </a:p>
        </p:txBody>
      </p:sp>
      <p:sp>
        <p:nvSpPr>
          <p:cNvPr id="5" name="Shape 3"/>
          <p:cNvSpPr/>
          <p:nvPr/>
        </p:nvSpPr>
        <p:spPr>
          <a:xfrm>
            <a:off x="731520" y="2478024"/>
            <a:ext cx="5120640" cy="0"/>
          </a:xfrm>
          <a:prstGeom prst="line">
            <a:avLst/>
          </a:prstGeom>
          <a:noFill/>
          <a:ln w="9525">
            <a:solidFill>
              <a:srgbClr val="C9DDD2"/>
            </a:solidFill>
            <a:prstDash val="solid"/>
          </a:ln>
        </p:spPr>
      </p:sp>
      <p:sp>
        <p:nvSpPr>
          <p:cNvPr id="6" name="Text 4"/>
          <p:cNvSpPr txBox="1"/>
          <p:nvPr/>
        </p:nvSpPr>
        <p:spPr>
          <a:xfrm>
            <a:off x="731520" y="2715768"/>
            <a:ext cx="640080" cy="502920"/>
          </a:xfrm>
          <a:prstGeom prst="rect">
            <a:avLst/>
          </a:prstGeom>
          <a:noFill/>
          <a:ln/>
        </p:spPr>
        <p:txBody>
          <a:bodyPr wrap="square" lIns="0" tIns="0" rIns="0" bIns="0" rtlCol="0" anchor="ctr"/>
          <a:lstStyle/>
          <a:p>
            <a:pPr indent="0" marL="0">
              <a:buNone/>
            </a:pPr>
            <a:r>
              <a:rPr lang="en-US" sz="1500" b="1" dirty="0">
                <a:solidFill>
                  <a:srgbClr val="0B5A3C"/>
                </a:solidFill>
                <a:latin typeface="Arial" pitchFamily="34" charset="0"/>
                <a:ea typeface="Arial" pitchFamily="34" charset="-122"/>
                <a:cs typeface="Arial" pitchFamily="34" charset="-120"/>
              </a:rPr>
              <a:t>02</a:t>
            </a:r>
            <a:endParaRPr lang="en-US" sz="1500" dirty="0"/>
          </a:p>
        </p:txBody>
      </p:sp>
      <p:sp>
        <p:nvSpPr>
          <p:cNvPr id="7" name="Text 5"/>
          <p:cNvSpPr txBox="1"/>
          <p:nvPr/>
        </p:nvSpPr>
        <p:spPr>
          <a:xfrm>
            <a:off x="1463040" y="2715768"/>
            <a:ext cx="4389120" cy="502920"/>
          </a:xfrm>
          <a:prstGeom prst="rect">
            <a:avLst/>
          </a:prstGeom>
          <a:noFill/>
          <a:ln/>
        </p:spPr>
        <p:txBody>
          <a:bodyPr wrap="square" lIns="0" tIns="0" rIns="0" bIns="0" rtlCol="0" anchor="ctr"/>
          <a:lstStyle/>
          <a:p>
            <a:pPr indent="0" marL="0">
              <a:buNone/>
            </a:pPr>
            <a:r>
              <a:rPr lang="en-US" sz="1800" dirty="0">
                <a:solidFill>
                  <a:srgbClr val="111111"/>
                </a:solidFill>
                <a:latin typeface="Arial" pitchFamily="34" charset="0"/>
                <a:ea typeface="Arial" pitchFamily="34" charset="-122"/>
                <a:cs typeface="Arial" pitchFamily="34" charset="-120"/>
              </a:rPr>
              <a:t>Three approaches &amp; setup</a:t>
            </a:r>
            <a:endParaRPr lang="en-US" sz="1800" dirty="0"/>
          </a:p>
        </p:txBody>
      </p:sp>
      <p:sp>
        <p:nvSpPr>
          <p:cNvPr id="8" name="Shape 6"/>
          <p:cNvSpPr/>
          <p:nvPr/>
        </p:nvSpPr>
        <p:spPr>
          <a:xfrm>
            <a:off x="731520" y="3319272"/>
            <a:ext cx="5120640" cy="0"/>
          </a:xfrm>
          <a:prstGeom prst="line">
            <a:avLst/>
          </a:prstGeom>
          <a:noFill/>
          <a:ln w="9525">
            <a:solidFill>
              <a:srgbClr val="C9DDD2"/>
            </a:solidFill>
            <a:prstDash val="solid"/>
          </a:ln>
        </p:spPr>
      </p:sp>
      <p:sp>
        <p:nvSpPr>
          <p:cNvPr id="9" name="Text 7"/>
          <p:cNvSpPr txBox="1"/>
          <p:nvPr/>
        </p:nvSpPr>
        <p:spPr>
          <a:xfrm>
            <a:off x="731520" y="3557016"/>
            <a:ext cx="640080" cy="502920"/>
          </a:xfrm>
          <a:prstGeom prst="rect">
            <a:avLst/>
          </a:prstGeom>
          <a:noFill/>
          <a:ln/>
        </p:spPr>
        <p:txBody>
          <a:bodyPr wrap="square" lIns="0" tIns="0" rIns="0" bIns="0" rtlCol="0" anchor="ctr"/>
          <a:lstStyle/>
          <a:p>
            <a:pPr indent="0" marL="0">
              <a:buNone/>
            </a:pPr>
            <a:r>
              <a:rPr lang="en-US" sz="1500" b="1" dirty="0">
                <a:solidFill>
                  <a:srgbClr val="0B5A3C"/>
                </a:solidFill>
                <a:latin typeface="Arial" pitchFamily="34" charset="0"/>
                <a:ea typeface="Arial" pitchFamily="34" charset="-122"/>
                <a:cs typeface="Arial" pitchFamily="34" charset="-120"/>
              </a:rPr>
              <a:t>03</a:t>
            </a:r>
            <a:endParaRPr lang="en-US" sz="1500" dirty="0"/>
          </a:p>
        </p:txBody>
      </p:sp>
      <p:sp>
        <p:nvSpPr>
          <p:cNvPr id="10" name="Text 8"/>
          <p:cNvSpPr txBox="1"/>
          <p:nvPr/>
        </p:nvSpPr>
        <p:spPr>
          <a:xfrm>
            <a:off x="1463040" y="3557016"/>
            <a:ext cx="4389120" cy="502920"/>
          </a:xfrm>
          <a:prstGeom prst="rect">
            <a:avLst/>
          </a:prstGeom>
          <a:noFill/>
          <a:ln/>
        </p:spPr>
        <p:txBody>
          <a:bodyPr wrap="square" lIns="0" tIns="0" rIns="0" bIns="0" rtlCol="0" anchor="ctr"/>
          <a:lstStyle/>
          <a:p>
            <a:pPr indent="0" marL="0">
              <a:buNone/>
            </a:pPr>
            <a:r>
              <a:rPr lang="en-US" sz="1800" dirty="0">
                <a:solidFill>
                  <a:srgbClr val="111111"/>
                </a:solidFill>
                <a:latin typeface="Arial" pitchFamily="34" charset="0"/>
                <a:ea typeface="Arial" pitchFamily="34" charset="-122"/>
                <a:cs typeface="Arial" pitchFamily="34" charset="-120"/>
              </a:rPr>
              <a:t>Results &amp; tuning</a:t>
            </a:r>
            <a:endParaRPr lang="en-US" sz="1800" dirty="0"/>
          </a:p>
        </p:txBody>
      </p:sp>
      <p:sp>
        <p:nvSpPr>
          <p:cNvPr id="11" name="Shape 9"/>
          <p:cNvSpPr/>
          <p:nvPr/>
        </p:nvSpPr>
        <p:spPr>
          <a:xfrm>
            <a:off x="731520" y="4160520"/>
            <a:ext cx="5120640" cy="0"/>
          </a:xfrm>
          <a:prstGeom prst="line">
            <a:avLst/>
          </a:prstGeom>
          <a:noFill/>
          <a:ln w="9525">
            <a:solidFill>
              <a:srgbClr val="C9DDD2"/>
            </a:solidFill>
            <a:prstDash val="solid"/>
          </a:ln>
        </p:spPr>
      </p:sp>
      <p:sp>
        <p:nvSpPr>
          <p:cNvPr id="12" name="Text 10"/>
          <p:cNvSpPr txBox="1"/>
          <p:nvPr/>
        </p:nvSpPr>
        <p:spPr>
          <a:xfrm>
            <a:off x="731520" y="4398264"/>
            <a:ext cx="640080" cy="502920"/>
          </a:xfrm>
          <a:prstGeom prst="rect">
            <a:avLst/>
          </a:prstGeom>
          <a:noFill/>
          <a:ln/>
        </p:spPr>
        <p:txBody>
          <a:bodyPr wrap="square" lIns="0" tIns="0" rIns="0" bIns="0" rtlCol="0" anchor="ctr"/>
          <a:lstStyle/>
          <a:p>
            <a:pPr indent="0" marL="0">
              <a:buNone/>
            </a:pPr>
            <a:r>
              <a:rPr lang="en-US" sz="1500" b="1" dirty="0">
                <a:solidFill>
                  <a:srgbClr val="0B5A3C"/>
                </a:solidFill>
                <a:latin typeface="Arial" pitchFamily="34" charset="0"/>
                <a:ea typeface="Arial" pitchFamily="34" charset="-122"/>
                <a:cs typeface="Arial" pitchFamily="34" charset="-120"/>
              </a:rPr>
              <a:t>04</a:t>
            </a:r>
            <a:endParaRPr lang="en-US" sz="1500" dirty="0"/>
          </a:p>
        </p:txBody>
      </p:sp>
      <p:sp>
        <p:nvSpPr>
          <p:cNvPr id="13" name="Text 11"/>
          <p:cNvSpPr txBox="1"/>
          <p:nvPr/>
        </p:nvSpPr>
        <p:spPr>
          <a:xfrm>
            <a:off x="1463040" y="4398264"/>
            <a:ext cx="4389120" cy="502920"/>
          </a:xfrm>
          <a:prstGeom prst="rect">
            <a:avLst/>
          </a:prstGeom>
          <a:noFill/>
          <a:ln/>
        </p:spPr>
        <p:txBody>
          <a:bodyPr wrap="square" lIns="0" tIns="0" rIns="0" bIns="0" rtlCol="0" anchor="ctr"/>
          <a:lstStyle/>
          <a:p>
            <a:pPr indent="0" marL="0">
              <a:buNone/>
            </a:pPr>
            <a:r>
              <a:rPr lang="en-US" sz="1800" dirty="0">
                <a:solidFill>
                  <a:srgbClr val="111111"/>
                </a:solidFill>
                <a:latin typeface="Arial" pitchFamily="34" charset="0"/>
                <a:ea typeface="Arial" pitchFamily="34" charset="-122"/>
                <a:cs typeface="Arial" pitchFamily="34" charset="-120"/>
              </a:rPr>
              <a:t>Why fine-tuning wins</a:t>
            </a:r>
            <a:endParaRPr lang="en-US" sz="1800" dirty="0"/>
          </a:p>
        </p:txBody>
      </p:sp>
      <p:sp>
        <p:nvSpPr>
          <p:cNvPr id="14" name="Shape 12"/>
          <p:cNvSpPr/>
          <p:nvPr/>
        </p:nvSpPr>
        <p:spPr>
          <a:xfrm>
            <a:off x="731520" y="5001768"/>
            <a:ext cx="5120640" cy="0"/>
          </a:xfrm>
          <a:prstGeom prst="line">
            <a:avLst/>
          </a:prstGeom>
          <a:noFill/>
          <a:ln w="9525">
            <a:solidFill>
              <a:srgbClr val="C9DDD2"/>
            </a:solidFill>
            <a:prstDash val="solid"/>
          </a:ln>
        </p:spPr>
      </p:sp>
      <p:sp>
        <p:nvSpPr>
          <p:cNvPr id="15" name="Text 13"/>
          <p:cNvSpPr txBox="1"/>
          <p:nvPr/>
        </p:nvSpPr>
        <p:spPr>
          <a:xfrm>
            <a:off x="731520" y="5239512"/>
            <a:ext cx="640080" cy="502920"/>
          </a:xfrm>
          <a:prstGeom prst="rect">
            <a:avLst/>
          </a:prstGeom>
          <a:noFill/>
          <a:ln/>
        </p:spPr>
        <p:txBody>
          <a:bodyPr wrap="square" lIns="0" tIns="0" rIns="0" bIns="0" rtlCol="0" anchor="ctr"/>
          <a:lstStyle/>
          <a:p>
            <a:pPr indent="0" marL="0">
              <a:buNone/>
            </a:pPr>
            <a:r>
              <a:rPr lang="en-US" sz="1500" b="1" dirty="0">
                <a:solidFill>
                  <a:srgbClr val="0B5A3C"/>
                </a:solidFill>
                <a:latin typeface="Arial" pitchFamily="34" charset="0"/>
                <a:ea typeface="Arial" pitchFamily="34" charset="-122"/>
                <a:cs typeface="Arial" pitchFamily="34" charset="-120"/>
              </a:rPr>
              <a:t>05</a:t>
            </a:r>
            <a:endParaRPr lang="en-US" sz="1500" dirty="0"/>
          </a:p>
        </p:txBody>
      </p:sp>
      <p:sp>
        <p:nvSpPr>
          <p:cNvPr id="16" name="Text 14"/>
          <p:cNvSpPr txBox="1"/>
          <p:nvPr/>
        </p:nvSpPr>
        <p:spPr>
          <a:xfrm>
            <a:off x="1463040" y="5239512"/>
            <a:ext cx="4389120" cy="502920"/>
          </a:xfrm>
          <a:prstGeom prst="rect">
            <a:avLst/>
          </a:prstGeom>
          <a:noFill/>
          <a:ln/>
        </p:spPr>
        <p:txBody>
          <a:bodyPr wrap="square" lIns="0" tIns="0" rIns="0" bIns="0" rtlCol="0" anchor="ctr"/>
          <a:lstStyle/>
          <a:p>
            <a:pPr indent="0" marL="0">
              <a:buNone/>
            </a:pPr>
            <a:r>
              <a:rPr lang="en-US" sz="1800" dirty="0">
                <a:solidFill>
                  <a:srgbClr val="111111"/>
                </a:solidFill>
                <a:latin typeface="Arial" pitchFamily="34" charset="0"/>
                <a:ea typeface="Arial" pitchFamily="34" charset="-122"/>
                <a:cs typeface="Arial" pitchFamily="34" charset="-120"/>
              </a:rPr>
              <a:t>Error analysis</a:t>
            </a:r>
            <a:endParaRPr lang="en-US" sz="1800" dirty="0"/>
          </a:p>
        </p:txBody>
      </p:sp>
      <p:sp>
        <p:nvSpPr>
          <p:cNvPr id="17" name="Shape 15"/>
          <p:cNvSpPr/>
          <p:nvPr/>
        </p:nvSpPr>
        <p:spPr>
          <a:xfrm>
            <a:off x="731520" y="5843016"/>
            <a:ext cx="5120640" cy="0"/>
          </a:xfrm>
          <a:prstGeom prst="line">
            <a:avLst/>
          </a:prstGeom>
          <a:noFill/>
          <a:ln w="9525">
            <a:solidFill>
              <a:srgbClr val="C9DDD2"/>
            </a:solidFill>
            <a:prstDash val="solid"/>
          </a:ln>
        </p:spPr>
      </p:sp>
      <p:sp>
        <p:nvSpPr>
          <p:cNvPr id="18" name="Text 16"/>
          <p:cNvSpPr txBox="1"/>
          <p:nvPr/>
        </p:nvSpPr>
        <p:spPr>
          <a:xfrm>
            <a:off x="6400800" y="1874520"/>
            <a:ext cx="640080" cy="502920"/>
          </a:xfrm>
          <a:prstGeom prst="rect">
            <a:avLst/>
          </a:prstGeom>
          <a:noFill/>
          <a:ln/>
        </p:spPr>
        <p:txBody>
          <a:bodyPr wrap="square" lIns="0" tIns="0" rIns="0" bIns="0" rtlCol="0" anchor="ctr"/>
          <a:lstStyle/>
          <a:p>
            <a:pPr indent="0" marL="0">
              <a:buNone/>
            </a:pPr>
            <a:r>
              <a:rPr lang="en-US" sz="1500" b="1" dirty="0">
                <a:solidFill>
                  <a:srgbClr val="0B5A3C"/>
                </a:solidFill>
                <a:latin typeface="Arial" pitchFamily="34" charset="0"/>
                <a:ea typeface="Arial" pitchFamily="34" charset="-122"/>
                <a:cs typeface="Arial" pitchFamily="34" charset="-120"/>
              </a:rPr>
              <a:t>06</a:t>
            </a:r>
            <a:endParaRPr lang="en-US" sz="1500" dirty="0"/>
          </a:p>
        </p:txBody>
      </p:sp>
      <p:sp>
        <p:nvSpPr>
          <p:cNvPr id="19" name="Text 17"/>
          <p:cNvSpPr txBox="1"/>
          <p:nvPr/>
        </p:nvSpPr>
        <p:spPr>
          <a:xfrm>
            <a:off x="7132320" y="1874520"/>
            <a:ext cx="4389120" cy="502920"/>
          </a:xfrm>
          <a:prstGeom prst="rect">
            <a:avLst/>
          </a:prstGeom>
          <a:noFill/>
          <a:ln/>
        </p:spPr>
        <p:txBody>
          <a:bodyPr wrap="square" lIns="0" tIns="0" rIns="0" bIns="0" rtlCol="0" anchor="ctr"/>
          <a:lstStyle/>
          <a:p>
            <a:pPr indent="0" marL="0">
              <a:buNone/>
            </a:pPr>
            <a:r>
              <a:rPr lang="en-US" sz="1800" dirty="0">
                <a:solidFill>
                  <a:srgbClr val="111111"/>
                </a:solidFill>
                <a:latin typeface="Arial" pitchFamily="34" charset="0"/>
                <a:ea typeface="Arial" pitchFamily="34" charset="-122"/>
                <a:cs typeface="Arial" pitchFamily="34" charset="-120"/>
              </a:rPr>
              <a:t>Why random splits can be optimistic</a:t>
            </a:r>
            <a:endParaRPr lang="en-US" sz="1800" dirty="0"/>
          </a:p>
        </p:txBody>
      </p:sp>
      <p:sp>
        <p:nvSpPr>
          <p:cNvPr id="20" name="Shape 18"/>
          <p:cNvSpPr/>
          <p:nvPr/>
        </p:nvSpPr>
        <p:spPr>
          <a:xfrm>
            <a:off x="6400800" y="2478024"/>
            <a:ext cx="5120640" cy="0"/>
          </a:xfrm>
          <a:prstGeom prst="line">
            <a:avLst/>
          </a:prstGeom>
          <a:noFill/>
          <a:ln w="9525">
            <a:solidFill>
              <a:srgbClr val="C9DDD2"/>
            </a:solidFill>
            <a:prstDash val="solid"/>
          </a:ln>
        </p:spPr>
      </p:sp>
      <p:sp>
        <p:nvSpPr>
          <p:cNvPr id="21" name="Text 19"/>
          <p:cNvSpPr txBox="1"/>
          <p:nvPr/>
        </p:nvSpPr>
        <p:spPr>
          <a:xfrm>
            <a:off x="6400800" y="2715768"/>
            <a:ext cx="640080" cy="502920"/>
          </a:xfrm>
          <a:prstGeom prst="rect">
            <a:avLst/>
          </a:prstGeom>
          <a:noFill/>
          <a:ln/>
        </p:spPr>
        <p:txBody>
          <a:bodyPr wrap="square" lIns="0" tIns="0" rIns="0" bIns="0" rtlCol="0" anchor="ctr"/>
          <a:lstStyle/>
          <a:p>
            <a:pPr indent="0" marL="0">
              <a:buNone/>
            </a:pPr>
            <a:r>
              <a:rPr lang="en-US" sz="1500" b="1" dirty="0">
                <a:solidFill>
                  <a:srgbClr val="0B5A3C"/>
                </a:solidFill>
                <a:latin typeface="Arial" pitchFamily="34" charset="0"/>
                <a:ea typeface="Arial" pitchFamily="34" charset="-122"/>
                <a:cs typeface="Arial" pitchFamily="34" charset="-120"/>
              </a:rPr>
              <a:t>07</a:t>
            </a:r>
            <a:endParaRPr lang="en-US" sz="1500" dirty="0"/>
          </a:p>
        </p:txBody>
      </p:sp>
      <p:sp>
        <p:nvSpPr>
          <p:cNvPr id="22" name="Text 20"/>
          <p:cNvSpPr txBox="1"/>
          <p:nvPr/>
        </p:nvSpPr>
        <p:spPr>
          <a:xfrm>
            <a:off x="7132320" y="2715768"/>
            <a:ext cx="4389120" cy="502920"/>
          </a:xfrm>
          <a:prstGeom prst="rect">
            <a:avLst/>
          </a:prstGeom>
          <a:noFill/>
          <a:ln/>
        </p:spPr>
        <p:txBody>
          <a:bodyPr wrap="square" lIns="0" tIns="0" rIns="0" bIns="0" rtlCol="0" anchor="ctr"/>
          <a:lstStyle/>
          <a:p>
            <a:pPr indent="0" marL="0">
              <a:buNone/>
            </a:pPr>
            <a:r>
              <a:rPr lang="en-US" sz="1800" dirty="0">
                <a:solidFill>
                  <a:srgbClr val="111111"/>
                </a:solidFill>
                <a:latin typeface="Arial" pitchFamily="34" charset="0"/>
                <a:ea typeface="Arial" pitchFamily="34" charset="-122"/>
                <a:cs typeface="Arial" pitchFamily="34" charset="-120"/>
              </a:rPr>
              <a:t>Grouped evaluation by drive</a:t>
            </a:r>
            <a:endParaRPr lang="en-US" sz="1800" dirty="0"/>
          </a:p>
        </p:txBody>
      </p:sp>
      <p:sp>
        <p:nvSpPr>
          <p:cNvPr id="23" name="Shape 21"/>
          <p:cNvSpPr/>
          <p:nvPr/>
        </p:nvSpPr>
        <p:spPr>
          <a:xfrm>
            <a:off x="6400800" y="3319272"/>
            <a:ext cx="5120640" cy="0"/>
          </a:xfrm>
          <a:prstGeom prst="line">
            <a:avLst/>
          </a:prstGeom>
          <a:noFill/>
          <a:ln w="9525">
            <a:solidFill>
              <a:srgbClr val="C9DDD2"/>
            </a:solidFill>
            <a:prstDash val="solid"/>
          </a:ln>
        </p:spPr>
      </p:sp>
      <p:sp>
        <p:nvSpPr>
          <p:cNvPr id="24" name="Text 22"/>
          <p:cNvSpPr txBox="1"/>
          <p:nvPr/>
        </p:nvSpPr>
        <p:spPr>
          <a:xfrm>
            <a:off x="6400800" y="3557016"/>
            <a:ext cx="640080" cy="502920"/>
          </a:xfrm>
          <a:prstGeom prst="rect">
            <a:avLst/>
          </a:prstGeom>
          <a:noFill/>
          <a:ln/>
        </p:spPr>
        <p:txBody>
          <a:bodyPr wrap="square" lIns="0" tIns="0" rIns="0" bIns="0" rtlCol="0" anchor="ctr"/>
          <a:lstStyle/>
          <a:p>
            <a:pPr indent="0" marL="0">
              <a:buNone/>
            </a:pPr>
            <a:r>
              <a:rPr lang="en-US" sz="1500" b="1" dirty="0">
                <a:solidFill>
                  <a:srgbClr val="0B5A3C"/>
                </a:solidFill>
                <a:latin typeface="Arial" pitchFamily="34" charset="0"/>
                <a:ea typeface="Arial" pitchFamily="34" charset="-122"/>
                <a:cs typeface="Arial" pitchFamily="34" charset="-120"/>
              </a:rPr>
              <a:t>08</a:t>
            </a:r>
            <a:endParaRPr lang="en-US" sz="1500" dirty="0"/>
          </a:p>
        </p:txBody>
      </p:sp>
      <p:sp>
        <p:nvSpPr>
          <p:cNvPr id="25" name="Text 23"/>
          <p:cNvSpPr txBox="1"/>
          <p:nvPr/>
        </p:nvSpPr>
        <p:spPr>
          <a:xfrm>
            <a:off x="7132320" y="3557016"/>
            <a:ext cx="4389120" cy="502920"/>
          </a:xfrm>
          <a:prstGeom prst="rect">
            <a:avLst/>
          </a:prstGeom>
          <a:noFill/>
          <a:ln/>
        </p:spPr>
        <p:txBody>
          <a:bodyPr wrap="square" lIns="0" tIns="0" rIns="0" bIns="0" rtlCol="0" anchor="ctr"/>
          <a:lstStyle/>
          <a:p>
            <a:pPr indent="0" marL="0">
              <a:buNone/>
            </a:pPr>
            <a:r>
              <a:rPr lang="en-US" sz="1800" dirty="0">
                <a:solidFill>
                  <a:srgbClr val="111111"/>
                </a:solidFill>
                <a:latin typeface="Arial" pitchFamily="34" charset="0"/>
                <a:ea typeface="Arial" pitchFamily="34" charset="-122"/>
                <a:cs typeface="Arial" pitchFamily="34" charset="-120"/>
              </a:rPr>
              <a:t>Cross Road vs. Priority Road</a:t>
            </a:r>
            <a:endParaRPr lang="en-US" sz="1800" dirty="0"/>
          </a:p>
        </p:txBody>
      </p:sp>
      <p:sp>
        <p:nvSpPr>
          <p:cNvPr id="26" name="Shape 24"/>
          <p:cNvSpPr/>
          <p:nvPr/>
        </p:nvSpPr>
        <p:spPr>
          <a:xfrm>
            <a:off x="6400800" y="4160520"/>
            <a:ext cx="5120640" cy="0"/>
          </a:xfrm>
          <a:prstGeom prst="line">
            <a:avLst/>
          </a:prstGeom>
          <a:noFill/>
          <a:ln w="9525">
            <a:solidFill>
              <a:srgbClr val="C9DDD2"/>
            </a:solidFill>
            <a:prstDash val="solid"/>
          </a:ln>
        </p:spPr>
      </p:sp>
      <p:sp>
        <p:nvSpPr>
          <p:cNvPr id="27" name="Text 25"/>
          <p:cNvSpPr txBox="1"/>
          <p:nvPr/>
        </p:nvSpPr>
        <p:spPr>
          <a:xfrm>
            <a:off x="6400800" y="4398264"/>
            <a:ext cx="640080" cy="502920"/>
          </a:xfrm>
          <a:prstGeom prst="rect">
            <a:avLst/>
          </a:prstGeom>
          <a:noFill/>
          <a:ln/>
        </p:spPr>
        <p:txBody>
          <a:bodyPr wrap="square" lIns="0" tIns="0" rIns="0" bIns="0" rtlCol="0" anchor="ctr"/>
          <a:lstStyle/>
          <a:p>
            <a:pPr indent="0" marL="0">
              <a:buNone/>
            </a:pPr>
            <a:r>
              <a:rPr lang="en-US" sz="1500" b="1" dirty="0">
                <a:solidFill>
                  <a:srgbClr val="0B5A3C"/>
                </a:solidFill>
                <a:latin typeface="Arial" pitchFamily="34" charset="0"/>
                <a:ea typeface="Arial" pitchFamily="34" charset="-122"/>
                <a:cs typeface="Arial" pitchFamily="34" charset="-120"/>
              </a:rPr>
              <a:t>09</a:t>
            </a:r>
            <a:endParaRPr lang="en-US" sz="1500" dirty="0"/>
          </a:p>
        </p:txBody>
      </p:sp>
      <p:sp>
        <p:nvSpPr>
          <p:cNvPr id="28" name="Text 26"/>
          <p:cNvSpPr txBox="1"/>
          <p:nvPr/>
        </p:nvSpPr>
        <p:spPr>
          <a:xfrm>
            <a:off x="7132320" y="4398264"/>
            <a:ext cx="4389120" cy="502920"/>
          </a:xfrm>
          <a:prstGeom prst="rect">
            <a:avLst/>
          </a:prstGeom>
          <a:noFill/>
          <a:ln/>
        </p:spPr>
        <p:txBody>
          <a:bodyPr wrap="square" lIns="0" tIns="0" rIns="0" bIns="0" rtlCol="0" anchor="ctr"/>
          <a:lstStyle/>
          <a:p>
            <a:pPr indent="0" marL="0">
              <a:buNone/>
            </a:pPr>
            <a:r>
              <a:rPr lang="en-US" sz="1800" dirty="0">
                <a:solidFill>
                  <a:srgbClr val="111111"/>
                </a:solidFill>
                <a:latin typeface="Arial" pitchFamily="34" charset="0"/>
                <a:ea typeface="Arial" pitchFamily="34" charset="-122"/>
                <a:cs typeface="Arial" pitchFamily="34" charset="-120"/>
              </a:rPr>
              <a:t>Extension: YOLO detection</a:t>
            </a:r>
            <a:endParaRPr lang="en-US" sz="1800" dirty="0"/>
          </a:p>
        </p:txBody>
      </p:sp>
      <p:sp>
        <p:nvSpPr>
          <p:cNvPr id="29" name="Shape 27"/>
          <p:cNvSpPr/>
          <p:nvPr/>
        </p:nvSpPr>
        <p:spPr>
          <a:xfrm>
            <a:off x="6400800" y="5001768"/>
            <a:ext cx="5120640" cy="0"/>
          </a:xfrm>
          <a:prstGeom prst="line">
            <a:avLst/>
          </a:prstGeom>
          <a:noFill/>
          <a:ln w="9525">
            <a:solidFill>
              <a:srgbClr val="C9DDD2"/>
            </a:solidFill>
            <a:prstDash val="solid"/>
          </a:ln>
        </p:spPr>
      </p:sp>
      <p:sp>
        <p:nvSpPr>
          <p:cNvPr id="30" name="Text 28"/>
          <p:cNvSpPr txBox="1"/>
          <p:nvPr/>
        </p:nvSpPr>
        <p:spPr>
          <a:xfrm>
            <a:off x="6400800" y="5239512"/>
            <a:ext cx="640080" cy="502920"/>
          </a:xfrm>
          <a:prstGeom prst="rect">
            <a:avLst/>
          </a:prstGeom>
          <a:noFill/>
          <a:ln/>
        </p:spPr>
        <p:txBody>
          <a:bodyPr wrap="square" lIns="0" tIns="0" rIns="0" bIns="0" rtlCol="0" anchor="ctr"/>
          <a:lstStyle/>
          <a:p>
            <a:pPr indent="0" marL="0">
              <a:buNone/>
            </a:pPr>
            <a:r>
              <a:rPr lang="en-US" sz="1500" b="1" dirty="0">
                <a:solidFill>
                  <a:srgbClr val="0B5A3C"/>
                </a:solidFill>
                <a:latin typeface="Arial" pitchFamily="34" charset="0"/>
                <a:ea typeface="Arial" pitchFamily="34" charset="-122"/>
                <a:cs typeface="Arial" pitchFamily="34" charset="-120"/>
              </a:rPr>
              <a:t>10</a:t>
            </a:r>
            <a:endParaRPr lang="en-US" sz="1500" dirty="0"/>
          </a:p>
        </p:txBody>
      </p:sp>
      <p:sp>
        <p:nvSpPr>
          <p:cNvPr id="31" name="Text 29"/>
          <p:cNvSpPr txBox="1"/>
          <p:nvPr/>
        </p:nvSpPr>
        <p:spPr>
          <a:xfrm>
            <a:off x="7132320" y="5239512"/>
            <a:ext cx="4389120" cy="502920"/>
          </a:xfrm>
          <a:prstGeom prst="rect">
            <a:avLst/>
          </a:prstGeom>
          <a:noFill/>
          <a:ln/>
        </p:spPr>
        <p:txBody>
          <a:bodyPr wrap="square" lIns="0" tIns="0" rIns="0" bIns="0" rtlCol="0" anchor="ctr"/>
          <a:lstStyle/>
          <a:p>
            <a:pPr indent="0" marL="0">
              <a:buNone/>
            </a:pPr>
            <a:r>
              <a:rPr lang="en-US" sz="1800" dirty="0">
                <a:solidFill>
                  <a:srgbClr val="111111"/>
                </a:solidFill>
                <a:latin typeface="Arial" pitchFamily="34" charset="0"/>
                <a:ea typeface="Arial" pitchFamily="34" charset="-122"/>
                <a:cs typeface="Arial" pitchFamily="34" charset="-120"/>
              </a:rPr>
              <a:t>Demo, limitations &amp; conclusion</a:t>
            </a:r>
            <a:endParaRPr lang="en-US" sz="1800" dirty="0"/>
          </a:p>
        </p:txBody>
      </p:sp>
      <p:sp>
        <p:nvSpPr>
          <p:cNvPr id="32" name="Shape 30"/>
          <p:cNvSpPr/>
          <p:nvPr/>
        </p:nvSpPr>
        <p:spPr>
          <a:xfrm>
            <a:off x="6400800" y="5843016"/>
            <a:ext cx="5120640" cy="0"/>
          </a:xfrm>
          <a:prstGeom prst="line">
            <a:avLst/>
          </a:prstGeom>
          <a:noFill/>
          <a:ln w="9525">
            <a:solidFill>
              <a:srgbClr val="C9DDD2"/>
            </a:solidFill>
            <a:prstDash val="solid"/>
          </a:ln>
        </p:spPr>
      </p:sp>
      <p:sp>
        <p:nvSpPr>
          <p:cNvPr id="34"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Problem &amp; Motivation</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Image classification: one cropped traffic sign in, one of 26 classes out</a:t>
            </a:r>
            <a:endParaRPr lang="en-US" sz="1400" dirty="0"/>
          </a:p>
        </p:txBody>
      </p:sp>
      <p:sp>
        <p:nvSpPr>
          <p:cNvPr id="4" name="Text 2"/>
          <p:cNvSpPr txBox="1"/>
          <p:nvPr/>
        </p:nvSpPr>
        <p:spPr>
          <a:xfrm>
            <a:off x="457200" y="2011680"/>
            <a:ext cx="6035040" cy="347472"/>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Task definition</a:t>
            </a:r>
            <a:endParaRPr lang="en-US" sz="1600" dirty="0"/>
          </a:p>
        </p:txBody>
      </p:sp>
      <p:sp>
        <p:nvSpPr>
          <p:cNvPr id="5" name="Text 3"/>
          <p:cNvSpPr txBox="1"/>
          <p:nvPr/>
        </p:nvSpPr>
        <p:spPr>
          <a:xfrm>
            <a:off x="457200" y="2395728"/>
            <a:ext cx="6035040" cy="1737360"/>
          </a:xfrm>
          <a:prstGeom prst="rect">
            <a:avLst/>
          </a:prstGeom>
          <a:noFill/>
          <a:ln/>
        </p:spPr>
        <p:txBody>
          <a:bodyPr wrap="square" lIns="635" tIns="635" rIns="635" bIns="635" rtlCol="0" anchor="t"/>
          <a:lstStyle/>
          <a:p>
            <a:pPr marL="342900" indent="-342900">
              <a:spcAft>
                <a:spcPts val="800"/>
              </a:spcAft>
              <a:buSzPct val="100000"/>
              <a:buChar char="•"/>
            </a:pPr>
            <a:r>
              <a:rPr lang="en-US" sz="1500" b="1" dirty="0">
                <a:solidFill>
                  <a:srgbClr val="111111"/>
                </a:solidFill>
                <a:latin typeface="Arial" pitchFamily="34" charset="0"/>
                <a:ea typeface="Arial" pitchFamily="34" charset="-122"/>
                <a:cs typeface="Arial" pitchFamily="34" charset="-120"/>
              </a:rPr>
              <a:t>Input: </a:t>
            </a:r>
            <a:pPr indent="0" marL="0">
              <a:spcAft>
                <a:spcPts val="800"/>
              </a:spcAft>
              <a:buNone/>
            </a:pPr>
            <a:r>
              <a:rPr lang="en-US" sz="1500" dirty="0">
                <a:solidFill>
                  <a:srgbClr val="111111"/>
                </a:solidFill>
                <a:latin typeface="Arial" pitchFamily="34" charset="0"/>
                <a:ea typeface="Arial" pitchFamily="34" charset="-122"/>
                <a:cs typeface="Arial" pitchFamily="34" charset="-120"/>
              </a:rPr>
              <a:t>an RGB image of one traffic sign, cropped from a street photo and resized to 224 × 224</a:t>
            </a:r>
            <a:endParaRPr lang="en-US" sz="1500" dirty="0"/>
          </a:p>
          <a:p>
            <a:pPr marL="342900" indent="-342900">
              <a:spcAft>
                <a:spcPts val="800"/>
              </a:spcAft>
              <a:buSzPct val="100000"/>
              <a:buChar char="•"/>
            </a:pPr>
            <a:r>
              <a:rPr lang="en-US" sz="1500" b="1" dirty="0">
                <a:solidFill>
                  <a:srgbClr val="111111"/>
                </a:solidFill>
                <a:latin typeface="Arial" pitchFamily="34" charset="0"/>
                <a:ea typeface="Arial" pitchFamily="34" charset="-122"/>
                <a:cs typeface="Arial" pitchFamily="34" charset="-120"/>
              </a:rPr>
              <a:t>Output: </a:t>
            </a:r>
            <a:pPr indent="0" marL="0">
              <a:spcAft>
                <a:spcPts val="800"/>
              </a:spcAft>
              <a:buNone/>
            </a:pPr>
            <a:r>
              <a:rPr lang="en-US" sz="1500" dirty="0">
                <a:solidFill>
                  <a:srgbClr val="111111"/>
                </a:solidFill>
                <a:latin typeface="Arial" pitchFamily="34" charset="0"/>
                <a:ea typeface="Arial" pitchFamily="34" charset="-122"/>
                <a:cs typeface="Arial" pitchFamily="34" charset="-120"/>
              </a:rPr>
              <a:t>one of 26 Cambodian sign classes</a:t>
            </a:r>
            <a:endParaRPr lang="en-US" sz="1500" dirty="0"/>
          </a:p>
          <a:p>
            <a:pPr marL="342900" indent="-342900">
              <a:spcAft>
                <a:spcPts val="800"/>
              </a:spcAft>
              <a:buSzPct val="100000"/>
              <a:buChar char="•"/>
            </a:pPr>
            <a:r>
              <a:rPr lang="en-US" sz="1500" b="1" dirty="0">
                <a:solidFill>
                  <a:srgbClr val="111111"/>
                </a:solidFill>
                <a:latin typeface="Arial" pitchFamily="34" charset="0"/>
                <a:ea typeface="Arial" pitchFamily="34" charset="-122"/>
                <a:cs typeface="Arial" pitchFamily="34" charset="-120"/>
              </a:rPr>
              <a:t>Problem type: </a:t>
            </a:r>
            <a:pPr indent="0" marL="0">
              <a:spcAft>
                <a:spcPts val="800"/>
              </a:spcAft>
              <a:buNone/>
            </a:pPr>
            <a:r>
              <a:rPr lang="en-US" sz="1500" dirty="0">
                <a:solidFill>
                  <a:srgbClr val="111111"/>
                </a:solidFill>
                <a:latin typeface="Arial" pitchFamily="34" charset="0"/>
                <a:ea typeface="Arial" pitchFamily="34" charset="-122"/>
                <a:cs typeface="Arial" pitchFamily="34" charset="-120"/>
              </a:rPr>
              <a:t>supervised multi-class image classification</a:t>
            </a:r>
            <a:endParaRPr lang="en-US" sz="1500" dirty="0"/>
          </a:p>
        </p:txBody>
      </p:sp>
      <p:sp>
        <p:nvSpPr>
          <p:cNvPr id="6" name="Text 4"/>
          <p:cNvSpPr txBox="1"/>
          <p:nvPr/>
        </p:nvSpPr>
        <p:spPr>
          <a:xfrm>
            <a:off x="457200" y="4114800"/>
            <a:ext cx="6035040" cy="347472"/>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Why it is interesting</a:t>
            </a:r>
            <a:endParaRPr lang="en-US" sz="1600" dirty="0"/>
          </a:p>
        </p:txBody>
      </p:sp>
      <p:sp>
        <p:nvSpPr>
          <p:cNvPr id="7" name="Text 5"/>
          <p:cNvSpPr txBox="1"/>
          <p:nvPr/>
        </p:nvSpPr>
        <p:spPr>
          <a:xfrm>
            <a:off x="457200" y="4498848"/>
            <a:ext cx="6035040" cy="178308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111111"/>
                </a:solidFill>
                <a:latin typeface="Arial" pitchFamily="34" charset="0"/>
                <a:ea typeface="Arial" pitchFamily="34" charset="-122"/>
                <a:cs typeface="Arial" pitchFamily="34" charset="-120"/>
              </a:rPr>
              <a:t>Traffic-sign recognition supports driver assistance and road-safety systems</a:t>
            </a:r>
            <a:endParaRPr lang="en-US" sz="1500" dirty="0"/>
          </a:p>
          <a:p>
            <a:pPr marL="342900" indent="-342900">
              <a:spcAft>
                <a:spcPts val="800"/>
              </a:spcAft>
              <a:buSzPct val="100000"/>
              <a:buChar char="•"/>
            </a:pPr>
            <a:r>
              <a:rPr lang="en-US" sz="1500" dirty="0">
                <a:solidFill>
                  <a:srgbClr val="111111"/>
                </a:solidFill>
                <a:latin typeface="Arial" pitchFamily="34" charset="0"/>
                <a:ea typeface="Arial" pitchFamily="34" charset="-122"/>
                <a:cs typeface="Arial" pitchFamily="34" charset="-120"/>
              </a:rPr>
              <a:t>Cambodian signs include country-specific classes, e.g. kilometre posts with Khmer text</a:t>
            </a:r>
            <a:endParaRPr lang="en-US" sz="1500" dirty="0"/>
          </a:p>
          <a:p>
            <a:pPr marL="342900" indent="-342900">
              <a:spcAft>
                <a:spcPts val="800"/>
              </a:spcAft>
              <a:buSzPct val="100000"/>
              <a:buChar char="•"/>
            </a:pPr>
            <a:r>
              <a:rPr lang="en-US" sz="1500" dirty="0">
                <a:solidFill>
                  <a:srgbClr val="111111"/>
                </a:solidFill>
                <a:latin typeface="Arial" pitchFamily="34" charset="0"/>
                <a:ea typeface="Arial" pitchFamily="34" charset="-122"/>
                <a:cs typeface="Arial" pitchFamily="34" charset="-120"/>
              </a:rPr>
              <a:t>Several look-alike signs (left vs. right bend, speed limits) and a small, imbalanced dataset</a:t>
            </a:r>
            <a:endParaRPr lang="en-US" sz="1500" dirty="0"/>
          </a:p>
        </p:txBody>
      </p:sp>
      <p:sp>
        <p:nvSpPr>
          <p:cNvPr id="8" name="io-card"/>
          <p:cNvSpPr/>
          <p:nvPr/>
        </p:nvSpPr>
        <p:spPr>
          <a:xfrm>
            <a:off x="6858000" y="2011680"/>
            <a:ext cx="4873752" cy="4206240"/>
          </a:xfrm>
          <a:prstGeom prst="roundRect">
            <a:avLst>
              <a:gd name="adj" fmla="val 1739"/>
            </a:avLst>
          </a:prstGeom>
          <a:solidFill>
            <a:srgbClr val="EEF5F1"/>
          </a:solidFill>
          <a:ln w="9525">
            <a:solidFill>
              <a:srgbClr val="EEF5F1"/>
            </a:solidFill>
            <a:prstDash val="solid"/>
          </a:ln>
        </p:spPr>
      </p:sp>
      <p:pic>
        <p:nvPicPr>
          <p:cNvPr id="9" name="input-image" descr="C:/Users/ASUS G 16 JVR/AppData/Local/Temp/claude/C--Users-ASUS-G-16-JVR-Desktop-deepLearning-CNN/ddb4b7a1-b5ad-4432-b312-271443ec143d/scratchpad/deck/assets/example_keep_right.png">    </p:cNvPr>
          <p:cNvPicPr>
            <a:picLocks noChangeAspect="1"/>
          </p:cNvPicPr>
          <p:nvPr/>
        </p:nvPicPr>
        <p:blipFill>
          <a:blip r:embed="rId1"/>
          <a:stretch>
            <a:fillRect/>
          </a:stretch>
        </p:blipFill>
        <p:spPr>
          <a:xfrm>
            <a:off x="7178040" y="2606040"/>
            <a:ext cx="1737360" cy="1737360"/>
          </a:xfrm>
          <a:prstGeom prst="rect">
            <a:avLst/>
          </a:prstGeom>
        </p:spPr>
      </p:pic>
      <p:sp>
        <p:nvSpPr>
          <p:cNvPr id="10" name="Text 7"/>
          <p:cNvSpPr txBox="1"/>
          <p:nvPr/>
        </p:nvSpPr>
        <p:spPr>
          <a:xfrm>
            <a:off x="7178040" y="4389120"/>
            <a:ext cx="1737360" cy="274320"/>
          </a:xfrm>
          <a:prstGeom prst="rect">
            <a:avLst/>
          </a:prstGeom>
          <a:noFill/>
          <a:ln/>
        </p:spPr>
        <p:txBody>
          <a:bodyPr wrap="square" lIns="0" tIns="0" rIns="0" bIns="0" rtlCol="0" anchor="t"/>
          <a:lstStyle/>
          <a:p>
            <a:pPr algn="ctr" indent="0" marL="0">
              <a:buNone/>
            </a:pPr>
            <a:r>
              <a:rPr lang="en-US" sz="1100" dirty="0">
                <a:solidFill>
                  <a:srgbClr val="555555"/>
                </a:solidFill>
                <a:latin typeface="Arial" pitchFamily="34" charset="0"/>
                <a:ea typeface="Arial" pitchFamily="34" charset="-122"/>
                <a:cs typeface="Arial" pitchFamily="34" charset="-120"/>
              </a:rPr>
              <a:t>Input crop</a:t>
            </a:r>
            <a:endParaRPr lang="en-US" sz="1100" dirty="0"/>
          </a:p>
        </p:txBody>
      </p:sp>
      <p:sp>
        <p:nvSpPr>
          <p:cNvPr id="11" name="Shape 8"/>
          <p:cNvSpPr/>
          <p:nvPr/>
        </p:nvSpPr>
        <p:spPr>
          <a:xfrm>
            <a:off x="9006840" y="3474720"/>
            <a:ext cx="502920" cy="0"/>
          </a:xfrm>
          <a:prstGeom prst="line">
            <a:avLst/>
          </a:prstGeom>
          <a:noFill/>
          <a:ln w="28575">
            <a:solidFill>
              <a:srgbClr val="0B5A3C"/>
            </a:solidFill>
            <a:prstDash val="solid"/>
            <a:tailEnd type="triangle"/>
          </a:ln>
        </p:spPr>
      </p:sp>
      <p:sp>
        <p:nvSpPr>
          <p:cNvPr id="12" name="Shape 9"/>
          <p:cNvSpPr/>
          <p:nvPr/>
        </p:nvSpPr>
        <p:spPr>
          <a:xfrm>
            <a:off x="9601200" y="3017520"/>
            <a:ext cx="1874520" cy="914400"/>
          </a:xfrm>
          <a:prstGeom prst="roundRect">
            <a:avLst>
              <a:gd name="adj" fmla="val 8000"/>
            </a:avLst>
          </a:prstGeom>
          <a:solidFill>
            <a:srgbClr val="0B5A3C"/>
          </a:solidFill>
          <a:ln w="12700">
            <a:solidFill>
              <a:srgbClr val="0B5A3C"/>
            </a:solidFill>
            <a:prstDash val="solid"/>
          </a:ln>
        </p:spPr>
      </p:sp>
      <p:sp>
        <p:nvSpPr>
          <p:cNvPr id="13" name="Text 10"/>
          <p:cNvSpPr txBox="1"/>
          <p:nvPr/>
        </p:nvSpPr>
        <p:spPr>
          <a:xfrm>
            <a:off x="9601200" y="3017520"/>
            <a:ext cx="1874520" cy="9144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CNN classifier</a:t>
            </a:r>
            <a:endParaRPr lang="en-US" sz="1400" dirty="0"/>
          </a:p>
        </p:txBody>
      </p:sp>
      <p:sp>
        <p:nvSpPr>
          <p:cNvPr id="14" name="Shape 11"/>
          <p:cNvSpPr/>
          <p:nvPr/>
        </p:nvSpPr>
        <p:spPr>
          <a:xfrm>
            <a:off x="10538460" y="3977640"/>
            <a:ext cx="0" cy="548640"/>
          </a:xfrm>
          <a:prstGeom prst="line">
            <a:avLst/>
          </a:prstGeom>
          <a:noFill/>
          <a:ln w="28575">
            <a:solidFill>
              <a:srgbClr val="0B5A3C"/>
            </a:solidFill>
            <a:prstDash val="solid"/>
            <a:tailEnd type="triangle"/>
          </a:ln>
        </p:spPr>
      </p:sp>
      <p:sp>
        <p:nvSpPr>
          <p:cNvPr id="15" name="Shape 12"/>
          <p:cNvSpPr/>
          <p:nvPr/>
        </p:nvSpPr>
        <p:spPr>
          <a:xfrm>
            <a:off x="9189720" y="4617720"/>
            <a:ext cx="2697480" cy="685800"/>
          </a:xfrm>
          <a:prstGeom prst="roundRect">
            <a:avLst>
              <a:gd name="adj" fmla="val 10667"/>
            </a:avLst>
          </a:prstGeom>
          <a:solidFill>
            <a:srgbClr val="FFFFFF"/>
          </a:solidFill>
          <a:ln w="15875">
            <a:solidFill>
              <a:srgbClr val="0B5A3C"/>
            </a:solidFill>
            <a:prstDash val="solid"/>
          </a:ln>
        </p:spPr>
      </p:sp>
      <p:sp>
        <p:nvSpPr>
          <p:cNvPr id="16" name="Text 13"/>
          <p:cNvSpPr txBox="1"/>
          <p:nvPr/>
        </p:nvSpPr>
        <p:spPr>
          <a:xfrm>
            <a:off x="9189720" y="4617720"/>
            <a:ext cx="2697480" cy="685800"/>
          </a:xfrm>
          <a:prstGeom prst="rect">
            <a:avLst/>
          </a:prstGeom>
          <a:noFill/>
          <a:ln/>
        </p:spPr>
        <p:txBody>
          <a:bodyPr wrap="square" lIns="0" tIns="0" rIns="0" bIns="0" rtlCol="0" anchor="ctr"/>
          <a:lstStyle/>
          <a:p>
            <a:pPr algn="ctr" indent="0" marL="0">
              <a:buNone/>
            </a:pPr>
            <a:r>
              <a:rPr lang="en-US" sz="1600" b="1" dirty="0">
                <a:solidFill>
                  <a:srgbClr val="0B5A3C"/>
                </a:solidFill>
                <a:latin typeface="Arial" pitchFamily="34" charset="0"/>
                <a:ea typeface="Arial" pitchFamily="34" charset="-122"/>
                <a:cs typeface="Arial" pitchFamily="34" charset="-120"/>
              </a:rPr>
              <a:t>KEEP_RIGHT</a:t>
            </a:r>
            <a:endParaRPr lang="en-US" sz="1600" dirty="0"/>
          </a:p>
        </p:txBody>
      </p:sp>
      <p:sp>
        <p:nvSpPr>
          <p:cNvPr id="17" name="Text 14"/>
          <p:cNvSpPr txBox="1"/>
          <p:nvPr/>
        </p:nvSpPr>
        <p:spPr>
          <a:xfrm>
            <a:off x="9189720" y="5376672"/>
            <a:ext cx="2697480" cy="274320"/>
          </a:xfrm>
          <a:prstGeom prst="rect">
            <a:avLst/>
          </a:prstGeom>
          <a:noFill/>
          <a:ln/>
        </p:spPr>
        <p:txBody>
          <a:bodyPr wrap="square" lIns="0" tIns="0" rIns="0" bIns="0" rtlCol="0" anchor="t"/>
          <a:lstStyle/>
          <a:p>
            <a:pPr algn="ctr" indent="0" marL="0">
              <a:buNone/>
            </a:pPr>
            <a:r>
              <a:rPr lang="en-US" sz="1100" dirty="0">
                <a:solidFill>
                  <a:srgbClr val="555555"/>
                </a:solidFill>
                <a:latin typeface="Arial" pitchFamily="34" charset="0"/>
                <a:ea typeface="Arial" pitchFamily="34" charset="-122"/>
                <a:cs typeface="Arial" pitchFamily="34" charset="-120"/>
              </a:rPr>
              <a:t>Predicted class (1 of 26)</a:t>
            </a:r>
            <a:endParaRPr lang="en-US" sz="11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Dataset</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Cambodia Traffic Signs Dataset (Kaggle, Sophal Ratitya) · License: Apache 2.0</a:t>
            </a:r>
            <a:endParaRPr lang="en-US" sz="1400" dirty="0"/>
          </a:p>
        </p:txBody>
      </p:sp>
      <p:sp>
        <p:nvSpPr>
          <p:cNvPr id="4" name="Text 2"/>
          <p:cNvSpPr txBox="1"/>
          <p:nvPr/>
        </p:nvSpPr>
        <p:spPr>
          <a:xfrm>
            <a:off x="457200" y="1965960"/>
            <a:ext cx="1600200" cy="640080"/>
          </a:xfrm>
          <a:prstGeom prst="rect">
            <a:avLst/>
          </a:prstGeom>
          <a:noFill/>
          <a:ln/>
        </p:spPr>
        <p:txBody>
          <a:bodyPr wrap="square" lIns="0" tIns="0" rIns="0" bIns="0" rtlCol="0" anchor="b"/>
          <a:lstStyle/>
          <a:p>
            <a:pPr algn="ctr" indent="0" marL="0">
              <a:buNone/>
            </a:pPr>
            <a:r>
              <a:rPr lang="en-US" sz="3400" b="1" dirty="0">
                <a:solidFill>
                  <a:srgbClr val="0B5A3C"/>
                </a:solidFill>
                <a:latin typeface="Arial" pitchFamily="34" charset="0"/>
                <a:ea typeface="Arial" pitchFamily="34" charset="-122"/>
                <a:cs typeface="Arial" pitchFamily="34" charset="-120"/>
              </a:rPr>
              <a:t>2,766</a:t>
            </a:r>
            <a:endParaRPr lang="en-US" sz="3400" dirty="0"/>
          </a:p>
        </p:txBody>
      </p:sp>
      <p:sp>
        <p:nvSpPr>
          <p:cNvPr id="5" name="Text 3"/>
          <p:cNvSpPr txBox="1"/>
          <p:nvPr/>
        </p:nvSpPr>
        <p:spPr>
          <a:xfrm>
            <a:off x="457200" y="2624328"/>
            <a:ext cx="160020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street-scene photos</a:t>
            </a:r>
            <a:endParaRPr lang="en-US" sz="1200" dirty="0"/>
          </a:p>
        </p:txBody>
      </p:sp>
      <p:sp>
        <p:nvSpPr>
          <p:cNvPr id="6" name="Text 4"/>
          <p:cNvSpPr txBox="1"/>
          <p:nvPr/>
        </p:nvSpPr>
        <p:spPr>
          <a:xfrm>
            <a:off x="2148840" y="1965960"/>
            <a:ext cx="1600200" cy="640080"/>
          </a:xfrm>
          <a:prstGeom prst="rect">
            <a:avLst/>
          </a:prstGeom>
          <a:noFill/>
          <a:ln/>
        </p:spPr>
        <p:txBody>
          <a:bodyPr wrap="square" lIns="0" tIns="0" rIns="0" bIns="0" rtlCol="0" anchor="b"/>
          <a:lstStyle/>
          <a:p>
            <a:pPr algn="ctr" indent="0" marL="0">
              <a:buNone/>
            </a:pPr>
            <a:r>
              <a:rPr lang="en-US" sz="3400" b="1" dirty="0">
                <a:solidFill>
                  <a:srgbClr val="0B5A3C"/>
                </a:solidFill>
                <a:latin typeface="Arial" pitchFamily="34" charset="0"/>
                <a:ea typeface="Arial" pitchFamily="34" charset="-122"/>
                <a:cs typeface="Arial" pitchFamily="34" charset="-120"/>
              </a:rPr>
              <a:t>3,490</a:t>
            </a:r>
            <a:endParaRPr lang="en-US" sz="3400" dirty="0"/>
          </a:p>
        </p:txBody>
      </p:sp>
      <p:sp>
        <p:nvSpPr>
          <p:cNvPr id="7" name="Text 5"/>
          <p:cNvSpPr txBox="1"/>
          <p:nvPr/>
        </p:nvSpPr>
        <p:spPr>
          <a:xfrm>
            <a:off x="2148840" y="2624328"/>
            <a:ext cx="160020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annotated signs</a:t>
            </a:r>
            <a:endParaRPr lang="en-US" sz="1200" dirty="0"/>
          </a:p>
        </p:txBody>
      </p:sp>
      <p:sp>
        <p:nvSpPr>
          <p:cNvPr id="8" name="Text 6"/>
          <p:cNvSpPr txBox="1"/>
          <p:nvPr/>
        </p:nvSpPr>
        <p:spPr>
          <a:xfrm>
            <a:off x="3840480" y="1965960"/>
            <a:ext cx="1783080" cy="640080"/>
          </a:xfrm>
          <a:prstGeom prst="rect">
            <a:avLst/>
          </a:prstGeom>
          <a:noFill/>
          <a:ln/>
        </p:spPr>
        <p:txBody>
          <a:bodyPr wrap="square" lIns="0" tIns="0" rIns="0" bIns="0" rtlCol="0" anchor="b"/>
          <a:lstStyle/>
          <a:p>
            <a:pPr algn="ctr" indent="0" marL="0">
              <a:buNone/>
            </a:pPr>
            <a:r>
              <a:rPr lang="en-US" sz="3400" b="1" dirty="0">
                <a:solidFill>
                  <a:srgbClr val="0B5A3C"/>
                </a:solidFill>
                <a:latin typeface="Arial" pitchFamily="34" charset="0"/>
                <a:ea typeface="Arial" pitchFamily="34" charset="-122"/>
                <a:cs typeface="Arial" pitchFamily="34" charset="-120"/>
              </a:rPr>
              <a:t>3,070</a:t>
            </a:r>
            <a:endParaRPr lang="en-US" sz="3400" dirty="0"/>
          </a:p>
        </p:txBody>
      </p:sp>
      <p:sp>
        <p:nvSpPr>
          <p:cNvPr id="9" name="Text 7"/>
          <p:cNvSpPr txBox="1"/>
          <p:nvPr/>
        </p:nvSpPr>
        <p:spPr>
          <a:xfrm>
            <a:off x="3840480" y="2624328"/>
            <a:ext cx="178308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crops used (26 classes)</a:t>
            </a:r>
            <a:endParaRPr lang="en-US" sz="1200" dirty="0"/>
          </a:p>
        </p:txBody>
      </p:sp>
      <p:sp>
        <p:nvSpPr>
          <p:cNvPr id="10" name="Text 8"/>
          <p:cNvSpPr txBox="1"/>
          <p:nvPr/>
        </p:nvSpPr>
        <p:spPr>
          <a:xfrm>
            <a:off x="457200" y="3429000"/>
            <a:ext cx="5852160" cy="347472"/>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From raw annotations to classification crops</a:t>
            </a:r>
            <a:endParaRPr lang="en-US" sz="1600" dirty="0"/>
          </a:p>
        </p:txBody>
      </p:sp>
      <p:sp>
        <p:nvSpPr>
          <p:cNvPr id="11" name="Text 9"/>
          <p:cNvSpPr txBox="1"/>
          <p:nvPr/>
        </p:nvSpPr>
        <p:spPr>
          <a:xfrm>
            <a:off x="457200" y="3813048"/>
            <a:ext cx="5852160" cy="246888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111111"/>
                </a:solidFill>
                <a:latin typeface="Arial" pitchFamily="34" charset="0"/>
                <a:ea typeface="Arial" pitchFamily="34" charset="-122"/>
                <a:cs typeface="Arial" pitchFamily="34" charset="-120"/>
              </a:rPr>
              <a:t>Bounding boxes cropped from each photo (VIA JSON annotations)</a:t>
            </a:r>
            <a:endParaRPr lang="en-US" sz="1500" dirty="0"/>
          </a:p>
          <a:p>
            <a:pPr marL="342900" indent="-342900">
              <a:spcAft>
                <a:spcPts val="800"/>
              </a:spcAft>
              <a:buSzPct val="100000"/>
              <a:buChar char="•"/>
            </a:pPr>
            <a:r>
              <a:rPr lang="en-US" sz="1500" dirty="0">
                <a:solidFill>
                  <a:srgbClr val="111111"/>
                </a:solidFill>
                <a:latin typeface="Arial" pitchFamily="34" charset="0"/>
                <a:ea typeface="Arial" pitchFamily="34" charset="-122"/>
                <a:cs typeface="Arial" pitchFamily="34" charset="-120"/>
              </a:rPr>
              <a:t>Only the 26 target classes kept; 117 UNDEFINED annotations excluded</a:t>
            </a:r>
            <a:endParaRPr lang="en-US" sz="1500" dirty="0"/>
          </a:p>
          <a:p>
            <a:pPr marL="342900" indent="-342900">
              <a:spcAft>
                <a:spcPts val="800"/>
              </a:spcAft>
              <a:buSzPct val="100000"/>
              <a:buChar char="•"/>
            </a:pPr>
            <a:r>
              <a:rPr lang="en-US" sz="1500" b="1" dirty="0">
                <a:solidFill>
                  <a:srgbClr val="111111"/>
                </a:solidFill>
                <a:latin typeface="Arial" pitchFamily="34" charset="0"/>
                <a:ea typeface="Arial" pitchFamily="34" charset="-122"/>
                <a:cs typeface="Arial" pitchFamily="34" charset="-120"/>
              </a:rPr>
              <a:t>Strong class imbalance: </a:t>
            </a:r>
            <a:pPr indent="0" marL="0">
              <a:spcAft>
                <a:spcPts val="800"/>
              </a:spcAft>
              <a:buNone/>
            </a:pPr>
            <a:r>
              <a:rPr lang="en-US" sz="1500" dirty="0">
                <a:solidFill>
                  <a:srgbClr val="111111"/>
                </a:solidFill>
                <a:latin typeface="Arial" pitchFamily="34" charset="0"/>
                <a:ea typeface="Arial" pitchFamily="34" charset="-122"/>
                <a:cs typeface="Arial" pitchFamily="34" charset="-120"/>
              </a:rPr>
              <a:t>738 crops (KM_POST) down to 29 (CARRIAGE_WAY_NARROWS)</a:t>
            </a:r>
            <a:endParaRPr lang="en-US" sz="1500" dirty="0"/>
          </a:p>
          <a:p>
            <a:pPr marL="342900" indent="-342900">
              <a:spcAft>
                <a:spcPts val="800"/>
              </a:spcAft>
              <a:buSzPct val="100000"/>
              <a:buChar char="•"/>
            </a:pPr>
            <a:r>
              <a:rPr lang="en-US" sz="1500" dirty="0">
                <a:solidFill>
                  <a:srgbClr val="111111"/>
                </a:solidFill>
                <a:latin typeface="Arial" pitchFamily="34" charset="0"/>
                <a:ea typeface="Arial" pitchFamily="34" charset="-122"/>
                <a:cs typeface="Arial" pitchFamily="34" charset="-120"/>
              </a:rPr>
              <a:t>Macro F1 is therefore reported next to accuracy</a:t>
            </a:r>
            <a:endParaRPr lang="en-US" sz="1500" dirty="0"/>
          </a:p>
        </p:txBody>
      </p:sp>
      <p:pic>
        <p:nvPicPr>
          <p:cNvPr id="12" name="class-distribution" descr="C:/Users/ASUS G 16 JVR/AppData/Local/Temp/claude/C--Users-ASUS-G-16-JVR-Desktop-deepLearning-CNN/ddb4b7a1-b5ad-4432-b312-271443ec143d/scratchpad/deck/assets/class_distribution.png">    </p:cNvPr>
          <p:cNvPicPr>
            <a:picLocks noChangeAspect="1"/>
          </p:cNvPicPr>
          <p:nvPr/>
        </p:nvPicPr>
        <p:blipFill>
          <a:blip r:embed="rId1"/>
          <a:stretch>
            <a:fillRect/>
          </a:stretch>
        </p:blipFill>
        <p:spPr>
          <a:xfrm>
            <a:off x="6993775" y="1920240"/>
            <a:ext cx="4300451" cy="4434840"/>
          </a:xfrm>
          <a:prstGeom prst="rect">
            <a:avLst/>
          </a:prstGeom>
        </p:spPr>
      </p:pic>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Leak-Free Train / Validation / Test Split</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Split by source photo before cropping, so no photo appears in two splits</a:t>
            </a:r>
            <a:endParaRPr lang="en-US" sz="1400" dirty="0"/>
          </a:p>
        </p:txBody>
      </p:sp>
      <p:sp>
        <p:nvSpPr>
          <p:cNvPr id="4" name="problem-card"/>
          <p:cNvSpPr/>
          <p:nvPr/>
        </p:nvSpPr>
        <p:spPr>
          <a:xfrm>
            <a:off x="457200" y="2057400"/>
            <a:ext cx="3291840" cy="2194560"/>
          </a:xfrm>
          <a:prstGeom prst="roundRect">
            <a:avLst>
              <a:gd name="adj" fmla="val 3333"/>
            </a:avLst>
          </a:prstGeom>
          <a:solidFill>
            <a:srgbClr val="EEF5F1"/>
          </a:solidFill>
          <a:ln w="9525">
            <a:solidFill>
              <a:srgbClr val="EEF5F1"/>
            </a:solidFill>
            <a:prstDash val="solid"/>
          </a:ln>
        </p:spPr>
      </p:sp>
      <p:sp>
        <p:nvSpPr>
          <p:cNvPr id="5" name="Text 3"/>
          <p:cNvSpPr txBox="1"/>
          <p:nvPr/>
        </p:nvSpPr>
        <p:spPr>
          <a:xfrm>
            <a:off x="685800" y="2194560"/>
            <a:ext cx="2926080" cy="347472"/>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Why it matters</a:t>
            </a:r>
            <a:endParaRPr lang="en-US" sz="1600" dirty="0"/>
          </a:p>
        </p:txBody>
      </p:sp>
      <p:sp>
        <p:nvSpPr>
          <p:cNvPr id="6" name="Text 4"/>
          <p:cNvSpPr txBox="1"/>
          <p:nvPr/>
        </p:nvSpPr>
        <p:spPr>
          <a:xfrm>
            <a:off x="685800" y="2606040"/>
            <a:ext cx="2926080" cy="1600200"/>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627 raw photos contain several signs. A random split of crops could put signs from the same photo (same light, camera, background) into both training and test data, which inflates test scores.</a:t>
            </a:r>
            <a:endParaRPr lang="en-US" sz="1300" dirty="0"/>
          </a:p>
        </p:txBody>
      </p:sp>
      <p:sp>
        <p:nvSpPr>
          <p:cNvPr id="7" name="Shape 5"/>
          <p:cNvSpPr/>
          <p:nvPr/>
        </p:nvSpPr>
        <p:spPr>
          <a:xfrm>
            <a:off x="4160520" y="2697480"/>
            <a:ext cx="2286000" cy="914400"/>
          </a:xfrm>
          <a:prstGeom prst="roundRect">
            <a:avLst>
              <a:gd name="adj" fmla="val 8000"/>
            </a:avLst>
          </a:prstGeom>
          <a:solidFill>
            <a:srgbClr val="0B5A3C"/>
          </a:solidFill>
          <a:ln w="12700">
            <a:solidFill>
              <a:srgbClr val="0B5A3C"/>
            </a:solidFill>
            <a:prstDash val="solid"/>
          </a:ln>
        </p:spPr>
      </p:sp>
      <p:sp>
        <p:nvSpPr>
          <p:cNvPr id="8" name="Text 6"/>
          <p:cNvSpPr txBox="1"/>
          <p:nvPr/>
        </p:nvSpPr>
        <p:spPr>
          <a:xfrm>
            <a:off x="4160520" y="2697480"/>
            <a:ext cx="228600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2,523 source photos</a:t>
            </a:r>
            <a:endParaRPr lang="en-US" sz="1300" dirty="0"/>
          </a:p>
          <a:p>
            <a:pPr algn="ctr" indent="0" marL="0">
              <a:buNone/>
            </a:pPr>
            <a:r>
              <a:rPr lang="en-US" sz="1300" dirty="0">
                <a:solidFill>
                  <a:srgbClr val="FFFFFF"/>
                </a:solidFill>
                <a:latin typeface="Arial" pitchFamily="34" charset="0"/>
                <a:ea typeface="Arial" pitchFamily="34" charset="-122"/>
                <a:cs typeface="Arial" pitchFamily="34" charset="-120"/>
              </a:rPr>
              <a:t>split 70 / 15 / 15, seed 42</a:t>
            </a:r>
            <a:endParaRPr lang="en-US" sz="1300" dirty="0"/>
          </a:p>
        </p:txBody>
      </p:sp>
      <p:sp>
        <p:nvSpPr>
          <p:cNvPr id="9" name="Shape 7"/>
          <p:cNvSpPr/>
          <p:nvPr/>
        </p:nvSpPr>
        <p:spPr>
          <a:xfrm flipV="1">
            <a:off x="6492240" y="2377440"/>
            <a:ext cx="777240" cy="777240"/>
          </a:xfrm>
          <a:prstGeom prst="line">
            <a:avLst/>
          </a:prstGeom>
          <a:noFill/>
          <a:ln w="19050">
            <a:solidFill>
              <a:srgbClr val="0B5A3C"/>
            </a:solidFill>
            <a:prstDash val="solid"/>
            <a:tailEnd type="triangle"/>
          </a:ln>
        </p:spPr>
      </p:sp>
      <p:sp>
        <p:nvSpPr>
          <p:cNvPr id="10" name="Shape 8"/>
          <p:cNvSpPr/>
          <p:nvPr/>
        </p:nvSpPr>
        <p:spPr>
          <a:xfrm>
            <a:off x="7315200" y="2057400"/>
            <a:ext cx="4416552" cy="640080"/>
          </a:xfrm>
          <a:prstGeom prst="roundRect">
            <a:avLst>
              <a:gd name="adj" fmla="val 11429"/>
            </a:avLst>
          </a:prstGeom>
          <a:solidFill>
            <a:srgbClr val="EEF5F1"/>
          </a:solidFill>
          <a:ln w="12700">
            <a:solidFill>
              <a:srgbClr val="C9DDD2"/>
            </a:solidFill>
            <a:prstDash val="solid"/>
          </a:ln>
        </p:spPr>
      </p:sp>
      <p:sp>
        <p:nvSpPr>
          <p:cNvPr id="11" name="Text 9"/>
          <p:cNvSpPr txBox="1"/>
          <p:nvPr/>
        </p:nvSpPr>
        <p:spPr>
          <a:xfrm>
            <a:off x="7498080" y="2057400"/>
            <a:ext cx="4114800" cy="64008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Train:  </a:t>
            </a:r>
            <a:pPr indent="0" marL="0">
              <a:buNone/>
            </a:pPr>
            <a:r>
              <a:rPr lang="en-US" sz="1500" dirty="0">
                <a:solidFill>
                  <a:srgbClr val="111111"/>
                </a:solidFill>
                <a:latin typeface="Arial" pitchFamily="34" charset="0"/>
                <a:ea typeface="Arial" pitchFamily="34" charset="-122"/>
                <a:cs typeface="Arial" pitchFamily="34" charset="-120"/>
              </a:rPr>
              <a:t>2,153 crops  ·  1,766 photos</a:t>
            </a:r>
            <a:endParaRPr lang="en-US" sz="1500" dirty="0"/>
          </a:p>
        </p:txBody>
      </p:sp>
      <p:sp>
        <p:nvSpPr>
          <p:cNvPr id="12" name="Shape 10"/>
          <p:cNvSpPr/>
          <p:nvPr/>
        </p:nvSpPr>
        <p:spPr>
          <a:xfrm>
            <a:off x="6492240" y="3154680"/>
            <a:ext cx="777240" cy="0"/>
          </a:xfrm>
          <a:prstGeom prst="line">
            <a:avLst/>
          </a:prstGeom>
          <a:noFill/>
          <a:ln w="19050">
            <a:solidFill>
              <a:srgbClr val="0B5A3C"/>
            </a:solidFill>
            <a:prstDash val="solid"/>
            <a:tailEnd type="triangle"/>
          </a:ln>
        </p:spPr>
      </p:sp>
      <p:sp>
        <p:nvSpPr>
          <p:cNvPr id="13" name="Shape 11"/>
          <p:cNvSpPr/>
          <p:nvPr/>
        </p:nvSpPr>
        <p:spPr>
          <a:xfrm>
            <a:off x="7315200" y="2834640"/>
            <a:ext cx="4416552" cy="640080"/>
          </a:xfrm>
          <a:prstGeom prst="roundRect">
            <a:avLst>
              <a:gd name="adj" fmla="val 11429"/>
            </a:avLst>
          </a:prstGeom>
          <a:solidFill>
            <a:srgbClr val="EEF5F1"/>
          </a:solidFill>
          <a:ln w="12700">
            <a:solidFill>
              <a:srgbClr val="C9DDD2"/>
            </a:solidFill>
            <a:prstDash val="solid"/>
          </a:ln>
        </p:spPr>
      </p:sp>
      <p:sp>
        <p:nvSpPr>
          <p:cNvPr id="14" name="Text 12"/>
          <p:cNvSpPr txBox="1"/>
          <p:nvPr/>
        </p:nvSpPr>
        <p:spPr>
          <a:xfrm>
            <a:off x="7498080" y="2834640"/>
            <a:ext cx="4114800" cy="64008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Validation:  </a:t>
            </a:r>
            <a:pPr indent="0" marL="0">
              <a:buNone/>
            </a:pPr>
            <a:r>
              <a:rPr lang="en-US" sz="1500" dirty="0">
                <a:solidFill>
                  <a:srgbClr val="111111"/>
                </a:solidFill>
                <a:latin typeface="Arial" pitchFamily="34" charset="0"/>
                <a:ea typeface="Arial" pitchFamily="34" charset="-122"/>
                <a:cs typeface="Arial" pitchFamily="34" charset="-120"/>
              </a:rPr>
              <a:t>454 crops  ·  378 photos</a:t>
            </a:r>
            <a:endParaRPr lang="en-US" sz="1500" dirty="0"/>
          </a:p>
        </p:txBody>
      </p:sp>
      <p:sp>
        <p:nvSpPr>
          <p:cNvPr id="15" name="Shape 13"/>
          <p:cNvSpPr/>
          <p:nvPr/>
        </p:nvSpPr>
        <p:spPr>
          <a:xfrm>
            <a:off x="6492240" y="3154680"/>
            <a:ext cx="777240" cy="777240"/>
          </a:xfrm>
          <a:prstGeom prst="line">
            <a:avLst/>
          </a:prstGeom>
          <a:noFill/>
          <a:ln w="19050">
            <a:solidFill>
              <a:srgbClr val="0B5A3C"/>
            </a:solidFill>
            <a:prstDash val="solid"/>
            <a:tailEnd type="triangle"/>
          </a:ln>
        </p:spPr>
      </p:sp>
      <p:sp>
        <p:nvSpPr>
          <p:cNvPr id="16" name="Shape 14"/>
          <p:cNvSpPr/>
          <p:nvPr/>
        </p:nvSpPr>
        <p:spPr>
          <a:xfrm>
            <a:off x="7315200" y="3611880"/>
            <a:ext cx="4416552" cy="640080"/>
          </a:xfrm>
          <a:prstGeom prst="roundRect">
            <a:avLst>
              <a:gd name="adj" fmla="val 11429"/>
            </a:avLst>
          </a:prstGeom>
          <a:solidFill>
            <a:srgbClr val="FBEDE5"/>
          </a:solidFill>
          <a:ln w="12700">
            <a:solidFill>
              <a:srgbClr val="DD8452"/>
            </a:solidFill>
            <a:prstDash val="solid"/>
          </a:ln>
        </p:spPr>
      </p:sp>
      <p:sp>
        <p:nvSpPr>
          <p:cNvPr id="17" name="Text 15"/>
          <p:cNvSpPr txBox="1"/>
          <p:nvPr/>
        </p:nvSpPr>
        <p:spPr>
          <a:xfrm>
            <a:off x="7498080" y="3611880"/>
            <a:ext cx="4114800" cy="64008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Test:  </a:t>
            </a:r>
            <a:pPr indent="0" marL="0">
              <a:buNone/>
            </a:pPr>
            <a:r>
              <a:rPr lang="en-US" sz="1500" dirty="0">
                <a:solidFill>
                  <a:srgbClr val="111111"/>
                </a:solidFill>
                <a:latin typeface="Arial" pitchFamily="34" charset="0"/>
                <a:ea typeface="Arial" pitchFamily="34" charset="-122"/>
                <a:cs typeface="Arial" pitchFamily="34" charset="-120"/>
              </a:rPr>
              <a:t>463 crops  ·  379 photos</a:t>
            </a:r>
            <a:endParaRPr lang="en-US" sz="1500" dirty="0"/>
          </a:p>
        </p:txBody>
      </p:sp>
      <p:sp>
        <p:nvSpPr>
          <p:cNvPr id="18" name="Text 16"/>
          <p:cNvSpPr txBox="1"/>
          <p:nvPr/>
        </p:nvSpPr>
        <p:spPr>
          <a:xfrm>
            <a:off x="457200" y="4572000"/>
            <a:ext cx="3291840" cy="640080"/>
          </a:xfrm>
          <a:prstGeom prst="rect">
            <a:avLst/>
          </a:prstGeom>
          <a:noFill/>
          <a:ln/>
        </p:spPr>
        <p:txBody>
          <a:bodyPr wrap="square" lIns="0" tIns="0" rIns="0" bIns="0" rtlCol="0" anchor="b"/>
          <a:lstStyle/>
          <a:p>
            <a:pPr algn="ctr" indent="0" marL="0">
              <a:buNone/>
            </a:pPr>
            <a:r>
              <a:rPr lang="en-US" sz="4000" b="1" dirty="0">
                <a:solidFill>
                  <a:srgbClr val="0B5A3C"/>
                </a:solidFill>
                <a:latin typeface="Arial" pitchFamily="34" charset="0"/>
                <a:ea typeface="Arial" pitchFamily="34" charset="-122"/>
                <a:cs typeface="Arial" pitchFamily="34" charset="-120"/>
              </a:rPr>
              <a:t>0</a:t>
            </a:r>
            <a:endParaRPr lang="en-US" sz="4000" dirty="0"/>
          </a:p>
        </p:txBody>
      </p:sp>
      <p:sp>
        <p:nvSpPr>
          <p:cNvPr id="19" name="Text 17"/>
          <p:cNvSpPr txBox="1"/>
          <p:nvPr/>
        </p:nvSpPr>
        <p:spPr>
          <a:xfrm>
            <a:off x="457200" y="5230368"/>
            <a:ext cx="329184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photos shared between splits</a:t>
            </a:r>
            <a:endParaRPr lang="en-US" sz="1200" dirty="0"/>
          </a:p>
        </p:txBody>
      </p:sp>
      <p:sp>
        <p:nvSpPr>
          <p:cNvPr id="20" name="Text 18"/>
          <p:cNvSpPr txBox="1"/>
          <p:nvPr/>
        </p:nvSpPr>
        <p:spPr>
          <a:xfrm>
            <a:off x="4160520" y="4572000"/>
            <a:ext cx="7571232" cy="164592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111111"/>
                </a:solidFill>
                <a:latin typeface="Arial" pitchFamily="34" charset="0"/>
                <a:ea typeface="Arial" pitchFamily="34" charset="-122"/>
                <a:cs typeface="Arial" pitchFamily="34" charset="-120"/>
              </a:rPr>
              <a:t>Fixed split saved as manifests (dataset/splits/*.csv) and used unchanged by every approach</a:t>
            </a:r>
            <a:endParaRPr lang="en-US" sz="1500" dirty="0"/>
          </a:p>
          <a:p>
            <a:pPr marL="342900" indent="-342900">
              <a:spcAft>
                <a:spcPts val="800"/>
              </a:spcAft>
              <a:buSzPct val="100000"/>
              <a:buChar char="•"/>
            </a:pPr>
            <a:r>
              <a:rPr lang="en-US" sz="1500" dirty="0">
                <a:solidFill>
                  <a:srgbClr val="111111"/>
                </a:solidFill>
                <a:latin typeface="Arial" pitchFamily="34" charset="0"/>
                <a:ea typeface="Arial" pitchFamily="34" charset="-122"/>
                <a:cs typeface="Arial" pitchFamily="34" charset="-120"/>
              </a:rPr>
              <a:t>Test set used once per model, only after the model was selected on validation data</a:t>
            </a:r>
            <a:endParaRPr lang="en-US" sz="15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Preprocessing &amp; Augmentation</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Same test-time preprocessing for every approach</a:t>
            </a:r>
            <a:endParaRPr lang="en-US" sz="1400" dirty="0"/>
          </a:p>
        </p:txBody>
      </p:sp>
      <p:sp>
        <p:nvSpPr>
          <p:cNvPr id="4" name="train-card"/>
          <p:cNvSpPr/>
          <p:nvPr/>
        </p:nvSpPr>
        <p:spPr>
          <a:xfrm>
            <a:off x="457200" y="2011680"/>
            <a:ext cx="3566160" cy="4206240"/>
          </a:xfrm>
          <a:prstGeom prst="roundRect">
            <a:avLst>
              <a:gd name="adj" fmla="val 2051"/>
            </a:avLst>
          </a:prstGeom>
          <a:solidFill>
            <a:srgbClr val="EEF5F1"/>
          </a:solidFill>
          <a:ln w="9525">
            <a:solidFill>
              <a:srgbClr val="EEF5F1"/>
            </a:solidFill>
            <a:prstDash val="solid"/>
          </a:ln>
        </p:spPr>
      </p:sp>
      <p:sp>
        <p:nvSpPr>
          <p:cNvPr id="5" name="Text 3"/>
          <p:cNvSpPr txBox="1"/>
          <p:nvPr/>
        </p:nvSpPr>
        <p:spPr>
          <a:xfrm>
            <a:off x="685800" y="2148840"/>
            <a:ext cx="3108960" cy="347472"/>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Training images</a:t>
            </a:r>
            <a:endParaRPr lang="en-US" sz="1600" dirty="0"/>
          </a:p>
        </p:txBody>
      </p:sp>
      <p:sp>
        <p:nvSpPr>
          <p:cNvPr id="6" name="Text 4"/>
          <p:cNvSpPr txBox="1"/>
          <p:nvPr/>
        </p:nvSpPr>
        <p:spPr>
          <a:xfrm>
            <a:off x="685800" y="2560320"/>
            <a:ext cx="3154680" cy="356616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Resize to 224 × 224</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Random rotation ±10°</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Colour jitter (brightness 0.15, contrast 0.15, saturation 0.10)</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ImageNet normalisation</a:t>
            </a:r>
            <a:endParaRPr lang="en-US" sz="1400" dirty="0"/>
          </a:p>
        </p:txBody>
      </p:sp>
      <p:sp>
        <p:nvSpPr>
          <p:cNvPr id="7" name="eval-card"/>
          <p:cNvSpPr/>
          <p:nvPr/>
        </p:nvSpPr>
        <p:spPr>
          <a:xfrm>
            <a:off x="4251960" y="2011680"/>
            <a:ext cx="3566160" cy="4206240"/>
          </a:xfrm>
          <a:prstGeom prst="roundRect">
            <a:avLst>
              <a:gd name="adj" fmla="val 2051"/>
            </a:avLst>
          </a:prstGeom>
          <a:solidFill>
            <a:srgbClr val="EEF5F1"/>
          </a:solidFill>
          <a:ln w="9525">
            <a:solidFill>
              <a:srgbClr val="EEF5F1"/>
            </a:solidFill>
            <a:prstDash val="solid"/>
          </a:ln>
        </p:spPr>
      </p:sp>
      <p:sp>
        <p:nvSpPr>
          <p:cNvPr id="8" name="Text 6"/>
          <p:cNvSpPr txBox="1"/>
          <p:nvPr/>
        </p:nvSpPr>
        <p:spPr>
          <a:xfrm>
            <a:off x="4480560" y="2148840"/>
            <a:ext cx="3108960" cy="347472"/>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Validation &amp; test images</a:t>
            </a:r>
            <a:endParaRPr lang="en-US" sz="1600" dirty="0"/>
          </a:p>
        </p:txBody>
      </p:sp>
      <p:sp>
        <p:nvSpPr>
          <p:cNvPr id="9" name="Text 7"/>
          <p:cNvSpPr txBox="1"/>
          <p:nvPr/>
        </p:nvSpPr>
        <p:spPr>
          <a:xfrm>
            <a:off x="4480560" y="2560320"/>
            <a:ext cx="3154680" cy="356616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Resize to 224 × 224</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ImageNet normalisation</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No randomness: identical for all three approaches</a:t>
            </a:r>
            <a:endParaRPr lang="en-US" sz="1400" dirty="0"/>
          </a:p>
        </p:txBody>
      </p:sp>
      <p:sp>
        <p:nvSpPr>
          <p:cNvPr id="10" name="Text 8"/>
          <p:cNvSpPr txBox="1"/>
          <p:nvPr/>
        </p:nvSpPr>
        <p:spPr>
          <a:xfrm>
            <a:off x="8092440" y="2011680"/>
            <a:ext cx="3657600" cy="347472"/>
          </a:xfrm>
          <a:prstGeom prst="rect">
            <a:avLst/>
          </a:prstGeom>
          <a:noFill/>
          <a:ln/>
        </p:spPr>
        <p:txBody>
          <a:bodyPr wrap="square" lIns="0" tIns="0" rIns="0" bIns="0" rtlCol="0" anchor="ctr"/>
          <a:lstStyle/>
          <a:p>
            <a:pPr indent="0" marL="0">
              <a:buNone/>
            </a:pPr>
            <a:r>
              <a:rPr lang="en-US" sz="1600" b="1" dirty="0">
                <a:solidFill>
                  <a:srgbClr val="C44E52"/>
                </a:solidFill>
                <a:latin typeface="Arial" pitchFamily="34" charset="0"/>
                <a:ea typeface="Arial" pitchFamily="34" charset="-122"/>
                <a:cs typeface="Arial" pitchFamily="34" charset="-120"/>
              </a:rPr>
              <a:t>Why no horizontal flip?</a:t>
            </a:r>
            <a:endParaRPr lang="en-US" sz="1600" dirty="0"/>
          </a:p>
        </p:txBody>
      </p:sp>
      <p:pic>
        <p:nvPicPr>
          <p:cNvPr id="11" name="left-bend" descr="C:/Users/ASUS G 16 JVR/AppData/Local/Temp/claude/C--Users-ASUS-G-16-JVR-Desktop-deepLearning-CNN/ddb4b7a1-b5ad-4432-b312-271443ec143d/scratchpad/deck/assets/left_bend.png">    </p:cNvPr>
          <p:cNvPicPr>
            <a:picLocks noChangeAspect="1"/>
          </p:cNvPicPr>
          <p:nvPr/>
        </p:nvPicPr>
        <p:blipFill>
          <a:blip r:embed="rId1"/>
          <a:stretch>
            <a:fillRect/>
          </a:stretch>
        </p:blipFill>
        <p:spPr>
          <a:xfrm>
            <a:off x="8138160" y="2514600"/>
            <a:ext cx="1600200" cy="1600200"/>
          </a:xfrm>
          <a:prstGeom prst="rect">
            <a:avLst/>
          </a:prstGeom>
        </p:spPr>
      </p:pic>
      <p:pic>
        <p:nvPicPr>
          <p:cNvPr id="12" name="left-bend-flipped" descr="C:/Users/ASUS G 16 JVR/AppData/Local/Temp/claude/C--Users-ASUS-G-16-JVR-Desktop-deepLearning-CNN/ddb4b7a1-b5ad-4432-b312-271443ec143d/scratchpad/deck/assets/left_bend_flipped.png">    </p:cNvPr>
          <p:cNvPicPr>
            <a:picLocks noChangeAspect="1"/>
          </p:cNvPicPr>
          <p:nvPr/>
        </p:nvPicPr>
        <p:blipFill>
          <a:blip r:embed="rId2"/>
          <a:stretch>
            <a:fillRect/>
          </a:stretch>
        </p:blipFill>
        <p:spPr>
          <a:xfrm>
            <a:off x="10058400" y="2514600"/>
            <a:ext cx="1600200" cy="1600200"/>
          </a:xfrm>
          <a:prstGeom prst="rect">
            <a:avLst/>
          </a:prstGeom>
        </p:spPr>
      </p:pic>
      <p:sp>
        <p:nvSpPr>
          <p:cNvPr id="13" name="Shape 9"/>
          <p:cNvSpPr/>
          <p:nvPr/>
        </p:nvSpPr>
        <p:spPr>
          <a:xfrm>
            <a:off x="9784080" y="3310128"/>
            <a:ext cx="228600" cy="0"/>
          </a:xfrm>
          <a:prstGeom prst="line">
            <a:avLst/>
          </a:prstGeom>
          <a:noFill/>
          <a:ln w="28575">
            <a:solidFill>
              <a:srgbClr val="C44E52"/>
            </a:solidFill>
            <a:prstDash val="solid"/>
            <a:tailEnd type="triangle"/>
          </a:ln>
        </p:spPr>
      </p:sp>
      <p:sp>
        <p:nvSpPr>
          <p:cNvPr id="14" name="Text 10"/>
          <p:cNvSpPr txBox="1"/>
          <p:nvPr/>
        </p:nvSpPr>
        <p:spPr>
          <a:xfrm>
            <a:off x="8138160" y="4160520"/>
            <a:ext cx="1600200" cy="274320"/>
          </a:xfrm>
          <a:prstGeom prst="rect">
            <a:avLst/>
          </a:prstGeom>
          <a:noFill/>
          <a:ln/>
        </p:spPr>
        <p:txBody>
          <a:bodyPr wrap="square" lIns="0" tIns="0" rIns="0" bIns="0" rtlCol="0" anchor="t"/>
          <a:lstStyle/>
          <a:p>
            <a:pPr algn="ctr" indent="0" marL="0">
              <a:buNone/>
            </a:pPr>
            <a:r>
              <a:rPr lang="en-US" sz="1100" dirty="0">
                <a:solidFill>
                  <a:srgbClr val="555555"/>
                </a:solidFill>
                <a:latin typeface="Arial" pitchFamily="34" charset="0"/>
                <a:ea typeface="Arial" pitchFamily="34" charset="-122"/>
                <a:cs typeface="Arial" pitchFamily="34" charset="-120"/>
              </a:rPr>
              <a:t>LEFT_BEND (real crop)</a:t>
            </a:r>
            <a:endParaRPr lang="en-US" sz="1100" dirty="0"/>
          </a:p>
        </p:txBody>
      </p:sp>
      <p:sp>
        <p:nvSpPr>
          <p:cNvPr id="15" name="Text 11"/>
          <p:cNvSpPr txBox="1"/>
          <p:nvPr/>
        </p:nvSpPr>
        <p:spPr>
          <a:xfrm>
            <a:off x="9966960" y="4160520"/>
            <a:ext cx="1783080" cy="457200"/>
          </a:xfrm>
          <a:prstGeom prst="rect">
            <a:avLst/>
          </a:prstGeom>
          <a:noFill/>
          <a:ln/>
        </p:spPr>
        <p:txBody>
          <a:bodyPr wrap="square" lIns="0" tIns="0" rIns="0" bIns="0" rtlCol="0" anchor="t"/>
          <a:lstStyle/>
          <a:p>
            <a:pPr algn="ctr" indent="0" marL="0">
              <a:buNone/>
            </a:pPr>
            <a:r>
              <a:rPr lang="en-US" sz="1100" dirty="0">
                <a:solidFill>
                  <a:srgbClr val="C44E52"/>
                </a:solidFill>
                <a:latin typeface="Arial" pitchFamily="34" charset="0"/>
                <a:ea typeface="Arial" pitchFamily="34" charset="-122"/>
                <a:cs typeface="Arial" pitchFamily="34" charset="-120"/>
              </a:rPr>
              <a:t>Flipped: looks like RIGHT_BEND</a:t>
            </a:r>
            <a:endParaRPr lang="en-US" sz="1100" dirty="0"/>
          </a:p>
        </p:txBody>
      </p:sp>
      <p:sp>
        <p:nvSpPr>
          <p:cNvPr id="16" name="Text 12"/>
          <p:cNvSpPr txBox="1"/>
          <p:nvPr/>
        </p:nvSpPr>
        <p:spPr>
          <a:xfrm>
            <a:off x="8138160" y="4709160"/>
            <a:ext cx="3593592" cy="1371600"/>
          </a:xfrm>
          <a:prstGeom prst="rect">
            <a:avLst/>
          </a:prstGeom>
          <a:noFill/>
          <a:ln/>
        </p:spPr>
        <p:txBody>
          <a:bodyPr wrap="square" lIns="0" tIns="0" rIns="0" bIns="0" rtlCol="0" anchor="t"/>
          <a:lstStyle/>
          <a:p>
            <a:pPr indent="0" marL="0">
              <a:buNone/>
            </a:pPr>
            <a:r>
              <a:rPr lang="en-US" sz="1400" dirty="0">
                <a:solidFill>
                  <a:srgbClr val="111111"/>
                </a:solidFill>
                <a:latin typeface="Arial" pitchFamily="34" charset="0"/>
                <a:ea typeface="Arial" pitchFamily="34" charset="-122"/>
                <a:cs typeface="Arial" pitchFamily="34" charset="-120"/>
              </a:rPr>
              <a:t>A mirrored sign can show a different class, so flipping would create wrongly labelled training images.</a:t>
            </a:r>
            <a:endParaRPr lang="en-US" sz="14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Three Deep-Learning Approaches</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Different architecture and different training strategy, compared on identical data</a:t>
            </a:r>
            <a:endParaRPr lang="en-US" sz="1400" dirty="0"/>
          </a:p>
        </p:txBody>
      </p:sp>
      <p:sp>
        <p:nvSpPr>
          <p:cNvPr id="4" name="approach-1"/>
          <p:cNvSpPr/>
          <p:nvPr/>
        </p:nvSpPr>
        <p:spPr>
          <a:xfrm>
            <a:off x="457200" y="2011680"/>
            <a:ext cx="3611880" cy="3840480"/>
          </a:xfrm>
          <a:prstGeom prst="roundRect">
            <a:avLst>
              <a:gd name="adj" fmla="val 2025"/>
            </a:avLst>
          </a:prstGeom>
          <a:solidFill>
            <a:srgbClr val="EEF5F1"/>
          </a:solidFill>
          <a:ln w="9525">
            <a:solidFill>
              <a:srgbClr val="EEF5F1"/>
            </a:solidFill>
            <a:prstDash val="solid"/>
          </a:ln>
        </p:spPr>
      </p:sp>
      <p:sp>
        <p:nvSpPr>
          <p:cNvPr id="5" name="Shape 3"/>
          <p:cNvSpPr/>
          <p:nvPr/>
        </p:nvSpPr>
        <p:spPr>
          <a:xfrm>
            <a:off x="685800" y="2194560"/>
            <a:ext cx="502920" cy="502920"/>
          </a:xfrm>
          <a:prstGeom prst="ellipse">
            <a:avLst/>
          </a:prstGeom>
          <a:solidFill>
            <a:srgbClr val="0B5A3C"/>
          </a:solidFill>
          <a:ln w="12700">
            <a:solidFill>
              <a:srgbClr val="0B5A3C"/>
            </a:solidFill>
            <a:prstDash val="solid"/>
          </a:ln>
        </p:spPr>
      </p:sp>
      <p:sp>
        <p:nvSpPr>
          <p:cNvPr id="6" name="Text 4"/>
          <p:cNvSpPr txBox="1"/>
          <p:nvPr/>
        </p:nvSpPr>
        <p:spPr>
          <a:xfrm>
            <a:off x="685800" y="21945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txBox="1"/>
          <p:nvPr/>
        </p:nvSpPr>
        <p:spPr>
          <a:xfrm>
            <a:off x="1325880" y="2148840"/>
            <a:ext cx="2606040" cy="594360"/>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SmallCNN from scratch</a:t>
            </a:r>
            <a:endParaRPr lang="en-US" sz="1600" dirty="0"/>
          </a:p>
        </p:txBody>
      </p:sp>
      <p:sp>
        <p:nvSpPr>
          <p:cNvPr id="8" name="Text 6"/>
          <p:cNvSpPr txBox="1"/>
          <p:nvPr/>
        </p:nvSpPr>
        <p:spPr>
          <a:xfrm>
            <a:off x="685800" y="2880360"/>
            <a:ext cx="3200400" cy="201168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3 conv blocks (32 / 64 / 128 filters) + BatchNorm, ReLU, max-pool</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Global average pooling → FC 256 → dropout 0.5 → 26 classes</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Random initialisation, no pretrained weights</a:t>
            </a:r>
            <a:endParaRPr lang="en-US" sz="1400" dirty="0"/>
          </a:p>
        </p:txBody>
      </p:sp>
      <p:sp>
        <p:nvSpPr>
          <p:cNvPr id="9" name="Text 7"/>
          <p:cNvSpPr txBox="1"/>
          <p:nvPr/>
        </p:nvSpPr>
        <p:spPr>
          <a:xfrm>
            <a:off x="685800" y="4892040"/>
            <a:ext cx="3154680" cy="502920"/>
          </a:xfrm>
          <a:prstGeom prst="rect">
            <a:avLst/>
          </a:prstGeom>
          <a:noFill/>
          <a:ln/>
        </p:spPr>
        <p:txBody>
          <a:bodyPr wrap="square" lIns="0" tIns="0" rIns="0" bIns="0" rtlCol="0" anchor="b"/>
          <a:lstStyle/>
          <a:p>
            <a:pPr indent="0" marL="0">
              <a:buNone/>
            </a:pPr>
            <a:r>
              <a:rPr lang="en-US" sz="2400" b="1" dirty="0">
                <a:solidFill>
                  <a:srgbClr val="0B5A3C"/>
                </a:solidFill>
                <a:latin typeface="Arial" pitchFamily="34" charset="0"/>
                <a:ea typeface="Arial" pitchFamily="34" charset="-122"/>
                <a:cs typeface="Arial" pitchFamily="34" charset="-120"/>
              </a:rPr>
              <a:t>133,178</a:t>
            </a:r>
            <a:endParaRPr lang="en-US" sz="2400" dirty="0"/>
          </a:p>
        </p:txBody>
      </p:sp>
      <p:sp>
        <p:nvSpPr>
          <p:cNvPr id="10" name="Text 8"/>
          <p:cNvSpPr txBox="1"/>
          <p:nvPr/>
        </p:nvSpPr>
        <p:spPr>
          <a:xfrm>
            <a:off x="685800" y="5413248"/>
            <a:ext cx="3154680" cy="274320"/>
          </a:xfrm>
          <a:prstGeom prst="rect">
            <a:avLst/>
          </a:prstGeom>
          <a:noFill/>
          <a:ln/>
        </p:spPr>
        <p:txBody>
          <a:bodyPr wrap="square" lIns="0" tIns="0" rIns="0" bIns="0" rtlCol="0" anchor="t"/>
          <a:lstStyle/>
          <a:p>
            <a:pPr algn="l" indent="0" marL="0">
              <a:buNone/>
            </a:pPr>
            <a:r>
              <a:rPr lang="en-US" sz="1200" dirty="0">
                <a:solidFill>
                  <a:srgbClr val="555555"/>
                </a:solidFill>
                <a:latin typeface="Arial" pitchFamily="34" charset="0"/>
                <a:ea typeface="Arial" pitchFamily="34" charset="-122"/>
                <a:cs typeface="Arial" pitchFamily="34" charset="-120"/>
              </a:rPr>
              <a:t>trainable parameters</a:t>
            </a:r>
            <a:endParaRPr lang="en-US" sz="1200" dirty="0"/>
          </a:p>
        </p:txBody>
      </p:sp>
      <p:sp>
        <p:nvSpPr>
          <p:cNvPr id="11" name="approach-2"/>
          <p:cNvSpPr/>
          <p:nvPr/>
        </p:nvSpPr>
        <p:spPr>
          <a:xfrm>
            <a:off x="4279392" y="2011680"/>
            <a:ext cx="3611880" cy="3840480"/>
          </a:xfrm>
          <a:prstGeom prst="roundRect">
            <a:avLst>
              <a:gd name="adj" fmla="val 2025"/>
            </a:avLst>
          </a:prstGeom>
          <a:solidFill>
            <a:srgbClr val="EEF5F1"/>
          </a:solidFill>
          <a:ln w="9525">
            <a:solidFill>
              <a:srgbClr val="EEF5F1"/>
            </a:solidFill>
            <a:prstDash val="solid"/>
          </a:ln>
        </p:spPr>
      </p:sp>
      <p:sp>
        <p:nvSpPr>
          <p:cNvPr id="12" name="Shape 10"/>
          <p:cNvSpPr/>
          <p:nvPr/>
        </p:nvSpPr>
        <p:spPr>
          <a:xfrm>
            <a:off x="4507992" y="2194560"/>
            <a:ext cx="502920" cy="502920"/>
          </a:xfrm>
          <a:prstGeom prst="ellipse">
            <a:avLst/>
          </a:prstGeom>
          <a:solidFill>
            <a:srgbClr val="0B5A3C"/>
          </a:solidFill>
          <a:ln w="12700">
            <a:solidFill>
              <a:srgbClr val="0B5A3C"/>
            </a:solidFill>
            <a:prstDash val="solid"/>
          </a:ln>
        </p:spPr>
      </p:sp>
      <p:sp>
        <p:nvSpPr>
          <p:cNvPr id="13" name="Text 11"/>
          <p:cNvSpPr txBox="1"/>
          <p:nvPr/>
        </p:nvSpPr>
        <p:spPr>
          <a:xfrm>
            <a:off x="4507992" y="21945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4" name="Text 12"/>
          <p:cNvSpPr txBox="1"/>
          <p:nvPr/>
        </p:nvSpPr>
        <p:spPr>
          <a:xfrm>
            <a:off x="5148072" y="2148840"/>
            <a:ext cx="2606040" cy="594360"/>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ResNet-18, frozen backbone</a:t>
            </a:r>
            <a:endParaRPr lang="en-US" sz="1600" dirty="0"/>
          </a:p>
        </p:txBody>
      </p:sp>
      <p:sp>
        <p:nvSpPr>
          <p:cNvPr id="15" name="Text 13"/>
          <p:cNvSpPr txBox="1"/>
          <p:nvPr/>
        </p:nvSpPr>
        <p:spPr>
          <a:xfrm>
            <a:off x="4507992" y="2880360"/>
            <a:ext cx="3200400" cy="201168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ImageNet-pretrained ResNet-18 (IMAGENET1K_V1)</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Backbone frozen, BatchNorm statistics kept fixed</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Only the new Linear(512 → 26) layer is trained</a:t>
            </a:r>
            <a:endParaRPr lang="en-US" sz="1400" dirty="0"/>
          </a:p>
        </p:txBody>
      </p:sp>
      <p:sp>
        <p:nvSpPr>
          <p:cNvPr id="16" name="Text 14"/>
          <p:cNvSpPr txBox="1"/>
          <p:nvPr/>
        </p:nvSpPr>
        <p:spPr>
          <a:xfrm>
            <a:off x="4507992" y="4892040"/>
            <a:ext cx="3154680" cy="502920"/>
          </a:xfrm>
          <a:prstGeom prst="rect">
            <a:avLst/>
          </a:prstGeom>
          <a:noFill/>
          <a:ln/>
        </p:spPr>
        <p:txBody>
          <a:bodyPr wrap="square" lIns="0" tIns="0" rIns="0" bIns="0" rtlCol="0" anchor="b"/>
          <a:lstStyle/>
          <a:p>
            <a:pPr indent="0" marL="0">
              <a:buNone/>
            </a:pPr>
            <a:r>
              <a:rPr lang="en-US" sz="2400" b="1" dirty="0">
                <a:solidFill>
                  <a:srgbClr val="0B5A3C"/>
                </a:solidFill>
                <a:latin typeface="Arial" pitchFamily="34" charset="0"/>
                <a:ea typeface="Arial" pitchFamily="34" charset="-122"/>
                <a:cs typeface="Arial" pitchFamily="34" charset="-120"/>
              </a:rPr>
              <a:t>13,338</a:t>
            </a:r>
            <a:endParaRPr lang="en-US" sz="2400" dirty="0"/>
          </a:p>
        </p:txBody>
      </p:sp>
      <p:sp>
        <p:nvSpPr>
          <p:cNvPr id="17" name="Text 15"/>
          <p:cNvSpPr txBox="1"/>
          <p:nvPr/>
        </p:nvSpPr>
        <p:spPr>
          <a:xfrm>
            <a:off x="4507992" y="5413248"/>
            <a:ext cx="3154680" cy="274320"/>
          </a:xfrm>
          <a:prstGeom prst="rect">
            <a:avLst/>
          </a:prstGeom>
          <a:noFill/>
          <a:ln/>
        </p:spPr>
        <p:txBody>
          <a:bodyPr wrap="square" lIns="0" tIns="0" rIns="0" bIns="0" rtlCol="0" anchor="t"/>
          <a:lstStyle/>
          <a:p>
            <a:pPr algn="l" indent="0" marL="0">
              <a:buNone/>
            </a:pPr>
            <a:r>
              <a:rPr lang="en-US" sz="1200" dirty="0">
                <a:solidFill>
                  <a:srgbClr val="555555"/>
                </a:solidFill>
                <a:latin typeface="Arial" pitchFamily="34" charset="0"/>
                <a:ea typeface="Arial" pitchFamily="34" charset="-122"/>
                <a:cs typeface="Arial" pitchFamily="34" charset="-120"/>
              </a:rPr>
              <a:t>trainable parameters</a:t>
            </a:r>
            <a:endParaRPr lang="en-US" sz="1200" dirty="0"/>
          </a:p>
        </p:txBody>
      </p:sp>
      <p:sp>
        <p:nvSpPr>
          <p:cNvPr id="18" name="approach-3"/>
          <p:cNvSpPr/>
          <p:nvPr/>
        </p:nvSpPr>
        <p:spPr>
          <a:xfrm>
            <a:off x="8101584" y="2011680"/>
            <a:ext cx="3611880" cy="3840480"/>
          </a:xfrm>
          <a:prstGeom prst="roundRect">
            <a:avLst>
              <a:gd name="adj" fmla="val 2025"/>
            </a:avLst>
          </a:prstGeom>
          <a:solidFill>
            <a:srgbClr val="EEF5F1"/>
          </a:solidFill>
          <a:ln w="9525">
            <a:solidFill>
              <a:srgbClr val="EEF5F1"/>
            </a:solidFill>
            <a:prstDash val="solid"/>
          </a:ln>
        </p:spPr>
      </p:sp>
      <p:sp>
        <p:nvSpPr>
          <p:cNvPr id="19" name="Shape 17"/>
          <p:cNvSpPr/>
          <p:nvPr/>
        </p:nvSpPr>
        <p:spPr>
          <a:xfrm>
            <a:off x="8330184" y="2194560"/>
            <a:ext cx="502920" cy="502920"/>
          </a:xfrm>
          <a:prstGeom prst="ellipse">
            <a:avLst/>
          </a:prstGeom>
          <a:solidFill>
            <a:srgbClr val="DD8452"/>
          </a:solidFill>
          <a:ln w="12700">
            <a:solidFill>
              <a:srgbClr val="DD8452"/>
            </a:solidFill>
            <a:prstDash val="solid"/>
          </a:ln>
        </p:spPr>
      </p:sp>
      <p:sp>
        <p:nvSpPr>
          <p:cNvPr id="20" name="Text 18"/>
          <p:cNvSpPr txBox="1"/>
          <p:nvPr/>
        </p:nvSpPr>
        <p:spPr>
          <a:xfrm>
            <a:off x="8330184" y="21945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1" name="Text 19"/>
          <p:cNvSpPr txBox="1"/>
          <p:nvPr/>
        </p:nvSpPr>
        <p:spPr>
          <a:xfrm>
            <a:off x="8970264" y="2148840"/>
            <a:ext cx="2606040" cy="594360"/>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ResNet-18, fully fine-tuned</a:t>
            </a:r>
            <a:endParaRPr lang="en-US" sz="1600" dirty="0"/>
          </a:p>
        </p:txBody>
      </p:sp>
      <p:sp>
        <p:nvSpPr>
          <p:cNvPr id="22" name="Text 20"/>
          <p:cNvSpPr txBox="1"/>
          <p:nvPr/>
        </p:nvSpPr>
        <p:spPr>
          <a:xfrm>
            <a:off x="8330184" y="2880360"/>
            <a:ext cx="3200400" cy="201168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Same ImageNet weights and new Linear(512 → 26)</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Every layer is trained on the traffic signs</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Later tuned: learning rate × weight decay</a:t>
            </a:r>
            <a:endParaRPr lang="en-US" sz="1400" dirty="0"/>
          </a:p>
        </p:txBody>
      </p:sp>
      <p:sp>
        <p:nvSpPr>
          <p:cNvPr id="23" name="Text 21"/>
          <p:cNvSpPr txBox="1"/>
          <p:nvPr/>
        </p:nvSpPr>
        <p:spPr>
          <a:xfrm>
            <a:off x="8330184" y="4892040"/>
            <a:ext cx="3154680" cy="502920"/>
          </a:xfrm>
          <a:prstGeom prst="rect">
            <a:avLst/>
          </a:prstGeom>
          <a:noFill/>
          <a:ln/>
        </p:spPr>
        <p:txBody>
          <a:bodyPr wrap="square" lIns="0" tIns="0" rIns="0" bIns="0" rtlCol="0" anchor="b"/>
          <a:lstStyle/>
          <a:p>
            <a:pPr indent="0" marL="0">
              <a:buNone/>
            </a:pPr>
            <a:r>
              <a:rPr lang="en-US" sz="2400" b="1" dirty="0">
                <a:solidFill>
                  <a:srgbClr val="DD8452"/>
                </a:solidFill>
                <a:latin typeface="Arial" pitchFamily="34" charset="0"/>
                <a:ea typeface="Arial" pitchFamily="34" charset="-122"/>
                <a:cs typeface="Arial" pitchFamily="34" charset="-120"/>
              </a:rPr>
              <a:t>11,189,850</a:t>
            </a:r>
            <a:endParaRPr lang="en-US" sz="2400" dirty="0"/>
          </a:p>
        </p:txBody>
      </p:sp>
      <p:sp>
        <p:nvSpPr>
          <p:cNvPr id="24" name="Text 22"/>
          <p:cNvSpPr txBox="1"/>
          <p:nvPr/>
        </p:nvSpPr>
        <p:spPr>
          <a:xfrm>
            <a:off x="8330184" y="5413248"/>
            <a:ext cx="3154680" cy="274320"/>
          </a:xfrm>
          <a:prstGeom prst="rect">
            <a:avLst/>
          </a:prstGeom>
          <a:noFill/>
          <a:ln/>
        </p:spPr>
        <p:txBody>
          <a:bodyPr wrap="square" lIns="0" tIns="0" rIns="0" bIns="0" rtlCol="0" anchor="t"/>
          <a:lstStyle/>
          <a:p>
            <a:pPr algn="l" indent="0" marL="0">
              <a:buNone/>
            </a:pPr>
            <a:r>
              <a:rPr lang="en-US" sz="1200" dirty="0">
                <a:solidFill>
                  <a:srgbClr val="555555"/>
                </a:solidFill>
                <a:latin typeface="Arial" pitchFamily="34" charset="0"/>
                <a:ea typeface="Arial" pitchFamily="34" charset="-122"/>
                <a:cs typeface="Arial" pitchFamily="34" charset="-120"/>
              </a:rPr>
              <a:t>trainable parameters</a:t>
            </a:r>
            <a:endParaRPr lang="en-US" sz="1200" dirty="0"/>
          </a:p>
        </p:txBody>
      </p:sp>
      <p:sp>
        <p:nvSpPr>
          <p:cNvPr id="25" name="Shape 23"/>
          <p:cNvSpPr/>
          <p:nvPr/>
        </p:nvSpPr>
        <p:spPr>
          <a:xfrm>
            <a:off x="457200" y="6053328"/>
            <a:ext cx="11274552" cy="0"/>
          </a:xfrm>
          <a:prstGeom prst="line">
            <a:avLst/>
          </a:prstGeom>
          <a:noFill/>
          <a:ln w="25400">
            <a:solidFill>
              <a:srgbClr val="0B5A3C"/>
            </a:solidFill>
            <a:prstDash val="solid"/>
            <a:tailEnd type="triangle"/>
          </a:ln>
        </p:spPr>
      </p:sp>
      <p:sp>
        <p:nvSpPr>
          <p:cNvPr id="26" name="Text 24"/>
          <p:cNvSpPr txBox="1"/>
          <p:nvPr/>
        </p:nvSpPr>
        <p:spPr>
          <a:xfrm>
            <a:off x="4480560" y="6089904"/>
            <a:ext cx="3291840" cy="292608"/>
          </a:xfrm>
          <a:prstGeom prst="rect">
            <a:avLst/>
          </a:prstGeom>
          <a:noFill/>
          <a:ln/>
        </p:spPr>
        <p:txBody>
          <a:bodyPr wrap="square" lIns="0" tIns="0" rIns="0" bIns="0" rtlCol="0" anchor="ctr"/>
          <a:lstStyle/>
          <a:p>
            <a:pPr algn="ctr" indent="0" marL="0">
              <a:buNone/>
            </a:pPr>
            <a:r>
              <a:rPr lang="en-US" sz="1100" dirty="0">
                <a:solidFill>
                  <a:srgbClr val="0B5A3C"/>
                </a:solidFill>
                <a:latin typeface="Arial" pitchFamily="34" charset="0"/>
                <a:ea typeface="Arial" pitchFamily="34" charset="-122"/>
                <a:cs typeface="Arial" pitchFamily="34" charset="-120"/>
              </a:rPr>
              <a:t>increasing use of transfer learning</a:t>
            </a:r>
            <a:endParaRPr lang="en-US" sz="11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Experimental Setup</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One shared training protocol, so only the model changes</a:t>
            </a:r>
            <a:endParaRPr lang="en-US" sz="1400" dirty="0"/>
          </a:p>
        </p:txBody>
      </p:sp>
      <p:sp>
        <p:nvSpPr>
          <p:cNvPr id="4" name="Shape 2"/>
          <p:cNvSpPr/>
          <p:nvPr/>
        </p:nvSpPr>
        <p:spPr>
          <a:xfrm>
            <a:off x="457200" y="2011680"/>
            <a:ext cx="6766560" cy="530352"/>
          </a:xfrm>
          <a:prstGeom prst="rect">
            <a:avLst/>
          </a:prstGeom>
          <a:solidFill>
            <a:srgbClr val="EEF5F1"/>
          </a:solidFill>
          <a:ln w="12700">
            <a:solidFill>
              <a:srgbClr val="EEF5F1"/>
            </a:solidFill>
            <a:prstDash val="solid"/>
          </a:ln>
        </p:spPr>
      </p:sp>
      <p:sp>
        <p:nvSpPr>
          <p:cNvPr id="5" name="Text 3"/>
          <p:cNvSpPr txBox="1"/>
          <p:nvPr/>
        </p:nvSpPr>
        <p:spPr>
          <a:xfrm>
            <a:off x="594360" y="2011680"/>
            <a:ext cx="1920240" cy="530352"/>
          </a:xfrm>
          <a:prstGeom prst="rect">
            <a:avLst/>
          </a:prstGeom>
          <a:noFill/>
          <a:ln/>
        </p:spPr>
        <p:txBody>
          <a:bodyPr wrap="square" lIns="0" tIns="0" rIns="0" bIns="0" rtlCol="0" anchor="ctr"/>
          <a:lstStyle/>
          <a:p>
            <a:pPr indent="0" marL="0">
              <a:buNone/>
            </a:pPr>
            <a:r>
              <a:rPr lang="en-US" sz="1400" b="1" dirty="0">
                <a:solidFill>
                  <a:srgbClr val="0B5A3C"/>
                </a:solidFill>
                <a:latin typeface="Arial" pitchFamily="34" charset="0"/>
                <a:ea typeface="Arial" pitchFamily="34" charset="-122"/>
                <a:cs typeface="Arial" pitchFamily="34" charset="-120"/>
              </a:rPr>
              <a:t>Optimiser</a:t>
            </a:r>
            <a:endParaRPr lang="en-US" sz="1400" dirty="0"/>
          </a:p>
        </p:txBody>
      </p:sp>
      <p:sp>
        <p:nvSpPr>
          <p:cNvPr id="6" name="Text 4"/>
          <p:cNvSpPr txBox="1"/>
          <p:nvPr/>
        </p:nvSpPr>
        <p:spPr>
          <a:xfrm>
            <a:off x="2560320" y="2011680"/>
            <a:ext cx="4617720" cy="530352"/>
          </a:xfrm>
          <a:prstGeom prst="rect">
            <a:avLst/>
          </a:prstGeom>
          <a:noFill/>
          <a:ln/>
        </p:spPr>
        <p:txBody>
          <a:bodyPr wrap="square" lIns="0" tIns="0" rIns="0" bIns="0" rtlCol="0" anchor="ctr"/>
          <a:lstStyle/>
          <a:p>
            <a:pPr indent="0" marL="0">
              <a:buNone/>
            </a:pPr>
            <a:r>
              <a:rPr lang="en-US" sz="1400" dirty="0">
                <a:solidFill>
                  <a:srgbClr val="111111"/>
                </a:solidFill>
                <a:latin typeface="Arial" pitchFamily="34" charset="0"/>
                <a:ea typeface="Arial" pitchFamily="34" charset="-122"/>
                <a:cs typeface="Arial" pitchFamily="34" charset="-120"/>
              </a:rPr>
              <a:t>Adam, learning rate 1e-3, weight decay 1e-4</a:t>
            </a:r>
            <a:endParaRPr lang="en-US" sz="1400" dirty="0"/>
          </a:p>
        </p:txBody>
      </p:sp>
      <p:sp>
        <p:nvSpPr>
          <p:cNvPr id="7" name="Shape 5"/>
          <p:cNvSpPr/>
          <p:nvPr/>
        </p:nvSpPr>
        <p:spPr>
          <a:xfrm>
            <a:off x="457200" y="2615184"/>
            <a:ext cx="6766560" cy="530352"/>
          </a:xfrm>
          <a:prstGeom prst="rect">
            <a:avLst/>
          </a:prstGeom>
          <a:solidFill>
            <a:srgbClr val="FFFFFF"/>
          </a:solidFill>
          <a:ln w="12700">
            <a:solidFill>
              <a:srgbClr val="FFFFFF"/>
            </a:solidFill>
            <a:prstDash val="solid"/>
          </a:ln>
        </p:spPr>
      </p:sp>
      <p:sp>
        <p:nvSpPr>
          <p:cNvPr id="8" name="Text 6"/>
          <p:cNvSpPr txBox="1"/>
          <p:nvPr/>
        </p:nvSpPr>
        <p:spPr>
          <a:xfrm>
            <a:off x="594360" y="2615184"/>
            <a:ext cx="1920240" cy="530352"/>
          </a:xfrm>
          <a:prstGeom prst="rect">
            <a:avLst/>
          </a:prstGeom>
          <a:noFill/>
          <a:ln/>
        </p:spPr>
        <p:txBody>
          <a:bodyPr wrap="square" lIns="0" tIns="0" rIns="0" bIns="0" rtlCol="0" anchor="ctr"/>
          <a:lstStyle/>
          <a:p>
            <a:pPr indent="0" marL="0">
              <a:buNone/>
            </a:pPr>
            <a:r>
              <a:rPr lang="en-US" sz="1400" b="1" dirty="0">
                <a:solidFill>
                  <a:srgbClr val="0B5A3C"/>
                </a:solidFill>
                <a:latin typeface="Arial" pitchFamily="34" charset="0"/>
                <a:ea typeface="Arial" pitchFamily="34" charset="-122"/>
                <a:cs typeface="Arial" pitchFamily="34" charset="-120"/>
              </a:rPr>
              <a:t>Loss / batch</a:t>
            </a:r>
            <a:endParaRPr lang="en-US" sz="1400" dirty="0"/>
          </a:p>
        </p:txBody>
      </p:sp>
      <p:sp>
        <p:nvSpPr>
          <p:cNvPr id="9" name="Text 7"/>
          <p:cNvSpPr txBox="1"/>
          <p:nvPr/>
        </p:nvSpPr>
        <p:spPr>
          <a:xfrm>
            <a:off x="2560320" y="2615184"/>
            <a:ext cx="4617720" cy="530352"/>
          </a:xfrm>
          <a:prstGeom prst="rect">
            <a:avLst/>
          </a:prstGeom>
          <a:noFill/>
          <a:ln/>
        </p:spPr>
        <p:txBody>
          <a:bodyPr wrap="square" lIns="0" tIns="0" rIns="0" bIns="0" rtlCol="0" anchor="ctr"/>
          <a:lstStyle/>
          <a:p>
            <a:pPr indent="0" marL="0">
              <a:buNone/>
            </a:pPr>
            <a:r>
              <a:rPr lang="en-US" sz="1400" dirty="0">
                <a:solidFill>
                  <a:srgbClr val="111111"/>
                </a:solidFill>
                <a:latin typeface="Arial" pitchFamily="34" charset="0"/>
                <a:ea typeface="Arial" pitchFamily="34" charset="-122"/>
                <a:cs typeface="Arial" pitchFamily="34" charset="-120"/>
              </a:rPr>
              <a:t>Cross-entropy, batch size 32</a:t>
            </a:r>
            <a:endParaRPr lang="en-US" sz="1400" dirty="0"/>
          </a:p>
        </p:txBody>
      </p:sp>
      <p:sp>
        <p:nvSpPr>
          <p:cNvPr id="10" name="Shape 8"/>
          <p:cNvSpPr/>
          <p:nvPr/>
        </p:nvSpPr>
        <p:spPr>
          <a:xfrm>
            <a:off x="457200" y="3218688"/>
            <a:ext cx="6766560" cy="530352"/>
          </a:xfrm>
          <a:prstGeom prst="rect">
            <a:avLst/>
          </a:prstGeom>
          <a:solidFill>
            <a:srgbClr val="EEF5F1"/>
          </a:solidFill>
          <a:ln w="12700">
            <a:solidFill>
              <a:srgbClr val="EEF5F1"/>
            </a:solidFill>
            <a:prstDash val="solid"/>
          </a:ln>
        </p:spPr>
      </p:sp>
      <p:sp>
        <p:nvSpPr>
          <p:cNvPr id="11" name="Text 9"/>
          <p:cNvSpPr txBox="1"/>
          <p:nvPr/>
        </p:nvSpPr>
        <p:spPr>
          <a:xfrm>
            <a:off x="594360" y="3218688"/>
            <a:ext cx="1920240" cy="530352"/>
          </a:xfrm>
          <a:prstGeom prst="rect">
            <a:avLst/>
          </a:prstGeom>
          <a:noFill/>
          <a:ln/>
        </p:spPr>
        <p:txBody>
          <a:bodyPr wrap="square" lIns="0" tIns="0" rIns="0" bIns="0" rtlCol="0" anchor="ctr"/>
          <a:lstStyle/>
          <a:p>
            <a:pPr indent="0" marL="0">
              <a:buNone/>
            </a:pPr>
            <a:r>
              <a:rPr lang="en-US" sz="1400" b="1" dirty="0">
                <a:solidFill>
                  <a:srgbClr val="0B5A3C"/>
                </a:solidFill>
                <a:latin typeface="Arial" pitchFamily="34" charset="0"/>
                <a:ea typeface="Arial" pitchFamily="34" charset="-122"/>
                <a:cs typeface="Arial" pitchFamily="34" charset="-120"/>
              </a:rPr>
              <a:t>Schedule</a:t>
            </a:r>
            <a:endParaRPr lang="en-US" sz="1400" dirty="0"/>
          </a:p>
        </p:txBody>
      </p:sp>
      <p:sp>
        <p:nvSpPr>
          <p:cNvPr id="12" name="Text 10"/>
          <p:cNvSpPr txBox="1"/>
          <p:nvPr/>
        </p:nvSpPr>
        <p:spPr>
          <a:xfrm>
            <a:off x="2560320" y="3218688"/>
            <a:ext cx="4617720" cy="530352"/>
          </a:xfrm>
          <a:prstGeom prst="rect">
            <a:avLst/>
          </a:prstGeom>
          <a:noFill/>
          <a:ln/>
        </p:spPr>
        <p:txBody>
          <a:bodyPr wrap="square" lIns="0" tIns="0" rIns="0" bIns="0" rtlCol="0" anchor="ctr"/>
          <a:lstStyle/>
          <a:p>
            <a:pPr indent="0" marL="0">
              <a:buNone/>
            </a:pPr>
            <a:r>
              <a:rPr lang="en-US" sz="1400" dirty="0">
                <a:solidFill>
                  <a:srgbClr val="111111"/>
                </a:solidFill>
                <a:latin typeface="Arial" pitchFamily="34" charset="0"/>
                <a:ea typeface="Arial" pitchFamily="34" charset="-122"/>
                <a:cs typeface="Arial" pitchFamily="34" charset="-120"/>
              </a:rPr>
              <a:t>Up to 40 epochs; ReduceLROnPlateau (×0.5, patience 3)</a:t>
            </a:r>
            <a:endParaRPr lang="en-US" sz="1400" dirty="0"/>
          </a:p>
        </p:txBody>
      </p:sp>
      <p:sp>
        <p:nvSpPr>
          <p:cNvPr id="13" name="Shape 11"/>
          <p:cNvSpPr/>
          <p:nvPr/>
        </p:nvSpPr>
        <p:spPr>
          <a:xfrm>
            <a:off x="457200" y="3822192"/>
            <a:ext cx="6766560" cy="530352"/>
          </a:xfrm>
          <a:prstGeom prst="rect">
            <a:avLst/>
          </a:prstGeom>
          <a:solidFill>
            <a:srgbClr val="FFFFFF"/>
          </a:solidFill>
          <a:ln w="12700">
            <a:solidFill>
              <a:srgbClr val="FFFFFF"/>
            </a:solidFill>
            <a:prstDash val="solid"/>
          </a:ln>
        </p:spPr>
      </p:sp>
      <p:sp>
        <p:nvSpPr>
          <p:cNvPr id="14" name="Text 12"/>
          <p:cNvSpPr txBox="1"/>
          <p:nvPr/>
        </p:nvSpPr>
        <p:spPr>
          <a:xfrm>
            <a:off x="594360" y="3822192"/>
            <a:ext cx="1920240" cy="530352"/>
          </a:xfrm>
          <a:prstGeom prst="rect">
            <a:avLst/>
          </a:prstGeom>
          <a:noFill/>
          <a:ln/>
        </p:spPr>
        <p:txBody>
          <a:bodyPr wrap="square" lIns="0" tIns="0" rIns="0" bIns="0" rtlCol="0" anchor="ctr"/>
          <a:lstStyle/>
          <a:p>
            <a:pPr indent="0" marL="0">
              <a:buNone/>
            </a:pPr>
            <a:r>
              <a:rPr lang="en-US" sz="1400" b="1" dirty="0">
                <a:solidFill>
                  <a:srgbClr val="0B5A3C"/>
                </a:solidFill>
                <a:latin typeface="Arial" pitchFamily="34" charset="0"/>
                <a:ea typeface="Arial" pitchFamily="34" charset="-122"/>
                <a:cs typeface="Arial" pitchFamily="34" charset="-120"/>
              </a:rPr>
              <a:t>Model selection</a:t>
            </a:r>
            <a:endParaRPr lang="en-US" sz="1400" dirty="0"/>
          </a:p>
        </p:txBody>
      </p:sp>
      <p:sp>
        <p:nvSpPr>
          <p:cNvPr id="15" name="Text 13"/>
          <p:cNvSpPr txBox="1"/>
          <p:nvPr/>
        </p:nvSpPr>
        <p:spPr>
          <a:xfrm>
            <a:off x="2560320" y="3822192"/>
            <a:ext cx="4617720" cy="530352"/>
          </a:xfrm>
          <a:prstGeom prst="rect">
            <a:avLst/>
          </a:prstGeom>
          <a:noFill/>
          <a:ln/>
        </p:spPr>
        <p:txBody>
          <a:bodyPr wrap="square" lIns="0" tIns="0" rIns="0" bIns="0" rtlCol="0" anchor="ctr"/>
          <a:lstStyle/>
          <a:p>
            <a:pPr indent="0" marL="0">
              <a:buNone/>
            </a:pPr>
            <a:r>
              <a:rPr lang="en-US" sz="1400" dirty="0">
                <a:solidFill>
                  <a:srgbClr val="111111"/>
                </a:solidFill>
                <a:latin typeface="Arial" pitchFamily="34" charset="0"/>
                <a:ea typeface="Arial" pitchFamily="34" charset="-122"/>
                <a:cs typeface="Arial" pitchFamily="34" charset="-120"/>
              </a:rPr>
              <a:t>Early stopping (patience 10), best-validation checkpoint</a:t>
            </a:r>
            <a:endParaRPr lang="en-US" sz="1400" dirty="0"/>
          </a:p>
        </p:txBody>
      </p:sp>
      <p:sp>
        <p:nvSpPr>
          <p:cNvPr id="16" name="Shape 14"/>
          <p:cNvSpPr/>
          <p:nvPr/>
        </p:nvSpPr>
        <p:spPr>
          <a:xfrm>
            <a:off x="457200" y="4425696"/>
            <a:ext cx="6766560" cy="530352"/>
          </a:xfrm>
          <a:prstGeom prst="rect">
            <a:avLst/>
          </a:prstGeom>
          <a:solidFill>
            <a:srgbClr val="EEF5F1"/>
          </a:solidFill>
          <a:ln w="12700">
            <a:solidFill>
              <a:srgbClr val="EEF5F1"/>
            </a:solidFill>
            <a:prstDash val="solid"/>
          </a:ln>
        </p:spPr>
      </p:sp>
      <p:sp>
        <p:nvSpPr>
          <p:cNvPr id="17" name="Text 15"/>
          <p:cNvSpPr txBox="1"/>
          <p:nvPr/>
        </p:nvSpPr>
        <p:spPr>
          <a:xfrm>
            <a:off x="594360" y="4425696"/>
            <a:ext cx="1920240" cy="530352"/>
          </a:xfrm>
          <a:prstGeom prst="rect">
            <a:avLst/>
          </a:prstGeom>
          <a:noFill/>
          <a:ln/>
        </p:spPr>
        <p:txBody>
          <a:bodyPr wrap="square" lIns="0" tIns="0" rIns="0" bIns="0" rtlCol="0" anchor="ctr"/>
          <a:lstStyle/>
          <a:p>
            <a:pPr indent="0" marL="0">
              <a:buNone/>
            </a:pPr>
            <a:r>
              <a:rPr lang="en-US" sz="1400" b="1" dirty="0">
                <a:solidFill>
                  <a:srgbClr val="0B5A3C"/>
                </a:solidFill>
                <a:latin typeface="Arial" pitchFamily="34" charset="0"/>
                <a:ea typeface="Arial" pitchFamily="34" charset="-122"/>
                <a:cs typeface="Arial" pitchFamily="34" charset="-120"/>
              </a:rPr>
              <a:t>Reproducibility</a:t>
            </a:r>
            <a:endParaRPr lang="en-US" sz="1400" dirty="0"/>
          </a:p>
        </p:txBody>
      </p:sp>
      <p:sp>
        <p:nvSpPr>
          <p:cNvPr id="18" name="Text 16"/>
          <p:cNvSpPr txBox="1"/>
          <p:nvPr/>
        </p:nvSpPr>
        <p:spPr>
          <a:xfrm>
            <a:off x="2560320" y="4425696"/>
            <a:ext cx="4617720" cy="530352"/>
          </a:xfrm>
          <a:prstGeom prst="rect">
            <a:avLst/>
          </a:prstGeom>
          <a:noFill/>
          <a:ln/>
        </p:spPr>
        <p:txBody>
          <a:bodyPr wrap="square" lIns="0" tIns="0" rIns="0" bIns="0" rtlCol="0" anchor="ctr"/>
          <a:lstStyle/>
          <a:p>
            <a:pPr indent="0" marL="0">
              <a:buNone/>
            </a:pPr>
            <a:r>
              <a:rPr lang="en-US" sz="1400" dirty="0">
                <a:solidFill>
                  <a:srgbClr val="111111"/>
                </a:solidFill>
                <a:latin typeface="Arial" pitchFamily="34" charset="0"/>
                <a:ea typeface="Arial" pitchFamily="34" charset="-122"/>
                <a:cs typeface="Arial" pitchFamily="34" charset="-120"/>
              </a:rPr>
              <a:t>Seed 42 for Python, NumPy and PyTorch; deterministic cuDNN</a:t>
            </a:r>
            <a:endParaRPr lang="en-US" sz="1400" dirty="0"/>
          </a:p>
        </p:txBody>
      </p:sp>
      <p:sp>
        <p:nvSpPr>
          <p:cNvPr id="19" name="Shape 17"/>
          <p:cNvSpPr/>
          <p:nvPr/>
        </p:nvSpPr>
        <p:spPr>
          <a:xfrm>
            <a:off x="457200" y="5029200"/>
            <a:ext cx="6766560" cy="530352"/>
          </a:xfrm>
          <a:prstGeom prst="rect">
            <a:avLst/>
          </a:prstGeom>
          <a:solidFill>
            <a:srgbClr val="FFFFFF"/>
          </a:solidFill>
          <a:ln w="12700">
            <a:solidFill>
              <a:srgbClr val="FFFFFF"/>
            </a:solidFill>
            <a:prstDash val="solid"/>
          </a:ln>
        </p:spPr>
      </p:sp>
      <p:sp>
        <p:nvSpPr>
          <p:cNvPr id="20" name="Text 18"/>
          <p:cNvSpPr txBox="1"/>
          <p:nvPr/>
        </p:nvSpPr>
        <p:spPr>
          <a:xfrm>
            <a:off x="594360" y="5029200"/>
            <a:ext cx="1920240" cy="530352"/>
          </a:xfrm>
          <a:prstGeom prst="rect">
            <a:avLst/>
          </a:prstGeom>
          <a:noFill/>
          <a:ln/>
        </p:spPr>
        <p:txBody>
          <a:bodyPr wrap="square" lIns="0" tIns="0" rIns="0" bIns="0" rtlCol="0" anchor="ctr"/>
          <a:lstStyle/>
          <a:p>
            <a:pPr indent="0" marL="0">
              <a:buNone/>
            </a:pPr>
            <a:r>
              <a:rPr lang="en-US" sz="1400" b="1" dirty="0">
                <a:solidFill>
                  <a:srgbClr val="0B5A3C"/>
                </a:solidFill>
                <a:latin typeface="Arial" pitchFamily="34" charset="0"/>
                <a:ea typeface="Arial" pitchFamily="34" charset="-122"/>
                <a:cs typeface="Arial" pitchFamily="34" charset="-120"/>
              </a:rPr>
              <a:t>Hardware</a:t>
            </a:r>
            <a:endParaRPr lang="en-US" sz="1400" dirty="0"/>
          </a:p>
        </p:txBody>
      </p:sp>
      <p:sp>
        <p:nvSpPr>
          <p:cNvPr id="21" name="Text 19"/>
          <p:cNvSpPr txBox="1"/>
          <p:nvPr/>
        </p:nvSpPr>
        <p:spPr>
          <a:xfrm>
            <a:off x="2560320" y="5029200"/>
            <a:ext cx="4617720" cy="530352"/>
          </a:xfrm>
          <a:prstGeom prst="rect">
            <a:avLst/>
          </a:prstGeom>
          <a:noFill/>
          <a:ln/>
        </p:spPr>
        <p:txBody>
          <a:bodyPr wrap="square" lIns="0" tIns="0" rIns="0" bIns="0" rtlCol="0" anchor="ctr"/>
          <a:lstStyle/>
          <a:p>
            <a:pPr indent="0" marL="0">
              <a:buNone/>
            </a:pPr>
            <a:r>
              <a:rPr lang="en-US" sz="1400" dirty="0">
                <a:solidFill>
                  <a:srgbClr val="111111"/>
                </a:solidFill>
                <a:latin typeface="Arial" pitchFamily="34" charset="0"/>
                <a:ea typeface="Arial" pitchFamily="34" charset="-122"/>
                <a:cs typeface="Arial" pitchFamily="34" charset="-120"/>
              </a:rPr>
              <a:t>Google Colab, NVIDIA Tesla T4, PyTorch 2.11.0 (CUDA 13.0)</a:t>
            </a:r>
            <a:endParaRPr lang="en-US" sz="1400" dirty="0"/>
          </a:p>
        </p:txBody>
      </p:sp>
      <p:sp>
        <p:nvSpPr>
          <p:cNvPr id="22" name="metrics-card"/>
          <p:cNvSpPr/>
          <p:nvPr/>
        </p:nvSpPr>
        <p:spPr>
          <a:xfrm>
            <a:off x="7589520" y="2011680"/>
            <a:ext cx="4142232" cy="3566160"/>
          </a:xfrm>
          <a:prstGeom prst="roundRect">
            <a:avLst>
              <a:gd name="adj" fmla="val 2051"/>
            </a:avLst>
          </a:prstGeom>
          <a:solidFill>
            <a:srgbClr val="EEF5F1"/>
          </a:solidFill>
          <a:ln w="9525">
            <a:solidFill>
              <a:srgbClr val="EEF5F1"/>
            </a:solidFill>
            <a:prstDash val="solid"/>
          </a:ln>
        </p:spPr>
      </p:sp>
      <p:sp>
        <p:nvSpPr>
          <p:cNvPr id="23" name="Text 21"/>
          <p:cNvSpPr txBox="1"/>
          <p:nvPr/>
        </p:nvSpPr>
        <p:spPr>
          <a:xfrm>
            <a:off x="7818120" y="2148840"/>
            <a:ext cx="3657600" cy="347472"/>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Evaluation metrics</a:t>
            </a:r>
            <a:endParaRPr lang="en-US" sz="1600" dirty="0"/>
          </a:p>
        </p:txBody>
      </p:sp>
      <p:sp>
        <p:nvSpPr>
          <p:cNvPr id="24" name="Text 22"/>
          <p:cNvSpPr txBox="1"/>
          <p:nvPr/>
        </p:nvSpPr>
        <p:spPr>
          <a:xfrm>
            <a:off x="7818120" y="2560320"/>
            <a:ext cx="3749040" cy="2926080"/>
          </a:xfrm>
          <a:prstGeom prst="rect">
            <a:avLst/>
          </a:prstGeom>
          <a:noFill/>
          <a:ln/>
        </p:spPr>
        <p:txBody>
          <a:bodyPr wrap="square" lIns="635" tIns="635" rIns="635" bIns="635" rtlCol="0" anchor="t"/>
          <a:lstStyle/>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Accuracy</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Macro precision, recall and F1 (every class counts equally)</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Weighted F1</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Confusion matrix and per-class F1</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Trainable parameters and training time</a:t>
            </a:r>
            <a:endParaRPr lang="en-US" sz="1400" dirty="0"/>
          </a:p>
        </p:txBody>
      </p:sp>
      <p:sp>
        <p:nvSpPr>
          <p:cNvPr id="25" name="Text 23"/>
          <p:cNvSpPr txBox="1"/>
          <p:nvPr/>
        </p:nvSpPr>
        <p:spPr>
          <a:xfrm>
            <a:off x="7589520" y="5715000"/>
            <a:ext cx="4142232" cy="548640"/>
          </a:xfrm>
          <a:prstGeom prst="rect">
            <a:avLst/>
          </a:prstGeom>
          <a:noFill/>
          <a:ln/>
        </p:spPr>
        <p:txBody>
          <a:bodyPr wrap="square" lIns="0" tIns="0" rIns="0" bIns="0" rtlCol="0" anchor="t"/>
          <a:lstStyle/>
          <a:p>
            <a:pPr indent="0" marL="0">
              <a:buNone/>
            </a:pPr>
            <a:r>
              <a:rPr lang="en-US" sz="1300" b="1" dirty="0">
                <a:solidFill>
                  <a:srgbClr val="DD8452"/>
                </a:solidFill>
                <a:latin typeface="Arial" pitchFamily="34" charset="0"/>
                <a:ea typeface="Arial" pitchFamily="34" charset="-122"/>
                <a:cs typeface="Arial" pitchFamily="34" charset="-120"/>
              </a:rPr>
              <a:t>The test set is used once per model, after selection on validation data.</a:t>
            </a:r>
            <a:endParaRPr lang="en-US" sz="13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Results: Same 463-Image Test Set</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All approaches evaluated once on the identical held-out test set</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74552" cy="914400"/>
        </p:xfrm>
        <a:graphic>
          <a:graphicData uri="http://schemas.openxmlformats.org/drawingml/2006/table">
            <a:tbl>
              <a:tblPr/>
              <a:tblGrid>
                <a:gridCol w="4325112"/>
                <a:gridCol w="1691640"/>
                <a:gridCol w="1600200"/>
                <a:gridCol w="2011680"/>
                <a:gridCol w="1645920"/>
              </a:tblGrid>
              <a:tr h="566928">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Approach</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Test accuracy</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Macro F1</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Trainable parameters</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solidFill>
                      <a:srgbClr val="0B5A3C"/>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Training time</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solidFill>
                      <a:srgbClr val="0B5A3C"/>
                    </a:solidFill>
                  </a:tcPr>
                </a:tc>
              </a:tr>
              <a:tr h="566928">
                <a:tc>
                  <a:txBody>
                    <a:bodyPr/>
                    <a:lstStyle/>
                    <a:p>
                      <a:pPr algn="l" indent="0" marL="0">
                        <a:buNone/>
                      </a:pPr>
                      <a:r>
                        <a:rPr lang="en-US" sz="1400" dirty="0">
                          <a:solidFill>
                            <a:srgbClr val="111111"/>
                          </a:solidFill>
                          <a:latin typeface="Arial" pitchFamily="34" charset="0"/>
                          <a:ea typeface="Arial" pitchFamily="34" charset="-122"/>
                          <a:cs typeface="Arial" pitchFamily="34" charset="-120"/>
                        </a:rPr>
                        <a:t>1. SmallCNN from scratch</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70.19%</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50.78%</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133,178</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8.1 min</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tcPr>
                </a:tc>
              </a:tr>
              <a:tr h="566928">
                <a:tc>
                  <a:txBody>
                    <a:bodyPr/>
                    <a:lstStyle/>
                    <a:p>
                      <a:pPr algn="l" indent="0" marL="0">
                        <a:buNone/>
                      </a:pPr>
                      <a:r>
                        <a:rPr lang="en-US" sz="1400" dirty="0">
                          <a:solidFill>
                            <a:srgbClr val="111111"/>
                          </a:solidFill>
                          <a:latin typeface="Arial" pitchFamily="34" charset="0"/>
                          <a:ea typeface="Arial" pitchFamily="34" charset="-122"/>
                          <a:cs typeface="Arial" pitchFamily="34" charset="-120"/>
                        </a:rPr>
                        <a:t>2. ResNet-18, frozen backbone</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92.44%</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88.37%</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13,338</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5.5 min</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tcPr>
                </a:tc>
              </a:tr>
              <a:tr h="566928">
                <a:tc>
                  <a:txBody>
                    <a:bodyPr/>
                    <a:lstStyle/>
                    <a:p>
                      <a:pPr algn="l" indent="0" marL="0">
                        <a:buNone/>
                      </a:pPr>
                      <a:r>
                        <a:rPr lang="en-US" sz="1400" dirty="0">
                          <a:solidFill>
                            <a:srgbClr val="111111"/>
                          </a:solidFill>
                          <a:latin typeface="Arial" pitchFamily="34" charset="0"/>
                          <a:ea typeface="Arial" pitchFamily="34" charset="-122"/>
                          <a:cs typeface="Arial" pitchFamily="34" charset="-120"/>
                        </a:rPr>
                        <a:t>3. ResNet-18, fine-tuned (untuned baseline)</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98.06%</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96.80%</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11,189,850</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tcPr>
                </a:tc>
                <a:tc>
                  <a:txBody>
                    <a:bodyPr/>
                    <a:lstStyle/>
                    <a:p>
                      <a:pPr algn="ctr" indent="0" marL="0">
                        <a:buNone/>
                      </a:pPr>
                      <a:r>
                        <a:rPr lang="en-US" sz="1400" dirty="0">
                          <a:solidFill>
                            <a:srgbClr val="111111"/>
                          </a:solidFill>
                          <a:latin typeface="Arial" pitchFamily="34" charset="0"/>
                          <a:ea typeface="Arial" pitchFamily="34" charset="-122"/>
                          <a:cs typeface="Arial" pitchFamily="34" charset="-120"/>
                        </a:rPr>
                        <a:t>4.0 min</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tcPr>
                </a:tc>
              </a:tr>
              <a:tr h="566928">
                <a:tc>
                  <a:txBody>
                    <a:bodyPr/>
                    <a:lstStyle/>
                    <a:p>
                      <a:pPr algn="l" indent="0" marL="0">
                        <a:buNone/>
                      </a:pPr>
                      <a:r>
                        <a:rPr lang="en-US" sz="1400" b="1" dirty="0">
                          <a:solidFill>
                            <a:srgbClr val="111111"/>
                          </a:solidFill>
                          <a:latin typeface="Arial" pitchFamily="34" charset="0"/>
                          <a:ea typeface="Arial" pitchFamily="34" charset="-122"/>
                          <a:cs typeface="Arial" pitchFamily="34" charset="-120"/>
                        </a:rPr>
                        <a:t>3. ResNet-18, fine-tuned + tuned (FINAL MODEL)</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400" b="1" dirty="0">
                          <a:solidFill>
                            <a:srgbClr val="111111"/>
                          </a:solidFill>
                          <a:latin typeface="Arial" pitchFamily="34" charset="0"/>
                          <a:ea typeface="Arial" pitchFamily="34" charset="-122"/>
                          <a:cs typeface="Arial" pitchFamily="34" charset="-120"/>
                        </a:rPr>
                        <a:t>98.70%</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400" b="1" dirty="0">
                          <a:solidFill>
                            <a:srgbClr val="111111"/>
                          </a:solidFill>
                          <a:latin typeface="Arial" pitchFamily="34" charset="0"/>
                          <a:ea typeface="Arial" pitchFamily="34" charset="-122"/>
                          <a:cs typeface="Arial" pitchFamily="34" charset="-120"/>
                        </a:rPr>
                        <a:t>98.47%</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400" b="1" dirty="0">
                          <a:solidFill>
                            <a:srgbClr val="111111"/>
                          </a:solidFill>
                          <a:latin typeface="Arial" pitchFamily="34" charset="0"/>
                          <a:ea typeface="Arial" pitchFamily="34" charset="-122"/>
                          <a:cs typeface="Arial" pitchFamily="34" charset="-120"/>
                        </a:rPr>
                        <a:t>11,189,850</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solidFill>
                      <a:srgbClr val="FBEDE5"/>
                    </a:solidFill>
                  </a:tcPr>
                </a:tc>
                <a:tc>
                  <a:txBody>
                    <a:bodyPr/>
                    <a:lstStyle/>
                    <a:p>
                      <a:pPr algn="ctr" indent="0" marL="0">
                        <a:buNone/>
                      </a:pPr>
                      <a:r>
                        <a:rPr lang="en-US" sz="1400" b="1" dirty="0">
                          <a:solidFill>
                            <a:srgbClr val="111111"/>
                          </a:solidFill>
                          <a:latin typeface="Arial" pitchFamily="34" charset="0"/>
                          <a:ea typeface="Arial" pitchFamily="34" charset="-122"/>
                          <a:cs typeface="Arial" pitchFamily="34" charset="-120"/>
                        </a:rPr>
                        <a:t>5.5 min</a:t>
                      </a:r>
                      <a:endParaRPr lang="en-US" sz="1400" dirty="0">
                        <a:latin typeface="Arial" charset="0"/>
                        <a:ea typeface="Arial" charset="0"/>
                        <a:cs typeface="Arial" charset="0"/>
                      </a:endParaRPr>
                    </a:p>
                  </a:txBody>
                  <a:tcPr marL="91440" marR="91440" marT="45720" marB="45720" anchor="ctr">
                    <a:lnL w="9525" cap="flat" cmpd="sng" algn="ctr">
                      <a:solidFill>
                        <a:srgbClr val="C9DDD2"/>
                      </a:solidFill>
                      <a:prstDash val="solid"/>
                      <a:round/>
                      <a:headEnd type="none" w="med" len="med"/>
                      <a:tailEnd type="none" w="med" len="med"/>
                    </a:lnL>
                    <a:lnR w="9525" cap="flat" cmpd="sng" algn="ctr">
                      <a:solidFill>
                        <a:srgbClr val="C9DDD2"/>
                      </a:solidFill>
                      <a:prstDash val="solid"/>
                      <a:round/>
                      <a:headEnd type="none" w="med" len="med"/>
                      <a:tailEnd type="none" w="med" len="med"/>
                    </a:lnR>
                    <a:lnT w="9525" cap="flat" cmpd="sng" algn="ctr">
                      <a:solidFill>
                        <a:srgbClr val="C9DDD2"/>
                      </a:solidFill>
                      <a:prstDash val="solid"/>
                      <a:round/>
                      <a:headEnd type="none" w="med" len="med"/>
                      <a:tailEnd type="none" w="med" len="med"/>
                    </a:lnT>
                    <a:lnB w="9525" cap="flat" cmpd="sng" algn="ctr">
                      <a:solidFill>
                        <a:srgbClr val="C9DDD2"/>
                      </a:solidFill>
                      <a:prstDash val="solid"/>
                      <a:round/>
                      <a:headEnd type="none" w="med" len="med"/>
                      <a:tailEnd type="none" w="med" len="med"/>
                    </a:lnB>
                    <a:solidFill>
                      <a:srgbClr val="FBEDE5"/>
                    </a:solidFill>
                  </a:tcPr>
                </a:tc>
              </a:tr>
            </a:tbl>
          </a:graphicData>
        </a:graphic>
      </p:graphicFrame>
      <p:sp>
        <p:nvSpPr>
          <p:cNvPr id="5" name="Text 2"/>
          <p:cNvSpPr txBox="1"/>
          <p:nvPr/>
        </p:nvSpPr>
        <p:spPr>
          <a:xfrm>
            <a:off x="457200" y="5120640"/>
            <a:ext cx="3566160" cy="640080"/>
          </a:xfrm>
          <a:prstGeom prst="rect">
            <a:avLst/>
          </a:prstGeom>
          <a:noFill/>
          <a:ln/>
        </p:spPr>
        <p:txBody>
          <a:bodyPr wrap="square" lIns="0" tIns="0" rIns="0" bIns="0" rtlCol="0" anchor="b"/>
          <a:lstStyle/>
          <a:p>
            <a:pPr algn="ctr" indent="0" marL="0">
              <a:buNone/>
            </a:pPr>
            <a:r>
              <a:rPr lang="en-US" sz="2800" b="1" dirty="0">
                <a:solidFill>
                  <a:srgbClr val="DD8452"/>
                </a:solidFill>
                <a:latin typeface="Arial" pitchFamily="34" charset="0"/>
                <a:ea typeface="Arial" pitchFamily="34" charset="-122"/>
                <a:cs typeface="Arial" pitchFamily="34" charset="-120"/>
              </a:rPr>
              <a:t>457 / 463</a:t>
            </a:r>
            <a:endParaRPr lang="en-US" sz="2800" dirty="0"/>
          </a:p>
        </p:txBody>
      </p:sp>
      <p:sp>
        <p:nvSpPr>
          <p:cNvPr id="6" name="Text 3"/>
          <p:cNvSpPr txBox="1"/>
          <p:nvPr/>
        </p:nvSpPr>
        <p:spPr>
          <a:xfrm>
            <a:off x="457200" y="5779008"/>
            <a:ext cx="356616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test images correct (final model)</a:t>
            </a:r>
            <a:endParaRPr lang="en-US" sz="1200" dirty="0"/>
          </a:p>
        </p:txBody>
      </p:sp>
      <p:sp>
        <p:nvSpPr>
          <p:cNvPr id="7" name="Text 4"/>
          <p:cNvSpPr txBox="1"/>
          <p:nvPr/>
        </p:nvSpPr>
        <p:spPr>
          <a:xfrm>
            <a:off x="4297680" y="5120640"/>
            <a:ext cx="3566160" cy="640080"/>
          </a:xfrm>
          <a:prstGeom prst="rect">
            <a:avLst/>
          </a:prstGeom>
          <a:noFill/>
          <a:ln/>
        </p:spPr>
        <p:txBody>
          <a:bodyPr wrap="square" lIns="0" tIns="0" rIns="0" bIns="0" rtlCol="0" anchor="b"/>
          <a:lstStyle/>
          <a:p>
            <a:pPr algn="ctr" indent="0" marL="0">
              <a:buNone/>
            </a:pPr>
            <a:r>
              <a:rPr lang="en-US" sz="2800" b="1" dirty="0">
                <a:solidFill>
                  <a:srgbClr val="0B5A3C"/>
                </a:solidFill>
                <a:latin typeface="Arial" pitchFamily="34" charset="0"/>
                <a:ea typeface="Arial" pitchFamily="34" charset="-122"/>
                <a:cs typeface="Arial" pitchFamily="34" charset="-120"/>
              </a:rPr>
              <a:t>+22.25 pp</a:t>
            </a:r>
            <a:endParaRPr lang="en-US" sz="2800" dirty="0"/>
          </a:p>
        </p:txBody>
      </p:sp>
      <p:sp>
        <p:nvSpPr>
          <p:cNvPr id="8" name="Text 5"/>
          <p:cNvSpPr txBox="1"/>
          <p:nvPr/>
        </p:nvSpPr>
        <p:spPr>
          <a:xfrm>
            <a:off x="4297680" y="5779008"/>
            <a:ext cx="356616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accuracy: scratch → frozen</a:t>
            </a:r>
            <a:endParaRPr lang="en-US" sz="1200" dirty="0"/>
          </a:p>
        </p:txBody>
      </p:sp>
      <p:sp>
        <p:nvSpPr>
          <p:cNvPr id="9" name="Text 6"/>
          <p:cNvSpPr txBox="1"/>
          <p:nvPr/>
        </p:nvSpPr>
        <p:spPr>
          <a:xfrm>
            <a:off x="8165592" y="5120640"/>
            <a:ext cx="3566160" cy="640080"/>
          </a:xfrm>
          <a:prstGeom prst="rect">
            <a:avLst/>
          </a:prstGeom>
          <a:noFill/>
          <a:ln/>
        </p:spPr>
        <p:txBody>
          <a:bodyPr wrap="square" lIns="0" tIns="0" rIns="0" bIns="0" rtlCol="0" anchor="b"/>
          <a:lstStyle/>
          <a:p>
            <a:pPr algn="ctr" indent="0" marL="0">
              <a:buNone/>
            </a:pPr>
            <a:r>
              <a:rPr lang="en-US" sz="2800" b="1" dirty="0">
                <a:solidFill>
                  <a:srgbClr val="0B5A3C"/>
                </a:solidFill>
                <a:latin typeface="Arial" pitchFamily="34" charset="0"/>
                <a:ea typeface="Arial" pitchFamily="34" charset="-122"/>
                <a:cs typeface="Arial" pitchFamily="34" charset="-120"/>
              </a:rPr>
              <a:t>+8.43 pp</a:t>
            </a:r>
            <a:endParaRPr lang="en-US" sz="2800" dirty="0"/>
          </a:p>
        </p:txBody>
      </p:sp>
      <p:sp>
        <p:nvSpPr>
          <p:cNvPr id="10" name="Text 7"/>
          <p:cNvSpPr txBox="1"/>
          <p:nvPr/>
        </p:nvSpPr>
        <p:spPr>
          <a:xfrm>
            <a:off x="8165592" y="5779008"/>
            <a:ext cx="356616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macro F1: frozen → fine-tuned</a:t>
            </a:r>
            <a:endParaRPr lang="en-US" sz="12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Hyperparameter Tuning (Approach 3)</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2 × 2 grid: learning rate × weight decay, selected on validation data only</a:t>
            </a:r>
            <a:endParaRPr lang="en-US" sz="1400" dirty="0"/>
          </a:p>
        </p:txBody>
      </p:sp>
      <p:sp>
        <p:nvSpPr>
          <p:cNvPr id="4" name="Text 2"/>
          <p:cNvSpPr txBox="1"/>
          <p:nvPr/>
        </p:nvSpPr>
        <p:spPr>
          <a:xfrm>
            <a:off x="1874520" y="1965960"/>
            <a:ext cx="2240280" cy="274320"/>
          </a:xfrm>
          <a:prstGeom prst="rect">
            <a:avLst/>
          </a:prstGeom>
          <a:noFill/>
          <a:ln/>
        </p:spPr>
        <p:txBody>
          <a:bodyPr wrap="square" lIns="0" tIns="0" rIns="0" bIns="0" rtlCol="0" anchor="ctr"/>
          <a:lstStyle/>
          <a:p>
            <a:pPr algn="ctr" indent="0" marL="0">
              <a:buNone/>
            </a:pPr>
            <a:r>
              <a:rPr lang="en-US" sz="1200" b="1" dirty="0">
                <a:solidFill>
                  <a:srgbClr val="555555"/>
                </a:solidFill>
                <a:latin typeface="Arial" pitchFamily="34" charset="0"/>
                <a:ea typeface="Arial" pitchFamily="34" charset="-122"/>
                <a:cs typeface="Arial" pitchFamily="34" charset="-120"/>
              </a:rPr>
              <a:t>weight decay 1e-4</a:t>
            </a:r>
            <a:endParaRPr lang="en-US" sz="1200" dirty="0"/>
          </a:p>
        </p:txBody>
      </p:sp>
      <p:sp>
        <p:nvSpPr>
          <p:cNvPr id="5" name="Text 3"/>
          <p:cNvSpPr txBox="1"/>
          <p:nvPr/>
        </p:nvSpPr>
        <p:spPr>
          <a:xfrm>
            <a:off x="4251960" y="1965960"/>
            <a:ext cx="2240280" cy="274320"/>
          </a:xfrm>
          <a:prstGeom prst="rect">
            <a:avLst/>
          </a:prstGeom>
          <a:noFill/>
          <a:ln/>
        </p:spPr>
        <p:txBody>
          <a:bodyPr wrap="square" lIns="0" tIns="0" rIns="0" bIns="0" rtlCol="0" anchor="ctr"/>
          <a:lstStyle/>
          <a:p>
            <a:pPr algn="ctr" indent="0" marL="0">
              <a:buNone/>
            </a:pPr>
            <a:r>
              <a:rPr lang="en-US" sz="1200" b="1" dirty="0">
                <a:solidFill>
                  <a:srgbClr val="555555"/>
                </a:solidFill>
                <a:latin typeface="Arial" pitchFamily="34" charset="0"/>
                <a:ea typeface="Arial" pitchFamily="34" charset="-122"/>
                <a:cs typeface="Arial" pitchFamily="34" charset="-120"/>
              </a:rPr>
              <a:t>weight decay 1e-3</a:t>
            </a:r>
            <a:endParaRPr lang="en-US" sz="1200" dirty="0"/>
          </a:p>
        </p:txBody>
      </p:sp>
      <p:sp>
        <p:nvSpPr>
          <p:cNvPr id="6" name="Text 4"/>
          <p:cNvSpPr txBox="1"/>
          <p:nvPr/>
        </p:nvSpPr>
        <p:spPr>
          <a:xfrm>
            <a:off x="457200" y="2286000"/>
            <a:ext cx="1325880" cy="1600200"/>
          </a:xfrm>
          <a:prstGeom prst="rect">
            <a:avLst/>
          </a:prstGeom>
          <a:noFill/>
          <a:ln/>
        </p:spPr>
        <p:txBody>
          <a:bodyPr wrap="square" lIns="0" tIns="0" rIns="0" bIns="0" rtlCol="0" anchor="ctr"/>
          <a:lstStyle/>
          <a:p>
            <a:pPr algn="ctr" indent="0" marL="0">
              <a:buNone/>
            </a:pPr>
            <a:r>
              <a:rPr lang="en-US" sz="1200" b="1" dirty="0">
                <a:solidFill>
                  <a:srgbClr val="555555"/>
                </a:solidFill>
                <a:latin typeface="Arial" pitchFamily="34" charset="0"/>
                <a:ea typeface="Arial" pitchFamily="34" charset="-122"/>
                <a:cs typeface="Arial" pitchFamily="34" charset="-120"/>
              </a:rPr>
              <a:t>lr 1e-3</a:t>
            </a:r>
            <a:endParaRPr lang="en-US" sz="1200" dirty="0"/>
          </a:p>
        </p:txBody>
      </p:sp>
      <p:sp>
        <p:nvSpPr>
          <p:cNvPr id="7" name="Text 5"/>
          <p:cNvSpPr txBox="1"/>
          <p:nvPr/>
        </p:nvSpPr>
        <p:spPr>
          <a:xfrm>
            <a:off x="457200" y="4023360"/>
            <a:ext cx="1325880" cy="1600200"/>
          </a:xfrm>
          <a:prstGeom prst="rect">
            <a:avLst/>
          </a:prstGeom>
          <a:noFill/>
          <a:ln/>
        </p:spPr>
        <p:txBody>
          <a:bodyPr wrap="square" lIns="0" tIns="0" rIns="0" bIns="0" rtlCol="0" anchor="ctr"/>
          <a:lstStyle/>
          <a:p>
            <a:pPr algn="ctr" indent="0" marL="0">
              <a:buNone/>
            </a:pPr>
            <a:r>
              <a:rPr lang="en-US" sz="1200" b="1" dirty="0">
                <a:solidFill>
                  <a:srgbClr val="555555"/>
                </a:solidFill>
                <a:latin typeface="Arial" pitchFamily="34" charset="0"/>
                <a:ea typeface="Arial" pitchFamily="34" charset="-122"/>
                <a:cs typeface="Arial" pitchFamily="34" charset="-120"/>
              </a:rPr>
              <a:t>lr 1e-4</a:t>
            </a:r>
            <a:endParaRPr lang="en-US" sz="1200" dirty="0"/>
          </a:p>
        </p:txBody>
      </p:sp>
      <p:sp>
        <p:nvSpPr>
          <p:cNvPr id="8" name="Shape 6"/>
          <p:cNvSpPr/>
          <p:nvPr/>
        </p:nvSpPr>
        <p:spPr>
          <a:xfrm>
            <a:off x="1874520" y="2286000"/>
            <a:ext cx="2240280" cy="1600200"/>
          </a:xfrm>
          <a:prstGeom prst="roundRect">
            <a:avLst>
              <a:gd name="adj" fmla="val 4571"/>
            </a:avLst>
          </a:prstGeom>
          <a:solidFill>
            <a:srgbClr val="EEF5F1"/>
          </a:solidFill>
          <a:ln w="9525">
            <a:solidFill>
              <a:srgbClr val="C9DDD2"/>
            </a:solidFill>
            <a:prstDash val="solid"/>
          </a:ln>
        </p:spPr>
      </p:sp>
      <p:sp>
        <p:nvSpPr>
          <p:cNvPr id="9" name="Text 7"/>
          <p:cNvSpPr txBox="1"/>
          <p:nvPr/>
        </p:nvSpPr>
        <p:spPr>
          <a:xfrm>
            <a:off x="2011680" y="2395728"/>
            <a:ext cx="1965960" cy="1371600"/>
          </a:xfrm>
          <a:prstGeom prst="rect">
            <a:avLst/>
          </a:prstGeom>
          <a:noFill/>
          <a:ln/>
        </p:spPr>
        <p:txBody>
          <a:bodyPr wrap="square" lIns="0" tIns="0" rIns="0" bIns="0" rtlCol="0" anchor="t"/>
          <a:lstStyle/>
          <a:p>
            <a:pPr indent="0" marL="0">
              <a:buNone/>
            </a:pPr>
            <a:r>
              <a:rPr lang="en-US" sz="1400" b="1" dirty="0">
                <a:solidFill>
                  <a:srgbClr val="0B5A3C"/>
                </a:solidFill>
                <a:latin typeface="Arial" pitchFamily="34" charset="0"/>
                <a:ea typeface="Arial" pitchFamily="34" charset="-122"/>
                <a:cs typeface="Arial" pitchFamily="34" charset="-120"/>
              </a:rPr>
              <a:t>Config A</a:t>
            </a:r>
            <a:endParaRPr lang="en-US" sz="1400" dirty="0"/>
          </a:p>
          <a:p>
            <a:pPr indent="0" marL="0">
              <a:buNone/>
            </a:pPr>
            <a:r>
              <a:rPr lang="en-US" sz="1300" dirty="0">
                <a:solidFill>
                  <a:srgbClr val="111111"/>
                </a:solidFill>
                <a:latin typeface="Arial" pitchFamily="34" charset="0"/>
                <a:ea typeface="Arial" pitchFamily="34" charset="-122"/>
                <a:cs typeface="Arial" pitchFamily="34" charset="-120"/>
              </a:rPr>
              <a:t>val acc 99.78%</a:t>
            </a:r>
            <a:endParaRPr lang="en-US" sz="1400" dirty="0"/>
          </a:p>
          <a:p>
            <a:pPr indent="0" marL="0">
              <a:buNone/>
            </a:pPr>
            <a:r>
              <a:rPr lang="en-US" sz="1200" dirty="0">
                <a:solidFill>
                  <a:srgbClr val="555555"/>
                </a:solidFill>
                <a:latin typeface="Arial" pitchFamily="34" charset="0"/>
                <a:ea typeface="Arial" pitchFamily="34" charset="-122"/>
                <a:cs typeface="Arial" pitchFamily="34" charset="-120"/>
              </a:rPr>
              <a:t>(453 / 454)</a:t>
            </a:r>
            <a:endParaRPr lang="en-US" sz="1400" dirty="0"/>
          </a:p>
          <a:p>
            <a:pPr indent="0" marL="0">
              <a:buNone/>
            </a:pPr>
            <a:r>
              <a:rPr lang="en-US" sz="1300" dirty="0">
                <a:solidFill>
                  <a:srgbClr val="111111"/>
                </a:solidFill>
                <a:latin typeface="Arial" pitchFamily="34" charset="0"/>
                <a:ea typeface="Arial" pitchFamily="34" charset="-122"/>
                <a:cs typeface="Arial" pitchFamily="34" charset="-120"/>
              </a:rPr>
              <a:t>val loss 0.0290</a:t>
            </a:r>
            <a:endParaRPr lang="en-US" sz="1400" dirty="0"/>
          </a:p>
        </p:txBody>
      </p:sp>
      <p:sp>
        <p:nvSpPr>
          <p:cNvPr id="10" name="Shape 8"/>
          <p:cNvSpPr/>
          <p:nvPr/>
        </p:nvSpPr>
        <p:spPr>
          <a:xfrm>
            <a:off x="4251960" y="2286000"/>
            <a:ext cx="2240280" cy="1600200"/>
          </a:xfrm>
          <a:prstGeom prst="roundRect">
            <a:avLst>
              <a:gd name="adj" fmla="val 4571"/>
            </a:avLst>
          </a:prstGeom>
          <a:solidFill>
            <a:srgbClr val="FBEDE5"/>
          </a:solidFill>
          <a:ln w="25400">
            <a:solidFill>
              <a:srgbClr val="DD8452"/>
            </a:solidFill>
            <a:prstDash val="solid"/>
          </a:ln>
        </p:spPr>
      </p:sp>
      <p:sp>
        <p:nvSpPr>
          <p:cNvPr id="11" name="Text 9"/>
          <p:cNvSpPr txBox="1"/>
          <p:nvPr/>
        </p:nvSpPr>
        <p:spPr>
          <a:xfrm>
            <a:off x="4389120" y="2395728"/>
            <a:ext cx="1965960" cy="1371600"/>
          </a:xfrm>
          <a:prstGeom prst="rect">
            <a:avLst/>
          </a:prstGeom>
          <a:noFill/>
          <a:ln/>
        </p:spPr>
        <p:txBody>
          <a:bodyPr wrap="square" lIns="0" tIns="0" rIns="0" bIns="0" rtlCol="0" anchor="t"/>
          <a:lstStyle/>
          <a:p>
            <a:pPr indent="0" marL="0">
              <a:buNone/>
            </a:pPr>
            <a:r>
              <a:rPr lang="en-US" sz="1400" b="1" dirty="0">
                <a:solidFill>
                  <a:srgbClr val="DD8452"/>
                </a:solidFill>
                <a:latin typeface="Arial" pitchFamily="34" charset="0"/>
                <a:ea typeface="Arial" pitchFamily="34" charset="-122"/>
                <a:cs typeface="Arial" pitchFamily="34" charset="-120"/>
              </a:rPr>
              <a:t>Config B  ✓ selected</a:t>
            </a:r>
            <a:endParaRPr lang="en-US" sz="1400" dirty="0"/>
          </a:p>
          <a:p>
            <a:pPr indent="0" marL="0">
              <a:buNone/>
            </a:pPr>
            <a:r>
              <a:rPr lang="en-US" sz="1300" dirty="0">
                <a:solidFill>
                  <a:srgbClr val="111111"/>
                </a:solidFill>
                <a:latin typeface="Arial" pitchFamily="34" charset="0"/>
                <a:ea typeface="Arial" pitchFamily="34" charset="-122"/>
                <a:cs typeface="Arial" pitchFamily="34" charset="-120"/>
              </a:rPr>
              <a:t>val acc 99.78%</a:t>
            </a:r>
            <a:endParaRPr lang="en-US" sz="1400" dirty="0"/>
          </a:p>
          <a:p>
            <a:pPr indent="0" marL="0">
              <a:buNone/>
            </a:pPr>
            <a:r>
              <a:rPr lang="en-US" sz="1200" dirty="0">
                <a:solidFill>
                  <a:srgbClr val="555555"/>
                </a:solidFill>
                <a:latin typeface="Arial" pitchFamily="34" charset="0"/>
                <a:ea typeface="Arial" pitchFamily="34" charset="-122"/>
                <a:cs typeface="Arial" pitchFamily="34" charset="-120"/>
              </a:rPr>
              <a:t>(453 / 454)</a:t>
            </a:r>
            <a:endParaRPr lang="en-US" sz="1400" dirty="0"/>
          </a:p>
          <a:p>
            <a:pPr indent="0" marL="0">
              <a:buNone/>
            </a:pPr>
            <a:r>
              <a:rPr lang="en-US" sz="1300" b="1" dirty="0">
                <a:solidFill>
                  <a:srgbClr val="111111"/>
                </a:solidFill>
                <a:latin typeface="Arial" pitchFamily="34" charset="0"/>
                <a:ea typeface="Arial" pitchFamily="34" charset="-122"/>
                <a:cs typeface="Arial" pitchFamily="34" charset="-120"/>
              </a:rPr>
              <a:t>val loss 0.0280</a:t>
            </a:r>
            <a:endParaRPr lang="en-US" sz="1400" dirty="0"/>
          </a:p>
        </p:txBody>
      </p:sp>
      <p:sp>
        <p:nvSpPr>
          <p:cNvPr id="12" name="Shape 10"/>
          <p:cNvSpPr/>
          <p:nvPr/>
        </p:nvSpPr>
        <p:spPr>
          <a:xfrm>
            <a:off x="1874520" y="4023360"/>
            <a:ext cx="2240280" cy="1600200"/>
          </a:xfrm>
          <a:prstGeom prst="roundRect">
            <a:avLst>
              <a:gd name="adj" fmla="val 4571"/>
            </a:avLst>
          </a:prstGeom>
          <a:solidFill>
            <a:srgbClr val="EEF5F1"/>
          </a:solidFill>
          <a:ln w="9525">
            <a:solidFill>
              <a:srgbClr val="C9DDD2"/>
            </a:solidFill>
            <a:prstDash val="solid"/>
          </a:ln>
        </p:spPr>
      </p:sp>
      <p:sp>
        <p:nvSpPr>
          <p:cNvPr id="13" name="Text 11"/>
          <p:cNvSpPr txBox="1"/>
          <p:nvPr/>
        </p:nvSpPr>
        <p:spPr>
          <a:xfrm>
            <a:off x="2011680" y="4133088"/>
            <a:ext cx="1965960" cy="1371600"/>
          </a:xfrm>
          <a:prstGeom prst="rect">
            <a:avLst/>
          </a:prstGeom>
          <a:noFill/>
          <a:ln/>
        </p:spPr>
        <p:txBody>
          <a:bodyPr wrap="square" lIns="0" tIns="0" rIns="0" bIns="0" rtlCol="0" anchor="t"/>
          <a:lstStyle/>
          <a:p>
            <a:pPr indent="0" marL="0">
              <a:buNone/>
            </a:pPr>
            <a:r>
              <a:rPr lang="en-US" sz="1400" b="1" dirty="0">
                <a:solidFill>
                  <a:srgbClr val="0B5A3C"/>
                </a:solidFill>
                <a:latin typeface="Arial" pitchFamily="34" charset="0"/>
                <a:ea typeface="Arial" pitchFamily="34" charset="-122"/>
                <a:cs typeface="Arial" pitchFamily="34" charset="-120"/>
              </a:rPr>
              <a:t>Config C</a:t>
            </a:r>
            <a:endParaRPr lang="en-US" sz="1400" dirty="0"/>
          </a:p>
          <a:p>
            <a:pPr indent="0" marL="0">
              <a:buNone/>
            </a:pPr>
            <a:r>
              <a:rPr lang="en-US" sz="1300" dirty="0">
                <a:solidFill>
                  <a:srgbClr val="111111"/>
                </a:solidFill>
                <a:latin typeface="Arial" pitchFamily="34" charset="0"/>
                <a:ea typeface="Arial" pitchFamily="34" charset="-122"/>
                <a:cs typeface="Arial" pitchFamily="34" charset="-120"/>
              </a:rPr>
              <a:t>val acc 99.78%</a:t>
            </a:r>
            <a:endParaRPr lang="en-US" sz="1400" dirty="0"/>
          </a:p>
          <a:p>
            <a:pPr indent="0" marL="0">
              <a:buNone/>
            </a:pPr>
            <a:r>
              <a:rPr lang="en-US" sz="1200" dirty="0">
                <a:solidFill>
                  <a:srgbClr val="555555"/>
                </a:solidFill>
                <a:latin typeface="Arial" pitchFamily="34" charset="0"/>
                <a:ea typeface="Arial" pitchFamily="34" charset="-122"/>
                <a:cs typeface="Arial" pitchFamily="34" charset="-120"/>
              </a:rPr>
              <a:t>(453 / 454)</a:t>
            </a:r>
            <a:endParaRPr lang="en-US" sz="1400" dirty="0"/>
          </a:p>
          <a:p>
            <a:pPr indent="0" marL="0">
              <a:buNone/>
            </a:pPr>
            <a:r>
              <a:rPr lang="en-US" sz="1300" dirty="0">
                <a:solidFill>
                  <a:srgbClr val="111111"/>
                </a:solidFill>
                <a:latin typeface="Arial" pitchFamily="34" charset="0"/>
                <a:ea typeface="Arial" pitchFamily="34" charset="-122"/>
                <a:cs typeface="Arial" pitchFamily="34" charset="-120"/>
              </a:rPr>
              <a:t>val loss 0.0330</a:t>
            </a:r>
            <a:endParaRPr lang="en-US" sz="1400" dirty="0"/>
          </a:p>
        </p:txBody>
      </p:sp>
      <p:sp>
        <p:nvSpPr>
          <p:cNvPr id="14" name="Shape 12"/>
          <p:cNvSpPr/>
          <p:nvPr/>
        </p:nvSpPr>
        <p:spPr>
          <a:xfrm>
            <a:off x="4251960" y="4023360"/>
            <a:ext cx="2240280" cy="1600200"/>
          </a:xfrm>
          <a:prstGeom prst="roundRect">
            <a:avLst>
              <a:gd name="adj" fmla="val 4571"/>
            </a:avLst>
          </a:prstGeom>
          <a:solidFill>
            <a:srgbClr val="EEF5F1"/>
          </a:solidFill>
          <a:ln w="9525">
            <a:solidFill>
              <a:srgbClr val="C9DDD2"/>
            </a:solidFill>
            <a:prstDash val="solid"/>
          </a:ln>
        </p:spPr>
      </p:sp>
      <p:sp>
        <p:nvSpPr>
          <p:cNvPr id="15" name="Text 13"/>
          <p:cNvSpPr txBox="1"/>
          <p:nvPr/>
        </p:nvSpPr>
        <p:spPr>
          <a:xfrm>
            <a:off x="4389120" y="4133088"/>
            <a:ext cx="1965960" cy="1371600"/>
          </a:xfrm>
          <a:prstGeom prst="rect">
            <a:avLst/>
          </a:prstGeom>
          <a:noFill/>
          <a:ln/>
        </p:spPr>
        <p:txBody>
          <a:bodyPr wrap="square" lIns="0" tIns="0" rIns="0" bIns="0" rtlCol="0" anchor="t"/>
          <a:lstStyle/>
          <a:p>
            <a:pPr indent="0" marL="0">
              <a:buNone/>
            </a:pPr>
            <a:r>
              <a:rPr lang="en-US" sz="1400" b="1" dirty="0">
                <a:solidFill>
                  <a:srgbClr val="0B5A3C"/>
                </a:solidFill>
                <a:latin typeface="Arial" pitchFamily="34" charset="0"/>
                <a:ea typeface="Arial" pitchFamily="34" charset="-122"/>
                <a:cs typeface="Arial" pitchFamily="34" charset="-120"/>
              </a:rPr>
              <a:t>Config D</a:t>
            </a:r>
            <a:endParaRPr lang="en-US" sz="1400" dirty="0"/>
          </a:p>
          <a:p>
            <a:pPr indent="0" marL="0">
              <a:buNone/>
            </a:pPr>
            <a:r>
              <a:rPr lang="en-US" sz="1300" dirty="0">
                <a:solidFill>
                  <a:srgbClr val="111111"/>
                </a:solidFill>
                <a:latin typeface="Arial" pitchFamily="34" charset="0"/>
                <a:ea typeface="Arial" pitchFamily="34" charset="-122"/>
                <a:cs typeface="Arial" pitchFamily="34" charset="-120"/>
              </a:rPr>
              <a:t>val acc 99.78%</a:t>
            </a:r>
            <a:endParaRPr lang="en-US" sz="1400" dirty="0"/>
          </a:p>
          <a:p>
            <a:pPr indent="0" marL="0">
              <a:buNone/>
            </a:pPr>
            <a:r>
              <a:rPr lang="en-US" sz="1200" dirty="0">
                <a:solidFill>
                  <a:srgbClr val="555555"/>
                </a:solidFill>
                <a:latin typeface="Arial" pitchFamily="34" charset="0"/>
                <a:ea typeface="Arial" pitchFamily="34" charset="-122"/>
                <a:cs typeface="Arial" pitchFamily="34" charset="-120"/>
              </a:rPr>
              <a:t>(453 / 454)</a:t>
            </a:r>
            <a:endParaRPr lang="en-US" sz="1400" dirty="0"/>
          </a:p>
          <a:p>
            <a:pPr indent="0" marL="0">
              <a:buNone/>
            </a:pPr>
            <a:r>
              <a:rPr lang="en-US" sz="1300" dirty="0">
                <a:solidFill>
                  <a:srgbClr val="111111"/>
                </a:solidFill>
                <a:latin typeface="Arial" pitchFamily="34" charset="0"/>
                <a:ea typeface="Arial" pitchFamily="34" charset="-122"/>
                <a:cs typeface="Arial" pitchFamily="34" charset="-120"/>
              </a:rPr>
              <a:t>val loss 0.0324</a:t>
            </a:r>
            <a:endParaRPr lang="en-US" sz="1400" dirty="0"/>
          </a:p>
        </p:txBody>
      </p:sp>
      <p:sp>
        <p:nvSpPr>
          <p:cNvPr id="16" name="Text 14"/>
          <p:cNvSpPr txBox="1"/>
          <p:nvPr/>
        </p:nvSpPr>
        <p:spPr>
          <a:xfrm>
            <a:off x="6858000" y="2011680"/>
            <a:ext cx="4846320" cy="347472"/>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What happened</a:t>
            </a:r>
            <a:endParaRPr lang="en-US" sz="1600" dirty="0"/>
          </a:p>
        </p:txBody>
      </p:sp>
      <p:sp>
        <p:nvSpPr>
          <p:cNvPr id="17" name="Text 15"/>
          <p:cNvSpPr txBox="1"/>
          <p:nvPr/>
        </p:nvSpPr>
        <p:spPr>
          <a:xfrm>
            <a:off x="6858000" y="2423160"/>
            <a:ext cx="4873752" cy="3840480"/>
          </a:xfrm>
          <a:prstGeom prst="rect">
            <a:avLst/>
          </a:prstGeom>
          <a:noFill/>
          <a:ln/>
        </p:spPr>
        <p:txBody>
          <a:bodyPr wrap="square" lIns="635" tIns="635" rIns="635" bIns="635" rtlCol="0" anchor="t"/>
          <a:lstStyle/>
          <a:p>
            <a:pPr marL="342900" indent="-342900">
              <a:spcAft>
                <a:spcPts val="800"/>
              </a:spcAft>
              <a:buSzPct val="100000"/>
              <a:buChar char="•"/>
            </a:pPr>
            <a:r>
              <a:rPr lang="en-US" sz="1400" b="1" dirty="0">
                <a:solidFill>
                  <a:srgbClr val="111111"/>
                </a:solidFill>
                <a:latin typeface="Arial" pitchFamily="34" charset="0"/>
                <a:ea typeface="Arial" pitchFamily="34" charset="-122"/>
                <a:cs typeface="Arial" pitchFamily="34" charset="-120"/>
              </a:rPr>
              <a:t>All four configurations tied at 99.78% validation accuracy </a:t>
            </a:r>
            <a:pPr indent="0" marL="0">
              <a:spcAft>
                <a:spcPts val="800"/>
              </a:spcAft>
              <a:buNone/>
            </a:pPr>
            <a:r>
              <a:rPr lang="en-US" sz="1400" dirty="0">
                <a:solidFill>
                  <a:srgbClr val="111111"/>
                </a:solidFill>
                <a:latin typeface="Arial" pitchFamily="34" charset="0"/>
                <a:ea typeface="Arial" pitchFamily="34" charset="-122"/>
                <a:cs typeface="Arial" pitchFamily="34" charset="-120"/>
              </a:rPr>
              <a:t>(453 of 454)</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Config B selected by the pre-defined tie-break: lowest validation loss at its best epoch (0.02796)</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Test set evaluated once, after the choice: 98.06% → 98.70% (+0.65 pp = 3 more correct images)</a:t>
            </a:r>
            <a:endParaRPr lang="en-US" sz="1400" dirty="0"/>
          </a:p>
          <a:p>
            <a:pPr marL="342900" indent="-342900">
              <a:spcAft>
                <a:spcPts val="800"/>
              </a:spcAft>
              <a:buSzPct val="100000"/>
              <a:buChar char="•"/>
            </a:pPr>
            <a:r>
              <a:rPr lang="en-US" sz="1400" dirty="0">
                <a:solidFill>
                  <a:srgbClr val="111111"/>
                </a:solidFill>
                <a:latin typeface="Arial" pitchFamily="34" charset="0"/>
                <a:ea typeface="Arial" pitchFamily="34" charset="-122"/>
                <a:cs typeface="Arial" pitchFamily="34" charset="-120"/>
              </a:rPr>
              <a:t>Single run per configuration with one seed: the difference may be within run-to-run variation</a:t>
            </a:r>
            <a:endParaRPr lang="en-US" sz="14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Why Fine-Tuning ResNet-18 Performed Best</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Explained with course concepts</a:t>
            </a:r>
            <a:endParaRPr lang="en-US" sz="1400" dirty="0"/>
          </a:p>
        </p:txBody>
      </p:sp>
      <p:sp>
        <p:nvSpPr>
          <p:cNvPr id="4" name="why-0"/>
          <p:cNvSpPr/>
          <p:nvPr/>
        </p:nvSpPr>
        <p:spPr>
          <a:xfrm>
            <a:off x="457200" y="2011680"/>
            <a:ext cx="5559552" cy="1938528"/>
          </a:xfrm>
          <a:prstGeom prst="roundRect">
            <a:avLst>
              <a:gd name="adj" fmla="val 3774"/>
            </a:avLst>
          </a:prstGeom>
          <a:solidFill>
            <a:srgbClr val="EEF5F1"/>
          </a:solidFill>
          <a:ln w="9525">
            <a:solidFill>
              <a:srgbClr val="EEF5F1"/>
            </a:solidFill>
            <a:prstDash val="solid"/>
          </a:ln>
        </p:spPr>
      </p:sp>
      <p:sp>
        <p:nvSpPr>
          <p:cNvPr id="5" name="Shape 3"/>
          <p:cNvSpPr/>
          <p:nvPr/>
        </p:nvSpPr>
        <p:spPr>
          <a:xfrm>
            <a:off x="685800" y="2240280"/>
            <a:ext cx="438912" cy="438912"/>
          </a:xfrm>
          <a:prstGeom prst="ellipse">
            <a:avLst/>
          </a:prstGeom>
          <a:solidFill>
            <a:srgbClr val="0B5A3C"/>
          </a:solidFill>
          <a:ln w="12700">
            <a:solidFill>
              <a:srgbClr val="0B5A3C"/>
            </a:solidFill>
            <a:prstDash val="solid"/>
          </a:ln>
        </p:spPr>
      </p:sp>
      <p:sp>
        <p:nvSpPr>
          <p:cNvPr id="6" name="Text 4"/>
          <p:cNvSpPr txBox="1"/>
          <p:nvPr/>
        </p:nvSpPr>
        <p:spPr>
          <a:xfrm>
            <a:off x="685800" y="22402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txBox="1"/>
          <p:nvPr/>
        </p:nvSpPr>
        <p:spPr>
          <a:xfrm>
            <a:off x="1280160" y="2212848"/>
            <a:ext cx="4572000" cy="475488"/>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Transfer learning</a:t>
            </a:r>
            <a:endParaRPr lang="en-US" sz="1600" dirty="0"/>
          </a:p>
        </p:txBody>
      </p:sp>
      <p:sp>
        <p:nvSpPr>
          <p:cNvPr id="8" name="Text 6"/>
          <p:cNvSpPr txBox="1"/>
          <p:nvPr/>
        </p:nvSpPr>
        <p:spPr>
          <a:xfrm>
            <a:off x="731520" y="2788920"/>
            <a:ext cx="5074920" cy="1097280"/>
          </a:xfrm>
          <a:prstGeom prst="rect">
            <a:avLst/>
          </a:prstGeom>
          <a:noFill/>
          <a:ln/>
        </p:spPr>
        <p:txBody>
          <a:bodyPr wrap="square" lIns="0" tIns="0" rIns="0" bIns="0" rtlCol="0" anchor="t"/>
          <a:lstStyle/>
          <a:p>
            <a:pPr indent="0" marL="0">
              <a:buNone/>
            </a:pPr>
            <a:r>
              <a:rPr lang="en-US" sz="1400" dirty="0">
                <a:solidFill>
                  <a:srgbClr val="111111"/>
                </a:solidFill>
                <a:latin typeface="Arial" pitchFamily="34" charset="0"/>
                <a:ea typeface="Arial" pitchFamily="34" charset="-122"/>
                <a:cs typeface="Arial" pitchFamily="34" charset="-120"/>
              </a:rPr>
              <a:t>ImageNet features (edges, shapes, colours) cannot be learned well from 2,153 images. Frozen features alone lift accuracy from 70.19% to 92.44%.</a:t>
            </a:r>
            <a:endParaRPr lang="en-US" sz="1400" dirty="0"/>
          </a:p>
        </p:txBody>
      </p:sp>
      <p:sp>
        <p:nvSpPr>
          <p:cNvPr id="9" name="why-1"/>
          <p:cNvSpPr/>
          <p:nvPr/>
        </p:nvSpPr>
        <p:spPr>
          <a:xfrm>
            <a:off x="6172200" y="2011680"/>
            <a:ext cx="5559552" cy="1938528"/>
          </a:xfrm>
          <a:prstGeom prst="roundRect">
            <a:avLst>
              <a:gd name="adj" fmla="val 3774"/>
            </a:avLst>
          </a:prstGeom>
          <a:solidFill>
            <a:srgbClr val="EEF5F1"/>
          </a:solidFill>
          <a:ln w="9525">
            <a:solidFill>
              <a:srgbClr val="EEF5F1"/>
            </a:solidFill>
            <a:prstDash val="solid"/>
          </a:ln>
        </p:spPr>
      </p:sp>
      <p:sp>
        <p:nvSpPr>
          <p:cNvPr id="10" name="Shape 8"/>
          <p:cNvSpPr/>
          <p:nvPr/>
        </p:nvSpPr>
        <p:spPr>
          <a:xfrm>
            <a:off x="6400800" y="2240280"/>
            <a:ext cx="438912" cy="438912"/>
          </a:xfrm>
          <a:prstGeom prst="ellipse">
            <a:avLst/>
          </a:prstGeom>
          <a:solidFill>
            <a:srgbClr val="0B5A3C"/>
          </a:solidFill>
          <a:ln w="12700">
            <a:solidFill>
              <a:srgbClr val="0B5A3C"/>
            </a:solidFill>
            <a:prstDash val="solid"/>
          </a:ln>
        </p:spPr>
      </p:sp>
      <p:sp>
        <p:nvSpPr>
          <p:cNvPr id="11" name="Text 9"/>
          <p:cNvSpPr txBox="1"/>
          <p:nvPr/>
        </p:nvSpPr>
        <p:spPr>
          <a:xfrm>
            <a:off x="6400800" y="22402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2" name="Text 10"/>
          <p:cNvSpPr txBox="1"/>
          <p:nvPr/>
        </p:nvSpPr>
        <p:spPr>
          <a:xfrm>
            <a:off x="6995160" y="2212848"/>
            <a:ext cx="4572000" cy="475488"/>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Adapting the features</a:t>
            </a:r>
            <a:endParaRPr lang="en-US" sz="1600" dirty="0"/>
          </a:p>
        </p:txBody>
      </p:sp>
      <p:sp>
        <p:nvSpPr>
          <p:cNvPr id="13" name="Text 11"/>
          <p:cNvSpPr txBox="1"/>
          <p:nvPr/>
        </p:nvSpPr>
        <p:spPr>
          <a:xfrm>
            <a:off x="6446520" y="2788920"/>
            <a:ext cx="5074920" cy="1097280"/>
          </a:xfrm>
          <a:prstGeom prst="rect">
            <a:avLst/>
          </a:prstGeom>
          <a:noFill/>
          <a:ln/>
        </p:spPr>
        <p:txBody>
          <a:bodyPr wrap="square" lIns="0" tIns="0" rIns="0" bIns="0" rtlCol="0" anchor="t"/>
          <a:lstStyle/>
          <a:p>
            <a:pPr indent="0" marL="0">
              <a:buNone/>
            </a:pPr>
            <a:r>
              <a:rPr lang="en-US" sz="1400" dirty="0">
                <a:solidFill>
                  <a:srgbClr val="111111"/>
                </a:solidFill>
                <a:latin typeface="Arial" pitchFamily="34" charset="0"/>
                <a:ea typeface="Arial" pitchFamily="34" charset="-122"/>
                <a:cs typeface="Arial" pitchFamily="34" charset="-120"/>
              </a:rPr>
              <a:t>A frozen backbone only re-weights fixed features. Fine-tuning adapts every layer to Cambodian signs, which mostly helps rare and similar classes: macro F1 88.37% → 96.80%.</a:t>
            </a:r>
            <a:endParaRPr lang="en-US" sz="1400" dirty="0"/>
          </a:p>
        </p:txBody>
      </p:sp>
      <p:sp>
        <p:nvSpPr>
          <p:cNvPr id="14" name="why-2"/>
          <p:cNvSpPr/>
          <p:nvPr/>
        </p:nvSpPr>
        <p:spPr>
          <a:xfrm>
            <a:off x="457200" y="4114800"/>
            <a:ext cx="5559552" cy="1938528"/>
          </a:xfrm>
          <a:prstGeom prst="roundRect">
            <a:avLst>
              <a:gd name="adj" fmla="val 3774"/>
            </a:avLst>
          </a:prstGeom>
          <a:solidFill>
            <a:srgbClr val="EEF5F1"/>
          </a:solidFill>
          <a:ln w="9525">
            <a:solidFill>
              <a:srgbClr val="EEF5F1"/>
            </a:solidFill>
            <a:prstDash val="solid"/>
          </a:ln>
        </p:spPr>
      </p:sp>
      <p:sp>
        <p:nvSpPr>
          <p:cNvPr id="15" name="Shape 13"/>
          <p:cNvSpPr/>
          <p:nvPr/>
        </p:nvSpPr>
        <p:spPr>
          <a:xfrm>
            <a:off x="685800" y="4343400"/>
            <a:ext cx="438912" cy="438912"/>
          </a:xfrm>
          <a:prstGeom prst="ellipse">
            <a:avLst/>
          </a:prstGeom>
          <a:solidFill>
            <a:srgbClr val="0B5A3C"/>
          </a:solidFill>
          <a:ln w="12700">
            <a:solidFill>
              <a:srgbClr val="0B5A3C"/>
            </a:solidFill>
            <a:prstDash val="solid"/>
          </a:ln>
        </p:spPr>
      </p:sp>
      <p:sp>
        <p:nvSpPr>
          <p:cNvPr id="16" name="Text 14"/>
          <p:cNvSpPr txBox="1"/>
          <p:nvPr/>
        </p:nvSpPr>
        <p:spPr>
          <a:xfrm>
            <a:off x="685800" y="43434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7" name="Text 15"/>
          <p:cNvSpPr txBox="1"/>
          <p:nvPr/>
        </p:nvSpPr>
        <p:spPr>
          <a:xfrm>
            <a:off x="1280160" y="4315968"/>
            <a:ext cx="4572000" cy="475488"/>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Capacity vs. data</a:t>
            </a:r>
            <a:endParaRPr lang="en-US" sz="1600" dirty="0"/>
          </a:p>
        </p:txBody>
      </p:sp>
      <p:sp>
        <p:nvSpPr>
          <p:cNvPr id="18" name="Text 16"/>
          <p:cNvSpPr txBox="1"/>
          <p:nvPr/>
        </p:nvSpPr>
        <p:spPr>
          <a:xfrm>
            <a:off x="731520" y="4892040"/>
            <a:ext cx="5074920" cy="1097280"/>
          </a:xfrm>
          <a:prstGeom prst="rect">
            <a:avLst/>
          </a:prstGeom>
          <a:noFill/>
          <a:ln/>
        </p:spPr>
        <p:txBody>
          <a:bodyPr wrap="square" lIns="0" tIns="0" rIns="0" bIns="0" rtlCol="0" anchor="t"/>
          <a:lstStyle/>
          <a:p>
            <a:pPr indent="0" marL="0">
              <a:buNone/>
            </a:pPr>
            <a:r>
              <a:rPr lang="en-US" sz="1400" dirty="0">
                <a:solidFill>
                  <a:srgbClr val="111111"/>
                </a:solidFill>
                <a:latin typeface="Arial" pitchFamily="34" charset="0"/>
                <a:ea typeface="Arial" pitchFamily="34" charset="-122"/>
                <a:cs typeface="Arial" pitchFamily="34" charset="-120"/>
              </a:rPr>
              <a:t>SmallCNN underfits (limited capacity, trained from scratch). The 11.2M-parameter ResNet starts from good weights, so it fits without memorising.</a:t>
            </a:r>
            <a:endParaRPr lang="en-US" sz="1400" dirty="0"/>
          </a:p>
        </p:txBody>
      </p:sp>
      <p:sp>
        <p:nvSpPr>
          <p:cNvPr id="19" name="why-3"/>
          <p:cNvSpPr/>
          <p:nvPr/>
        </p:nvSpPr>
        <p:spPr>
          <a:xfrm>
            <a:off x="6172200" y="4114800"/>
            <a:ext cx="5559552" cy="1938528"/>
          </a:xfrm>
          <a:prstGeom prst="roundRect">
            <a:avLst>
              <a:gd name="adj" fmla="val 3774"/>
            </a:avLst>
          </a:prstGeom>
          <a:solidFill>
            <a:srgbClr val="EEF5F1"/>
          </a:solidFill>
          <a:ln w="9525">
            <a:solidFill>
              <a:srgbClr val="EEF5F1"/>
            </a:solidFill>
            <a:prstDash val="solid"/>
          </a:ln>
        </p:spPr>
      </p:sp>
      <p:sp>
        <p:nvSpPr>
          <p:cNvPr id="20" name="Shape 18"/>
          <p:cNvSpPr/>
          <p:nvPr/>
        </p:nvSpPr>
        <p:spPr>
          <a:xfrm>
            <a:off x="6400800" y="4343400"/>
            <a:ext cx="438912" cy="438912"/>
          </a:xfrm>
          <a:prstGeom prst="ellipse">
            <a:avLst/>
          </a:prstGeom>
          <a:solidFill>
            <a:srgbClr val="0B5A3C"/>
          </a:solidFill>
          <a:ln w="12700">
            <a:solidFill>
              <a:srgbClr val="0B5A3C"/>
            </a:solidFill>
            <a:prstDash val="solid"/>
          </a:ln>
        </p:spPr>
      </p:sp>
      <p:sp>
        <p:nvSpPr>
          <p:cNvPr id="21" name="Text 19"/>
          <p:cNvSpPr txBox="1"/>
          <p:nvPr/>
        </p:nvSpPr>
        <p:spPr>
          <a:xfrm>
            <a:off x="6400800" y="43434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txBox="1"/>
          <p:nvPr/>
        </p:nvSpPr>
        <p:spPr>
          <a:xfrm>
            <a:off x="6995160" y="4315968"/>
            <a:ext cx="4572000" cy="475488"/>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Regularisation</a:t>
            </a:r>
            <a:endParaRPr lang="en-US" sz="1600" dirty="0"/>
          </a:p>
        </p:txBody>
      </p:sp>
      <p:sp>
        <p:nvSpPr>
          <p:cNvPr id="23" name="Text 21"/>
          <p:cNvSpPr txBox="1"/>
          <p:nvPr/>
        </p:nvSpPr>
        <p:spPr>
          <a:xfrm>
            <a:off x="6446520" y="4892040"/>
            <a:ext cx="5074920" cy="1097280"/>
          </a:xfrm>
          <a:prstGeom prst="rect">
            <a:avLst/>
          </a:prstGeom>
          <a:noFill/>
          <a:ln/>
        </p:spPr>
        <p:txBody>
          <a:bodyPr wrap="square" lIns="0" tIns="0" rIns="0" bIns="0" rtlCol="0" anchor="t"/>
          <a:lstStyle/>
          <a:p>
            <a:pPr indent="0" marL="0">
              <a:buNone/>
            </a:pPr>
            <a:r>
              <a:rPr lang="en-US" sz="1400" dirty="0">
                <a:solidFill>
                  <a:srgbClr val="111111"/>
                </a:solidFill>
                <a:latin typeface="Arial" pitchFamily="34" charset="0"/>
                <a:ea typeface="Arial" pitchFamily="34" charset="-122"/>
                <a:cs typeface="Arial" pitchFamily="34" charset="-120"/>
              </a:rPr>
              <a:t>Pretrained initialisation, augmentation, weight decay, early stopping and the best-validation checkpoint keep overfitting mild.</a:t>
            </a:r>
            <a:endParaRPr lang="en-US" sz="14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Error Analysis: Final Model</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All 6 misclassified test images (of 463)</a:t>
            </a:r>
            <a:endParaRPr lang="en-US" sz="1400" dirty="0"/>
          </a:p>
        </p:txBody>
      </p:sp>
      <p:pic>
        <p:nvPicPr>
          <p:cNvPr id="4" name="error-gallery" descr="C:/Users/ASUS G 16 JVR/Desktop/deepLearning_CNN/results/final_model/misclassified_gallery.png">    </p:cNvPr>
          <p:cNvPicPr>
            <a:picLocks noChangeAspect="1"/>
          </p:cNvPicPr>
          <p:nvPr/>
        </p:nvPicPr>
        <p:blipFill>
          <a:blip r:embed="rId1"/>
          <a:stretch>
            <a:fillRect/>
          </a:stretch>
        </p:blipFill>
        <p:spPr>
          <a:xfrm>
            <a:off x="457200" y="1920240"/>
            <a:ext cx="5068389" cy="4434840"/>
          </a:xfrm>
          <a:prstGeom prst="rect">
            <a:avLst/>
          </a:prstGeom>
        </p:spPr>
      </p:pic>
      <p:sp>
        <p:nvSpPr>
          <p:cNvPr id="5" name="Text 2"/>
          <p:cNvSpPr txBox="1"/>
          <p:nvPr/>
        </p:nvSpPr>
        <p:spPr>
          <a:xfrm>
            <a:off x="5943600" y="1920240"/>
            <a:ext cx="2743200" cy="640080"/>
          </a:xfrm>
          <a:prstGeom prst="rect">
            <a:avLst/>
          </a:prstGeom>
          <a:noFill/>
          <a:ln/>
        </p:spPr>
        <p:txBody>
          <a:bodyPr wrap="square" lIns="0" tIns="0" rIns="0" bIns="0" rtlCol="0" anchor="b"/>
          <a:lstStyle/>
          <a:p>
            <a:pPr algn="ctr" indent="0" marL="0">
              <a:buNone/>
            </a:pPr>
            <a:r>
              <a:rPr lang="en-US" sz="2800" b="1" dirty="0">
                <a:solidFill>
                  <a:srgbClr val="DD8452"/>
                </a:solidFill>
                <a:latin typeface="Arial" pitchFamily="34" charset="0"/>
                <a:ea typeface="Arial" pitchFamily="34" charset="-122"/>
                <a:cs typeface="Arial" pitchFamily="34" charset="-120"/>
              </a:rPr>
              <a:t>457 / 463</a:t>
            </a:r>
            <a:endParaRPr lang="en-US" sz="2800" dirty="0"/>
          </a:p>
        </p:txBody>
      </p:sp>
      <p:sp>
        <p:nvSpPr>
          <p:cNvPr id="6" name="Text 3"/>
          <p:cNvSpPr txBox="1"/>
          <p:nvPr/>
        </p:nvSpPr>
        <p:spPr>
          <a:xfrm>
            <a:off x="5943600" y="2578608"/>
            <a:ext cx="274320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test images correct</a:t>
            </a:r>
            <a:endParaRPr lang="en-US" sz="1200" dirty="0"/>
          </a:p>
        </p:txBody>
      </p:sp>
      <p:sp>
        <p:nvSpPr>
          <p:cNvPr id="7" name="Text 4"/>
          <p:cNvSpPr txBox="1"/>
          <p:nvPr/>
        </p:nvSpPr>
        <p:spPr>
          <a:xfrm>
            <a:off x="8961120" y="1920240"/>
            <a:ext cx="2743200" cy="640080"/>
          </a:xfrm>
          <a:prstGeom prst="rect">
            <a:avLst/>
          </a:prstGeom>
          <a:noFill/>
          <a:ln/>
        </p:spPr>
        <p:txBody>
          <a:bodyPr wrap="square" lIns="0" tIns="0" rIns="0" bIns="0" rtlCol="0" anchor="b"/>
          <a:lstStyle/>
          <a:p>
            <a:pPr algn="ctr" indent="0" marL="0">
              <a:buNone/>
            </a:pPr>
            <a:r>
              <a:rPr lang="en-US" sz="2800" b="1" dirty="0">
                <a:solidFill>
                  <a:srgbClr val="0B5A3C"/>
                </a:solidFill>
                <a:latin typeface="Arial" pitchFamily="34" charset="0"/>
                <a:ea typeface="Arial" pitchFamily="34" charset="-122"/>
                <a:cs typeface="Arial" pitchFamily="34" charset="-120"/>
              </a:rPr>
              <a:t>16 / 26</a:t>
            </a:r>
            <a:endParaRPr lang="en-US" sz="2800" dirty="0"/>
          </a:p>
        </p:txBody>
      </p:sp>
      <p:sp>
        <p:nvSpPr>
          <p:cNvPr id="8" name="Text 5"/>
          <p:cNvSpPr txBox="1"/>
          <p:nvPr/>
        </p:nvSpPr>
        <p:spPr>
          <a:xfrm>
            <a:off x="8961120" y="2578608"/>
            <a:ext cx="274320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classes with perfect F1</a:t>
            </a:r>
            <a:endParaRPr lang="en-US" sz="1200" dirty="0"/>
          </a:p>
        </p:txBody>
      </p:sp>
      <p:sp>
        <p:nvSpPr>
          <p:cNvPr id="9" name="Text 6"/>
          <p:cNvSpPr txBox="1"/>
          <p:nvPr/>
        </p:nvSpPr>
        <p:spPr>
          <a:xfrm>
            <a:off x="5943600" y="3246120"/>
            <a:ext cx="5760720" cy="347472"/>
          </a:xfrm>
          <a:prstGeom prst="rect">
            <a:avLst/>
          </a:prstGeom>
          <a:noFill/>
          <a:ln/>
        </p:spPr>
        <p:txBody>
          <a:bodyPr wrap="square" lIns="0" tIns="0" rIns="0" bIns="0" rtlCol="0" anchor="ctr"/>
          <a:lstStyle/>
          <a:p>
            <a:pPr indent="0" marL="0">
              <a:buNone/>
            </a:pPr>
            <a:r>
              <a:rPr lang="en-US" sz="1600" b="1" dirty="0">
                <a:solidFill>
                  <a:srgbClr val="8172B2"/>
                </a:solidFill>
                <a:latin typeface="Arial" pitchFamily="34" charset="0"/>
                <a:ea typeface="Arial" pitchFamily="34" charset="-122"/>
                <a:cs typeface="Arial" pitchFamily="34" charset="-120"/>
              </a:rPr>
              <a:t>3 probable annotation errors (purple)</a:t>
            </a:r>
            <a:endParaRPr lang="en-US" sz="1600" dirty="0"/>
          </a:p>
        </p:txBody>
      </p:sp>
      <p:sp>
        <p:nvSpPr>
          <p:cNvPr id="10" name="Text 7"/>
          <p:cNvSpPr txBox="1"/>
          <p:nvPr/>
        </p:nvSpPr>
        <p:spPr>
          <a:xfrm>
            <a:off x="5943600" y="3611880"/>
            <a:ext cx="5788152" cy="1051560"/>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These examples appear to be annotation errors based on visual inspection and comparison with the original dataset annotations: the model predicted the sign that is visible. Metrics are not adjusted.</a:t>
            </a:r>
            <a:endParaRPr lang="en-US" sz="1300" dirty="0"/>
          </a:p>
        </p:txBody>
      </p:sp>
      <p:sp>
        <p:nvSpPr>
          <p:cNvPr id="11" name="Text 8"/>
          <p:cNvSpPr txBox="1"/>
          <p:nvPr/>
        </p:nvSpPr>
        <p:spPr>
          <a:xfrm>
            <a:off x="5943600" y="4709160"/>
            <a:ext cx="5760720" cy="347472"/>
          </a:xfrm>
          <a:prstGeom prst="rect">
            <a:avLst/>
          </a:prstGeom>
          <a:noFill/>
          <a:ln/>
        </p:spPr>
        <p:txBody>
          <a:bodyPr wrap="square" lIns="0" tIns="0" rIns="0" bIns="0" rtlCol="0" anchor="ctr"/>
          <a:lstStyle/>
          <a:p>
            <a:pPr indent="0" marL="0">
              <a:buNone/>
            </a:pPr>
            <a:r>
              <a:rPr lang="en-US" sz="1600" b="1" dirty="0">
                <a:solidFill>
                  <a:srgbClr val="C44E52"/>
                </a:solidFill>
                <a:latin typeface="Arial" pitchFamily="34" charset="0"/>
                <a:ea typeface="Arial" pitchFamily="34" charset="-122"/>
                <a:cs typeface="Arial" pitchFamily="34" charset="-120"/>
              </a:rPr>
              <a:t>3 model errors (red)</a:t>
            </a:r>
            <a:endParaRPr lang="en-US" sz="1600" dirty="0"/>
          </a:p>
        </p:txBody>
      </p:sp>
      <p:sp>
        <p:nvSpPr>
          <p:cNvPr id="12" name="Text 9"/>
          <p:cNvSpPr txBox="1"/>
          <p:nvPr/>
        </p:nvSpPr>
        <p:spPr>
          <a:xfrm>
            <a:off x="5943600" y="5074920"/>
            <a:ext cx="5788152" cy="1280160"/>
          </a:xfrm>
          <a:prstGeom prst="rect">
            <a:avLst/>
          </a:prstGeom>
          <a:noFill/>
          <a:ln/>
        </p:spPr>
        <p:txBody>
          <a:bodyPr wrap="square" lIns="635" tIns="635" rIns="635" bIns="635" rtlCol="0" anchor="t"/>
          <a:lstStyle/>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Priority road → cross road: visually similar symbols (confidence 0.84)</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Tiny, blurred no-entry sign: 39 × 39 px (confidence 0.32)</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Priority road covered by branches (confidence 0.25)</a:t>
            </a:r>
            <a:endParaRPr lang="en-US" sz="13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Why Random Photo Splits Can Be Optimistic</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Most photos are video frames: the same sign can appear in training and test a moment apart</a:t>
            </a:r>
            <a:endParaRPr lang="en-US" sz="1400" dirty="0"/>
          </a:p>
        </p:txBody>
      </p:sp>
      <p:sp>
        <p:nvSpPr>
          <p:cNvPr id="4" name="original-split-card"/>
          <p:cNvSpPr/>
          <p:nvPr/>
        </p:nvSpPr>
        <p:spPr>
          <a:xfrm>
            <a:off x="457200" y="2011680"/>
            <a:ext cx="4572000" cy="4251960"/>
          </a:xfrm>
          <a:prstGeom prst="roundRect">
            <a:avLst>
              <a:gd name="adj" fmla="val 1720"/>
            </a:avLst>
          </a:prstGeom>
          <a:solidFill>
            <a:srgbClr val="EEF5F1"/>
          </a:solidFill>
          <a:ln w="9525">
            <a:solidFill>
              <a:srgbClr val="EEF5F1"/>
            </a:solidFill>
            <a:prstDash val="solid"/>
          </a:ln>
        </p:spPr>
      </p:sp>
      <p:sp>
        <p:nvSpPr>
          <p:cNvPr id="5" name="Text 3"/>
          <p:cNvSpPr txBox="1"/>
          <p:nvPr/>
        </p:nvSpPr>
        <p:spPr>
          <a:xfrm>
            <a:off x="685800" y="2148840"/>
            <a:ext cx="4206240" cy="347472"/>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Original split (photo-level, seed 42)</a:t>
            </a:r>
            <a:endParaRPr lang="en-US" sz="1600" dirty="0"/>
          </a:p>
        </p:txBody>
      </p:sp>
      <p:sp>
        <p:nvSpPr>
          <p:cNvPr id="6" name="Text 4"/>
          <p:cNvSpPr txBox="1"/>
          <p:nvPr/>
        </p:nvSpPr>
        <p:spPr>
          <a:xfrm>
            <a:off x="685800" y="2606040"/>
            <a:ext cx="4114800" cy="640080"/>
          </a:xfrm>
          <a:prstGeom prst="rect">
            <a:avLst/>
          </a:prstGeom>
          <a:noFill/>
          <a:ln/>
        </p:spPr>
        <p:txBody>
          <a:bodyPr wrap="square" lIns="0" tIns="0" rIns="0" bIns="0" rtlCol="0" anchor="b"/>
          <a:lstStyle/>
          <a:p>
            <a:pPr algn="ctr" indent="0" marL="0">
              <a:buNone/>
            </a:pPr>
            <a:r>
              <a:rPr lang="en-US" sz="3000" b="1" dirty="0">
                <a:solidFill>
                  <a:srgbClr val="DD8452"/>
                </a:solidFill>
                <a:latin typeface="Arial" pitchFamily="34" charset="0"/>
                <a:ea typeface="Arial" pitchFamily="34" charset="-122"/>
                <a:cs typeface="Arial" pitchFamily="34" charset="-120"/>
              </a:rPr>
              <a:t>84 / 463</a:t>
            </a:r>
            <a:endParaRPr lang="en-US" sz="3000" dirty="0"/>
          </a:p>
        </p:txBody>
      </p:sp>
      <p:sp>
        <p:nvSpPr>
          <p:cNvPr id="7" name="Text 5"/>
          <p:cNvSpPr txBox="1"/>
          <p:nvPr/>
        </p:nvSpPr>
        <p:spPr>
          <a:xfrm>
            <a:off x="685800" y="3264408"/>
            <a:ext cx="411480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test crops (18.1%) with a same-class training frame from the same video ≤ 2 s away</a:t>
            </a:r>
            <a:endParaRPr lang="en-US" sz="1200" dirty="0"/>
          </a:p>
        </p:txBody>
      </p:sp>
      <p:sp>
        <p:nvSpPr>
          <p:cNvPr id="8" name="Text 6"/>
          <p:cNvSpPr txBox="1"/>
          <p:nvPr/>
        </p:nvSpPr>
        <p:spPr>
          <a:xfrm>
            <a:off x="685800" y="3886200"/>
            <a:ext cx="4160520" cy="2286000"/>
          </a:xfrm>
          <a:prstGeom prst="rect">
            <a:avLst/>
          </a:prstGeom>
          <a:noFill/>
          <a:ln/>
        </p:spPr>
        <p:txBody>
          <a:bodyPr wrap="square" lIns="635" tIns="635" rIns="635" bIns="635" rtlCol="0" anchor="t"/>
          <a:lstStyle/>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Accuracy on those 84: 98.81%; on the other 379: 98.68%</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So they do not explain the 98.70%, but the test set is not fully independent of training</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Near-duplicate ≠ proof of memorisation</a:t>
            </a:r>
            <a:endParaRPr lang="en-US" sz="1300" dirty="0"/>
          </a:p>
        </p:txBody>
      </p:sp>
      <p:sp>
        <p:nvSpPr>
          <p:cNvPr id="9" name="Text 7"/>
          <p:cNvSpPr txBox="1"/>
          <p:nvPr/>
        </p:nvSpPr>
        <p:spPr>
          <a:xfrm>
            <a:off x="5349240" y="2011680"/>
            <a:ext cx="6309360" cy="347472"/>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Grouped evaluation by drive</a:t>
            </a:r>
            <a:endParaRPr lang="en-US" sz="1600" dirty="0"/>
          </a:p>
        </p:txBody>
      </p:sp>
      <p:sp>
        <p:nvSpPr>
          <p:cNvPr id="10" name="Text 8"/>
          <p:cNvSpPr txBox="1"/>
          <p:nvPr/>
        </p:nvSpPr>
        <p:spPr>
          <a:xfrm>
            <a:off x="5349240" y="2395728"/>
            <a:ext cx="6355080" cy="1600200"/>
          </a:xfrm>
          <a:prstGeom prst="rect">
            <a:avLst/>
          </a:prstGeom>
          <a:noFill/>
          <a:ln/>
        </p:spPr>
        <p:txBody>
          <a:bodyPr wrap="square" lIns="635" tIns="635" rIns="635" bIns="635" rtlCol="0" anchor="t"/>
          <a:lstStyle/>
          <a:p>
            <a:pPr marL="342900" indent="-342900">
              <a:spcAft>
                <a:spcPts val="800"/>
              </a:spcAft>
              <a:buSzPct val="100000"/>
              <a:buChar char="•"/>
            </a:pPr>
            <a:r>
              <a:rPr lang="en-US" sz="1300" b="1" dirty="0">
                <a:solidFill>
                  <a:srgbClr val="111111"/>
                </a:solidFill>
                <a:latin typeface="Arial" pitchFamily="34" charset="0"/>
                <a:ea typeface="Arial" pitchFamily="34" charset="-122"/>
                <a:cs typeface="Arial" pitchFamily="34" charset="-120"/>
              </a:rPr>
              <a:t>20 drive clusters </a:t>
            </a:r>
            <a:pPr indent="0" marL="0">
              <a:spcAft>
                <a:spcPts val="800"/>
              </a:spcAft>
              <a:buNone/>
            </a:pPr>
            <a:r>
              <a:rPr lang="en-US" sz="1300" dirty="0">
                <a:solidFill>
                  <a:srgbClr val="111111"/>
                </a:solidFill>
                <a:latin typeface="Arial" pitchFamily="34" charset="0"/>
                <a:ea typeface="Arial" pitchFamily="34" charset="-122"/>
                <a:cs typeface="Arial" pitchFamily="34" charset="-120"/>
              </a:rPr>
              <a:t>from file names + near-identical frames (no EXIF data)</a:t>
            </a:r>
            <a:endParaRPr lang="en-US" sz="1300" dirty="0"/>
          </a:p>
          <a:p>
            <a:pPr marL="342900" indent="-342900">
              <a:spcAft>
                <a:spcPts val="800"/>
              </a:spcAft>
              <a:buSzPct val="100000"/>
              <a:buChar char="•"/>
            </a:pPr>
            <a:r>
              <a:rPr lang="en-US" sz="1300" b="1" dirty="0">
                <a:solidFill>
                  <a:srgbClr val="111111"/>
                </a:solidFill>
                <a:latin typeface="Arial" pitchFamily="34" charset="0"/>
                <a:ea typeface="Arial" pitchFamily="34" charset="-122"/>
                <a:cs typeface="Arial" pitchFamily="34" charset="-120"/>
              </a:rPr>
              <a:t>5 folds </a:t>
            </a:r>
            <a:pPr indent="0" marL="0">
              <a:spcAft>
                <a:spcPts val="800"/>
              </a:spcAft>
              <a:buNone/>
            </a:pPr>
            <a:r>
              <a:rPr lang="en-US" sz="1300" dirty="0">
                <a:solidFill>
                  <a:srgbClr val="111111"/>
                </a:solidFill>
                <a:latin typeface="Arial" pitchFamily="34" charset="0"/>
                <a:ea typeface="Arial" pitchFamily="34" charset="-122"/>
                <a:cs typeface="Arial" pitchFamily="34" charset="-120"/>
              </a:rPr>
              <a:t>of whole clusters; every cluster is a test fold exactly once</a:t>
            </a:r>
            <a:endParaRPr lang="en-US" sz="1300" dirty="0"/>
          </a:p>
          <a:p>
            <a:pPr marL="342900" indent="-342900">
              <a:spcAft>
                <a:spcPts val="800"/>
              </a:spcAft>
              <a:buSzPct val="100000"/>
              <a:buChar char="•"/>
            </a:pPr>
            <a:r>
              <a:rPr lang="en-US" sz="1300" b="1" dirty="0">
                <a:solidFill>
                  <a:srgbClr val="111111"/>
                </a:solidFill>
                <a:latin typeface="Arial" pitchFamily="34" charset="0"/>
                <a:ea typeface="Arial" pitchFamily="34" charset="-122"/>
                <a:cs typeface="Arial" pitchFamily="34" charset="-120"/>
              </a:rPr>
              <a:t>Same final configuration, 3 seeds </a:t>
            </a:r>
            <a:pPr indent="0" marL="0">
              <a:spcAft>
                <a:spcPts val="800"/>
              </a:spcAft>
              <a:buNone/>
            </a:pPr>
            <a:r>
              <a:rPr lang="en-US" sz="1300" dirty="0">
                <a:solidFill>
                  <a:srgbClr val="111111"/>
                </a:solidFill>
                <a:latin typeface="Arial" pitchFamily="34" charset="0"/>
                <a:ea typeface="Arial" pitchFamily="34" charset="-122"/>
                <a:cs typeface="Arial" pitchFamily="34" charset="-120"/>
              </a:rPr>
              <a:t>(42, 43, 44): 15 runs, no tuning</a:t>
            </a:r>
            <a:endParaRPr lang="en-US" sz="1300" dirty="0"/>
          </a:p>
        </p:txBody>
      </p:sp>
      <p:sp>
        <p:nvSpPr>
          <p:cNvPr id="11" name="Shape 9"/>
          <p:cNvSpPr/>
          <p:nvPr/>
        </p:nvSpPr>
        <p:spPr>
          <a:xfrm>
            <a:off x="5349240" y="4160520"/>
            <a:ext cx="1965960" cy="960120"/>
          </a:xfrm>
          <a:prstGeom prst="roundRect">
            <a:avLst>
              <a:gd name="adj" fmla="val 7619"/>
            </a:avLst>
          </a:prstGeom>
          <a:solidFill>
            <a:srgbClr val="FBEDE5"/>
          </a:solidFill>
          <a:ln w="15875">
            <a:solidFill>
              <a:srgbClr val="DD8452"/>
            </a:solidFill>
            <a:prstDash val="solid"/>
          </a:ln>
        </p:spPr>
      </p:sp>
      <p:sp>
        <p:nvSpPr>
          <p:cNvPr id="12" name="Text 10"/>
          <p:cNvSpPr txBox="1"/>
          <p:nvPr/>
        </p:nvSpPr>
        <p:spPr>
          <a:xfrm>
            <a:off x="5349240" y="4160520"/>
            <a:ext cx="1965960" cy="960120"/>
          </a:xfrm>
          <a:prstGeom prst="rect">
            <a:avLst/>
          </a:prstGeom>
          <a:noFill/>
          <a:ln/>
        </p:spPr>
        <p:txBody>
          <a:bodyPr wrap="square" lIns="0" tIns="0" rIns="0" bIns="0" rtlCol="0" anchor="ctr"/>
          <a:lstStyle/>
          <a:p>
            <a:pPr algn="ctr" indent="0" marL="0">
              <a:buNone/>
            </a:pPr>
            <a:r>
              <a:rPr lang="en-US" sz="1500" b="1" dirty="0">
                <a:solidFill>
                  <a:srgbClr val="DD8452"/>
                </a:solidFill>
                <a:latin typeface="Arial" pitchFamily="34" charset="0"/>
                <a:ea typeface="Arial" pitchFamily="34" charset="-122"/>
                <a:cs typeface="Arial" pitchFamily="34" charset="-120"/>
              </a:rPr>
              <a:t>Test</a:t>
            </a:r>
            <a:endParaRPr lang="en-US" sz="1500" dirty="0"/>
          </a:p>
          <a:p>
            <a:pPr algn="ctr" indent="0" marL="0">
              <a:buNone/>
            </a:pPr>
            <a:r>
              <a:rPr lang="en-US" sz="1300" dirty="0">
                <a:solidFill>
                  <a:srgbClr val="111111"/>
                </a:solidFill>
                <a:latin typeface="Arial" pitchFamily="34" charset="0"/>
                <a:ea typeface="Arial" pitchFamily="34" charset="-122"/>
                <a:cs typeface="Arial" pitchFamily="34" charset="-120"/>
              </a:rPr>
              <a:t>fold k</a:t>
            </a:r>
            <a:endParaRPr lang="en-US" sz="1500" dirty="0"/>
          </a:p>
        </p:txBody>
      </p:sp>
      <p:sp>
        <p:nvSpPr>
          <p:cNvPr id="13" name="Shape 11"/>
          <p:cNvSpPr/>
          <p:nvPr/>
        </p:nvSpPr>
        <p:spPr>
          <a:xfrm>
            <a:off x="7498080" y="4160520"/>
            <a:ext cx="1965960" cy="960120"/>
          </a:xfrm>
          <a:prstGeom prst="roundRect">
            <a:avLst>
              <a:gd name="adj" fmla="val 7619"/>
            </a:avLst>
          </a:prstGeom>
          <a:solidFill>
            <a:srgbClr val="FFFFFF"/>
          </a:solidFill>
          <a:ln w="15875">
            <a:solidFill>
              <a:srgbClr val="0B5A3C"/>
            </a:solidFill>
            <a:prstDash val="solid"/>
          </a:ln>
        </p:spPr>
      </p:sp>
      <p:sp>
        <p:nvSpPr>
          <p:cNvPr id="14" name="Text 12"/>
          <p:cNvSpPr txBox="1"/>
          <p:nvPr/>
        </p:nvSpPr>
        <p:spPr>
          <a:xfrm>
            <a:off x="7498080" y="4160520"/>
            <a:ext cx="1965960" cy="960120"/>
          </a:xfrm>
          <a:prstGeom prst="rect">
            <a:avLst/>
          </a:prstGeom>
          <a:noFill/>
          <a:ln/>
        </p:spPr>
        <p:txBody>
          <a:bodyPr wrap="square" lIns="0" tIns="0" rIns="0" bIns="0" rtlCol="0" anchor="ctr"/>
          <a:lstStyle/>
          <a:p>
            <a:pPr algn="ctr" indent="0" marL="0">
              <a:buNone/>
            </a:pPr>
            <a:r>
              <a:rPr lang="en-US" sz="1500" b="1" dirty="0">
                <a:solidFill>
                  <a:srgbClr val="0B5A3C"/>
                </a:solidFill>
                <a:latin typeface="Arial" pitchFamily="34" charset="0"/>
                <a:ea typeface="Arial" pitchFamily="34" charset="-122"/>
                <a:cs typeface="Arial" pitchFamily="34" charset="-120"/>
              </a:rPr>
              <a:t>Validation</a:t>
            </a:r>
            <a:endParaRPr lang="en-US" sz="1500" dirty="0"/>
          </a:p>
          <a:p>
            <a:pPr algn="ctr" indent="0" marL="0">
              <a:buNone/>
            </a:pPr>
            <a:r>
              <a:rPr lang="en-US" sz="1300" dirty="0">
                <a:solidFill>
                  <a:srgbClr val="111111"/>
                </a:solidFill>
                <a:latin typeface="Arial" pitchFamily="34" charset="0"/>
                <a:ea typeface="Arial" pitchFamily="34" charset="-122"/>
                <a:cs typeface="Arial" pitchFamily="34" charset="-120"/>
              </a:rPr>
              <a:t>fold k+1</a:t>
            </a:r>
            <a:endParaRPr lang="en-US" sz="1500" dirty="0"/>
          </a:p>
        </p:txBody>
      </p:sp>
      <p:sp>
        <p:nvSpPr>
          <p:cNvPr id="15" name="Shape 13"/>
          <p:cNvSpPr/>
          <p:nvPr/>
        </p:nvSpPr>
        <p:spPr>
          <a:xfrm>
            <a:off x="9646920" y="4160520"/>
            <a:ext cx="1965960" cy="960120"/>
          </a:xfrm>
          <a:prstGeom prst="roundRect">
            <a:avLst>
              <a:gd name="adj" fmla="val 7619"/>
            </a:avLst>
          </a:prstGeom>
          <a:solidFill>
            <a:srgbClr val="EEF5F1"/>
          </a:solidFill>
          <a:ln w="15875">
            <a:solidFill>
              <a:srgbClr val="0B5A3C"/>
            </a:solidFill>
            <a:prstDash val="solid"/>
          </a:ln>
        </p:spPr>
      </p:sp>
      <p:sp>
        <p:nvSpPr>
          <p:cNvPr id="16" name="Text 14"/>
          <p:cNvSpPr txBox="1"/>
          <p:nvPr/>
        </p:nvSpPr>
        <p:spPr>
          <a:xfrm>
            <a:off x="9646920" y="4160520"/>
            <a:ext cx="1965960" cy="960120"/>
          </a:xfrm>
          <a:prstGeom prst="rect">
            <a:avLst/>
          </a:prstGeom>
          <a:noFill/>
          <a:ln/>
        </p:spPr>
        <p:txBody>
          <a:bodyPr wrap="square" lIns="0" tIns="0" rIns="0" bIns="0" rtlCol="0" anchor="ctr"/>
          <a:lstStyle/>
          <a:p>
            <a:pPr algn="ctr" indent="0" marL="0">
              <a:buNone/>
            </a:pPr>
            <a:r>
              <a:rPr lang="en-US" sz="1500" b="1" dirty="0">
                <a:solidFill>
                  <a:srgbClr val="0B5A3C"/>
                </a:solidFill>
                <a:latin typeface="Arial" pitchFamily="34" charset="0"/>
                <a:ea typeface="Arial" pitchFamily="34" charset="-122"/>
                <a:cs typeface="Arial" pitchFamily="34" charset="-120"/>
              </a:rPr>
              <a:t>Train</a:t>
            </a:r>
            <a:endParaRPr lang="en-US" sz="1500" dirty="0"/>
          </a:p>
          <a:p>
            <a:pPr algn="ctr" indent="0" marL="0">
              <a:buNone/>
            </a:pPr>
            <a:r>
              <a:rPr lang="en-US" sz="1300" dirty="0">
                <a:solidFill>
                  <a:srgbClr val="111111"/>
                </a:solidFill>
                <a:latin typeface="Arial" pitchFamily="34" charset="0"/>
                <a:ea typeface="Arial" pitchFamily="34" charset="-122"/>
                <a:cs typeface="Arial" pitchFamily="34" charset="-120"/>
              </a:rPr>
              <a:t>other 3 folds</a:t>
            </a:r>
            <a:endParaRPr lang="en-US" sz="1500" dirty="0"/>
          </a:p>
        </p:txBody>
      </p:sp>
      <p:sp>
        <p:nvSpPr>
          <p:cNvPr id="17" name="Text 15"/>
          <p:cNvSpPr txBox="1"/>
          <p:nvPr/>
        </p:nvSpPr>
        <p:spPr>
          <a:xfrm>
            <a:off x="5349240" y="5257800"/>
            <a:ext cx="6355080" cy="685800"/>
          </a:xfrm>
          <a:prstGeom prst="rect">
            <a:avLst/>
          </a:prstGeom>
          <a:noFill/>
          <a:ln/>
        </p:spPr>
        <p:txBody>
          <a:bodyPr wrap="square" lIns="0" tIns="0" rIns="0" bIns="0" rtlCol="0" anchor="t"/>
          <a:lstStyle/>
          <a:p>
            <a:pPr algn="l" indent="0" marL="0">
              <a:buNone/>
            </a:pPr>
            <a:r>
              <a:rPr lang="en-US" sz="1200" dirty="0">
                <a:solidFill>
                  <a:srgbClr val="111111"/>
                </a:solidFill>
                <a:latin typeface="Arial" pitchFamily="34" charset="0"/>
                <a:ea typeface="Arial" pitchFamily="34" charset="-122"/>
                <a:cs typeface="Arial" pitchFamily="34" charset="-120"/>
              </a:rPr>
              <a:t>Validation fold: best epoch and early stopping only. Test fold: evaluated once per run. All 26 classes appear in every training, validation and test split.</a:t>
            </a:r>
            <a:endParaRPr lang="en-US" sz="12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Grouped Evaluation Results</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Pooled over all 3,070 crops, each tested on a drive its model never saw (mean ± std over 3 seeds)</a:t>
            </a:r>
            <a:endParaRPr lang="en-US" sz="1400" dirty="0"/>
          </a:p>
        </p:txBody>
      </p:sp>
      <p:sp>
        <p:nvSpPr>
          <p:cNvPr id="4" name="Text 2"/>
          <p:cNvSpPr txBox="1"/>
          <p:nvPr/>
        </p:nvSpPr>
        <p:spPr>
          <a:xfrm>
            <a:off x="457200" y="1874520"/>
            <a:ext cx="2697480" cy="640080"/>
          </a:xfrm>
          <a:prstGeom prst="rect">
            <a:avLst/>
          </a:prstGeom>
          <a:noFill/>
          <a:ln/>
        </p:spPr>
        <p:txBody>
          <a:bodyPr wrap="square" lIns="0" tIns="0" rIns="0" bIns="0" rtlCol="0" anchor="b"/>
          <a:lstStyle/>
          <a:p>
            <a:pPr algn="ctr" indent="0" marL="0">
              <a:buNone/>
            </a:pPr>
            <a:r>
              <a:rPr lang="en-US" sz="2400" b="1" dirty="0">
                <a:solidFill>
                  <a:srgbClr val="0B5A3C"/>
                </a:solidFill>
                <a:latin typeface="Arial" pitchFamily="34" charset="0"/>
                <a:ea typeface="Arial" pitchFamily="34" charset="-122"/>
                <a:cs typeface="Arial" pitchFamily="34" charset="-120"/>
              </a:rPr>
              <a:t>98.31% ± 0.20</a:t>
            </a:r>
            <a:endParaRPr lang="en-US" sz="2400" dirty="0"/>
          </a:p>
        </p:txBody>
      </p:sp>
      <p:sp>
        <p:nvSpPr>
          <p:cNvPr id="5" name="Text 3"/>
          <p:cNvSpPr txBox="1"/>
          <p:nvPr/>
        </p:nvSpPr>
        <p:spPr>
          <a:xfrm>
            <a:off x="457200" y="2532888"/>
            <a:ext cx="269748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accuracy</a:t>
            </a:r>
            <a:endParaRPr lang="en-US" sz="1200" dirty="0"/>
          </a:p>
        </p:txBody>
      </p:sp>
      <p:sp>
        <p:nvSpPr>
          <p:cNvPr id="6" name="Text 4"/>
          <p:cNvSpPr txBox="1"/>
          <p:nvPr/>
        </p:nvSpPr>
        <p:spPr>
          <a:xfrm>
            <a:off x="3291840" y="1874520"/>
            <a:ext cx="2697480" cy="640080"/>
          </a:xfrm>
          <a:prstGeom prst="rect">
            <a:avLst/>
          </a:prstGeom>
          <a:noFill/>
          <a:ln/>
        </p:spPr>
        <p:txBody>
          <a:bodyPr wrap="square" lIns="0" tIns="0" rIns="0" bIns="0" rtlCol="0" anchor="b"/>
          <a:lstStyle/>
          <a:p>
            <a:pPr algn="ctr" indent="0" marL="0">
              <a:buNone/>
            </a:pPr>
            <a:r>
              <a:rPr lang="en-US" sz="2400" b="1" dirty="0">
                <a:solidFill>
                  <a:srgbClr val="0B5A3C"/>
                </a:solidFill>
                <a:latin typeface="Arial" pitchFamily="34" charset="0"/>
                <a:ea typeface="Arial" pitchFamily="34" charset="-122"/>
                <a:cs typeface="Arial" pitchFamily="34" charset="-120"/>
              </a:rPr>
              <a:t>97.24% ± 0.68</a:t>
            </a:r>
            <a:endParaRPr lang="en-US" sz="2400" dirty="0"/>
          </a:p>
        </p:txBody>
      </p:sp>
      <p:sp>
        <p:nvSpPr>
          <p:cNvPr id="7" name="Text 5"/>
          <p:cNvSpPr txBox="1"/>
          <p:nvPr/>
        </p:nvSpPr>
        <p:spPr>
          <a:xfrm>
            <a:off x="3291840" y="2532888"/>
            <a:ext cx="269748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macro F1</a:t>
            </a:r>
            <a:endParaRPr lang="en-US" sz="1200" dirty="0"/>
          </a:p>
        </p:txBody>
      </p:sp>
      <p:sp>
        <p:nvSpPr>
          <p:cNvPr id="8" name="Text 6"/>
          <p:cNvSpPr txBox="1"/>
          <p:nvPr/>
        </p:nvSpPr>
        <p:spPr>
          <a:xfrm>
            <a:off x="6126480" y="1874520"/>
            <a:ext cx="2697480" cy="640080"/>
          </a:xfrm>
          <a:prstGeom prst="rect">
            <a:avLst/>
          </a:prstGeom>
          <a:noFill/>
          <a:ln/>
        </p:spPr>
        <p:txBody>
          <a:bodyPr wrap="square" lIns="0" tIns="0" rIns="0" bIns="0" rtlCol="0" anchor="b"/>
          <a:lstStyle/>
          <a:p>
            <a:pPr algn="ctr" indent="0" marL="0">
              <a:buNone/>
            </a:pPr>
            <a:r>
              <a:rPr lang="en-US" sz="2400" b="1" dirty="0">
                <a:solidFill>
                  <a:srgbClr val="0B5A3C"/>
                </a:solidFill>
                <a:latin typeface="Arial" pitchFamily="34" charset="0"/>
                <a:ea typeface="Arial" pitchFamily="34" charset="-122"/>
                <a:cs typeface="Arial" pitchFamily="34" charset="-120"/>
              </a:rPr>
              <a:t>97.92% ± 0.19</a:t>
            </a:r>
            <a:endParaRPr lang="en-US" sz="2400" dirty="0"/>
          </a:p>
        </p:txBody>
      </p:sp>
      <p:sp>
        <p:nvSpPr>
          <p:cNvPr id="9" name="Text 7"/>
          <p:cNvSpPr txBox="1"/>
          <p:nvPr/>
        </p:nvSpPr>
        <p:spPr>
          <a:xfrm>
            <a:off x="6126480" y="2532888"/>
            <a:ext cx="269748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macro precision</a:t>
            </a:r>
            <a:endParaRPr lang="en-US" sz="1200" dirty="0"/>
          </a:p>
        </p:txBody>
      </p:sp>
      <p:sp>
        <p:nvSpPr>
          <p:cNvPr id="10" name="Text 8"/>
          <p:cNvSpPr txBox="1"/>
          <p:nvPr/>
        </p:nvSpPr>
        <p:spPr>
          <a:xfrm>
            <a:off x="8961120" y="1874520"/>
            <a:ext cx="2697480" cy="640080"/>
          </a:xfrm>
          <a:prstGeom prst="rect">
            <a:avLst/>
          </a:prstGeom>
          <a:noFill/>
          <a:ln/>
        </p:spPr>
        <p:txBody>
          <a:bodyPr wrap="square" lIns="0" tIns="0" rIns="0" bIns="0" rtlCol="0" anchor="b"/>
          <a:lstStyle/>
          <a:p>
            <a:pPr algn="ctr" indent="0" marL="0">
              <a:buNone/>
            </a:pPr>
            <a:r>
              <a:rPr lang="en-US" sz="2400" b="1" dirty="0">
                <a:solidFill>
                  <a:srgbClr val="0B5A3C"/>
                </a:solidFill>
                <a:latin typeface="Arial" pitchFamily="34" charset="0"/>
                <a:ea typeface="Arial" pitchFamily="34" charset="-122"/>
                <a:cs typeface="Arial" pitchFamily="34" charset="-120"/>
              </a:rPr>
              <a:t>96.87% ± 0.89</a:t>
            </a:r>
            <a:endParaRPr lang="en-US" sz="2400" dirty="0"/>
          </a:p>
        </p:txBody>
      </p:sp>
      <p:sp>
        <p:nvSpPr>
          <p:cNvPr id="11" name="Text 9"/>
          <p:cNvSpPr txBox="1"/>
          <p:nvPr/>
        </p:nvSpPr>
        <p:spPr>
          <a:xfrm>
            <a:off x="8961120" y="2532888"/>
            <a:ext cx="269748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macro recall</a:t>
            </a:r>
            <a:endParaRPr lang="en-US" sz="1200" dirty="0"/>
          </a:p>
        </p:txBody>
      </p:sp>
      <p:pic>
        <p:nvPicPr>
          <p:cNvPr id="12" name="per-fold-variation" descr="C:\Users\ASUS G 16 JVR\Desktop\deepLearning_CNN\results\grouped_evaluation\figures\per_fold_variation.png">    </p:cNvPr>
          <p:cNvPicPr>
            <a:picLocks noChangeAspect="1"/>
          </p:cNvPicPr>
          <p:nvPr/>
        </p:nvPicPr>
        <p:blipFill>
          <a:blip r:embed="rId1"/>
          <a:stretch>
            <a:fillRect/>
          </a:stretch>
        </p:blipFill>
        <p:spPr>
          <a:xfrm>
            <a:off x="457200" y="3145952"/>
            <a:ext cx="7589520" cy="2897817"/>
          </a:xfrm>
          <a:prstGeom prst="rect">
            <a:avLst/>
          </a:prstGeom>
        </p:spPr>
      </p:pic>
      <p:sp>
        <p:nvSpPr>
          <p:cNvPr id="13" name="fold-notes"/>
          <p:cNvSpPr/>
          <p:nvPr/>
        </p:nvSpPr>
        <p:spPr>
          <a:xfrm>
            <a:off x="8229600" y="3108960"/>
            <a:ext cx="3502152" cy="2971800"/>
          </a:xfrm>
          <a:prstGeom prst="roundRect">
            <a:avLst>
              <a:gd name="adj" fmla="val 2462"/>
            </a:avLst>
          </a:prstGeom>
          <a:solidFill>
            <a:srgbClr val="EEF5F1"/>
          </a:solidFill>
          <a:ln w="9525">
            <a:solidFill>
              <a:srgbClr val="EEF5F1"/>
            </a:solidFill>
            <a:prstDash val="solid"/>
          </a:ln>
        </p:spPr>
      </p:sp>
      <p:sp>
        <p:nvSpPr>
          <p:cNvPr id="14" name="Text 11"/>
          <p:cNvSpPr txBox="1"/>
          <p:nvPr/>
        </p:nvSpPr>
        <p:spPr>
          <a:xfrm>
            <a:off x="8366760" y="3200400"/>
            <a:ext cx="3291840" cy="2834640"/>
          </a:xfrm>
          <a:prstGeom prst="rect">
            <a:avLst/>
          </a:prstGeom>
          <a:noFill/>
          <a:ln/>
        </p:spPr>
        <p:txBody>
          <a:bodyPr wrap="square" lIns="635" tIns="635" rIns="635" bIns="635" rtlCol="0" anchor="t"/>
          <a:lstStyle/>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Accuracy per fold: 97.7% – 99.6%</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Macro F1 drops to 93.0% on fold 2: some classes are much harder on some drives</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15 runs: 55 min in total on an RTX 4060</a:t>
            </a:r>
            <a:endParaRPr lang="en-US" sz="1300" dirty="0"/>
          </a:p>
        </p:txBody>
      </p:sp>
      <p:sp>
        <p:nvSpPr>
          <p:cNvPr id="15" name="Text 12"/>
          <p:cNvSpPr txBox="1"/>
          <p:nvPr/>
        </p:nvSpPr>
        <p:spPr>
          <a:xfrm>
            <a:off x="457200" y="6053328"/>
            <a:ext cx="11274552" cy="347472"/>
          </a:xfrm>
          <a:prstGeom prst="rect">
            <a:avLst/>
          </a:prstGeom>
          <a:noFill/>
          <a:ln/>
        </p:spPr>
        <p:txBody>
          <a:bodyPr wrap="square" lIns="0" tIns="0" rIns="0" bIns="0" rtlCol="0" anchor="ctr"/>
          <a:lstStyle/>
          <a:p>
            <a:pPr indent="0" marL="0">
              <a:buNone/>
            </a:pPr>
            <a:r>
              <a:rPr lang="en-US" sz="1200" b="1" dirty="0">
                <a:solidFill>
                  <a:srgbClr val="DD8452"/>
                </a:solidFill>
                <a:latin typeface="Arial" pitchFamily="34" charset="0"/>
                <a:ea typeface="Arial" pitchFamily="34" charset="-122"/>
                <a:cs typeface="Arial" pitchFamily="34" charset="-120"/>
              </a:rPr>
              <a:t>Different protocol from the 98.70% (one model, one random-photo test set): not a before/after comparison.</a:t>
            </a:r>
            <a:endParaRPr lang="en-US" sz="12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Hardest Case: Cross Road vs. Priority Road</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Grouped evaluation, pooled over all folds and seeds</a:t>
            </a:r>
            <a:endParaRPr lang="en-US" sz="1400" dirty="0"/>
          </a:p>
        </p:txBody>
      </p:sp>
      <p:pic>
        <p:nvPicPr>
          <p:cNvPr id="4" name="cross-vs-priority" descr="C:\Users\ASUS G 16 JVR\Desktop\deepLearning_CNN\results\grouped_evaluation\figures\cross_road_vs_priority_road_examples.png">    </p:cNvPr>
          <p:cNvPicPr>
            <a:picLocks noChangeAspect="1"/>
          </p:cNvPicPr>
          <p:nvPr/>
        </p:nvPicPr>
        <p:blipFill>
          <a:blip r:embed="rId1"/>
          <a:stretch>
            <a:fillRect/>
          </a:stretch>
        </p:blipFill>
        <p:spPr>
          <a:xfrm>
            <a:off x="457200" y="1920240"/>
            <a:ext cx="5251784" cy="4434840"/>
          </a:xfrm>
          <a:prstGeom prst="rect">
            <a:avLst/>
          </a:prstGeom>
        </p:spPr>
      </p:pic>
      <p:sp>
        <p:nvSpPr>
          <p:cNvPr id="5" name="Text 2"/>
          <p:cNvSpPr txBox="1"/>
          <p:nvPr/>
        </p:nvSpPr>
        <p:spPr>
          <a:xfrm>
            <a:off x="6492240" y="1920240"/>
            <a:ext cx="2514600" cy="640080"/>
          </a:xfrm>
          <a:prstGeom prst="rect">
            <a:avLst/>
          </a:prstGeom>
          <a:noFill/>
          <a:ln/>
        </p:spPr>
        <p:txBody>
          <a:bodyPr wrap="square" lIns="0" tIns="0" rIns="0" bIns="0" rtlCol="0" anchor="b"/>
          <a:lstStyle/>
          <a:p>
            <a:pPr algn="ctr" indent="0" marL="0">
              <a:buNone/>
            </a:pPr>
            <a:r>
              <a:rPr lang="en-US" sz="3200" b="1" dirty="0">
                <a:solidFill>
                  <a:srgbClr val="C44E52"/>
                </a:solidFill>
                <a:latin typeface="Arial" pitchFamily="34" charset="0"/>
                <a:ea typeface="Arial" pitchFamily="34" charset="-122"/>
                <a:cs typeface="Arial" pitchFamily="34" charset="-120"/>
              </a:rPr>
              <a:t>0.81</a:t>
            </a:r>
            <a:endParaRPr lang="en-US" sz="3200" dirty="0"/>
          </a:p>
        </p:txBody>
      </p:sp>
      <p:sp>
        <p:nvSpPr>
          <p:cNvPr id="6" name="Text 3"/>
          <p:cNvSpPr txBox="1"/>
          <p:nvPr/>
        </p:nvSpPr>
        <p:spPr>
          <a:xfrm>
            <a:off x="6492240" y="2578608"/>
            <a:ext cx="251460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Cross Road F1 (recall 72%, only 42 crops)</a:t>
            </a:r>
            <a:endParaRPr lang="en-US" sz="1200" dirty="0"/>
          </a:p>
        </p:txBody>
      </p:sp>
      <p:sp>
        <p:nvSpPr>
          <p:cNvPr id="7" name="Text 4"/>
          <p:cNvSpPr txBox="1"/>
          <p:nvPr/>
        </p:nvSpPr>
        <p:spPr>
          <a:xfrm>
            <a:off x="9189720" y="1920240"/>
            <a:ext cx="2542032" cy="640080"/>
          </a:xfrm>
          <a:prstGeom prst="rect">
            <a:avLst/>
          </a:prstGeom>
          <a:noFill/>
          <a:ln/>
        </p:spPr>
        <p:txBody>
          <a:bodyPr wrap="square" lIns="0" tIns="0" rIns="0" bIns="0" rtlCol="0" anchor="b"/>
          <a:lstStyle/>
          <a:p>
            <a:pPr algn="ctr" indent="0" marL="0">
              <a:buNone/>
            </a:pPr>
            <a:r>
              <a:rPr lang="en-US" sz="3200" b="1" dirty="0">
                <a:solidFill>
                  <a:srgbClr val="C44E52"/>
                </a:solidFill>
                <a:latin typeface="Arial" pitchFamily="34" charset="0"/>
                <a:ea typeface="Arial" pitchFamily="34" charset="-122"/>
                <a:cs typeface="Arial" pitchFamily="34" charset="-120"/>
              </a:rPr>
              <a:t>25</a:t>
            </a:r>
            <a:endParaRPr lang="en-US" sz="3200" dirty="0"/>
          </a:p>
        </p:txBody>
      </p:sp>
      <p:sp>
        <p:nvSpPr>
          <p:cNvPr id="8" name="Text 5"/>
          <p:cNvSpPr txBox="1"/>
          <p:nvPr/>
        </p:nvSpPr>
        <p:spPr>
          <a:xfrm>
            <a:off x="9189720" y="2578608"/>
            <a:ext cx="2542032"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Cross Road → Priority Road (summed over 3 seeds)</a:t>
            </a:r>
            <a:endParaRPr lang="en-US" sz="1200" dirty="0"/>
          </a:p>
        </p:txBody>
      </p:sp>
      <p:sp>
        <p:nvSpPr>
          <p:cNvPr id="9" name="Text 6"/>
          <p:cNvSpPr txBox="1"/>
          <p:nvPr/>
        </p:nvSpPr>
        <p:spPr>
          <a:xfrm>
            <a:off x="6492240" y="3337560"/>
            <a:ext cx="5239512" cy="3017520"/>
          </a:xfrm>
          <a:prstGeom prst="rect">
            <a:avLst/>
          </a:prstGeom>
          <a:noFill/>
          <a:ln/>
        </p:spPr>
        <p:txBody>
          <a:bodyPr wrap="square" lIns="635" tIns="635" rIns="635" bIns="635" rtlCol="0" anchor="t"/>
          <a:lstStyle/>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Both are yellow diamonds with a black cross</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Priority Road: thick bar with a pointed top, thinner crossbar</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Tilted or blurred Cross Road signs are read as Priority Road</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Other confusions: Priority Road → Pedestrian Crossing (10), Cross Road → Junction Right (9)</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Some errors look like the Priority Road symbol: possible label noise, not verified</a:t>
            </a:r>
            <a:endParaRPr lang="en-US" sz="13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Extension: Detecting All Signs in a Street Photo</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Separate YOLOv8 detector + the same ResNet-18 classifier: detection results, not classification accuracy</a:t>
            </a:r>
            <a:endParaRPr lang="en-US" sz="1400" dirty="0"/>
          </a:p>
        </p:txBody>
      </p:sp>
      <p:sp>
        <p:nvSpPr>
          <p:cNvPr id="4" name="Shape 2"/>
          <p:cNvSpPr/>
          <p:nvPr/>
        </p:nvSpPr>
        <p:spPr>
          <a:xfrm>
            <a:off x="457200" y="1965960"/>
            <a:ext cx="2423160" cy="868680"/>
          </a:xfrm>
          <a:prstGeom prst="roundRect">
            <a:avLst>
              <a:gd name="adj" fmla="val 8421"/>
            </a:avLst>
          </a:prstGeom>
          <a:solidFill>
            <a:srgbClr val="EEF5F1"/>
          </a:solidFill>
          <a:ln w="12700">
            <a:solidFill>
              <a:srgbClr val="C9DDD2"/>
            </a:solidFill>
            <a:prstDash val="solid"/>
          </a:ln>
        </p:spPr>
      </p:sp>
      <p:sp>
        <p:nvSpPr>
          <p:cNvPr id="5" name="Text 3"/>
          <p:cNvSpPr txBox="1"/>
          <p:nvPr/>
        </p:nvSpPr>
        <p:spPr>
          <a:xfrm>
            <a:off x="457200" y="1965960"/>
            <a:ext cx="2423160" cy="868680"/>
          </a:xfrm>
          <a:prstGeom prst="rect">
            <a:avLst/>
          </a:prstGeom>
          <a:noFill/>
          <a:ln/>
        </p:spPr>
        <p:txBody>
          <a:bodyPr wrap="square" lIns="0" tIns="0" rIns="0" bIns="0" rtlCol="0" anchor="ctr"/>
          <a:lstStyle/>
          <a:p>
            <a:pPr algn="ctr" indent="0" marL="0">
              <a:buNone/>
            </a:pPr>
            <a:r>
              <a:rPr lang="en-US" sz="1500" b="1" dirty="0">
                <a:solidFill>
                  <a:srgbClr val="111111"/>
                </a:solidFill>
                <a:latin typeface="Arial" pitchFamily="34" charset="0"/>
                <a:ea typeface="Arial" pitchFamily="34" charset="-122"/>
                <a:cs typeface="Arial" pitchFamily="34" charset="-120"/>
              </a:rPr>
              <a:t>Street photo</a:t>
            </a:r>
            <a:endParaRPr lang="en-US" sz="1500" dirty="0"/>
          </a:p>
          <a:p>
            <a:pPr algn="ctr" indent="0" marL="0">
              <a:buNone/>
            </a:pPr>
            <a:r>
              <a:rPr lang="en-US" sz="1200" dirty="0">
                <a:solidFill>
                  <a:srgbClr val="111111"/>
                </a:solidFill>
                <a:latin typeface="Arial" pitchFamily="34" charset="0"/>
                <a:ea typeface="Arial" pitchFamily="34" charset="-122"/>
                <a:cs typeface="Arial" pitchFamily="34" charset="-120"/>
              </a:rPr>
              <a:t>full 4K image</a:t>
            </a:r>
            <a:endParaRPr lang="en-US" sz="1500" dirty="0"/>
          </a:p>
        </p:txBody>
      </p:sp>
      <p:sp>
        <p:nvSpPr>
          <p:cNvPr id="6" name="Shape 4"/>
          <p:cNvSpPr/>
          <p:nvPr/>
        </p:nvSpPr>
        <p:spPr>
          <a:xfrm>
            <a:off x="2926080" y="2395728"/>
            <a:ext cx="365760" cy="0"/>
          </a:xfrm>
          <a:prstGeom prst="line">
            <a:avLst/>
          </a:prstGeom>
          <a:noFill/>
          <a:ln w="28575">
            <a:solidFill>
              <a:srgbClr val="0B5A3C"/>
            </a:solidFill>
            <a:prstDash val="solid"/>
            <a:tailEnd type="triangle"/>
          </a:ln>
        </p:spPr>
      </p:sp>
      <p:sp>
        <p:nvSpPr>
          <p:cNvPr id="7" name="Shape 5"/>
          <p:cNvSpPr/>
          <p:nvPr/>
        </p:nvSpPr>
        <p:spPr>
          <a:xfrm>
            <a:off x="3337560" y="1965960"/>
            <a:ext cx="2423160" cy="868680"/>
          </a:xfrm>
          <a:prstGeom prst="roundRect">
            <a:avLst>
              <a:gd name="adj" fmla="val 8421"/>
            </a:avLst>
          </a:prstGeom>
          <a:solidFill>
            <a:srgbClr val="0B5A3C"/>
          </a:solidFill>
          <a:ln w="12700">
            <a:solidFill>
              <a:srgbClr val="0B5A3C"/>
            </a:solidFill>
            <a:prstDash val="solid"/>
          </a:ln>
        </p:spPr>
      </p:sp>
      <p:sp>
        <p:nvSpPr>
          <p:cNvPr id="8" name="Text 6"/>
          <p:cNvSpPr txBox="1"/>
          <p:nvPr/>
        </p:nvSpPr>
        <p:spPr>
          <a:xfrm>
            <a:off x="3337560" y="1965960"/>
            <a:ext cx="242316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YOLOv8 detector</a:t>
            </a:r>
            <a:endParaRPr lang="en-US" sz="1500" dirty="0"/>
          </a:p>
          <a:p>
            <a:pPr algn="ctr" indent="0" marL="0">
              <a:buNone/>
            </a:pPr>
            <a:r>
              <a:rPr lang="en-US" sz="1200" dirty="0">
                <a:solidFill>
                  <a:srgbClr val="FFFFFF"/>
                </a:solidFill>
                <a:latin typeface="Arial" pitchFamily="34" charset="0"/>
                <a:ea typeface="Arial" pitchFamily="34" charset="-122"/>
                <a:cs typeface="Arial" pitchFamily="34" charset="-120"/>
              </a:rPr>
              <a:t>1 class: "Traffic Sign"</a:t>
            </a:r>
            <a:endParaRPr lang="en-US" sz="1500" dirty="0"/>
          </a:p>
        </p:txBody>
      </p:sp>
      <p:sp>
        <p:nvSpPr>
          <p:cNvPr id="9" name="Shape 7"/>
          <p:cNvSpPr/>
          <p:nvPr/>
        </p:nvSpPr>
        <p:spPr>
          <a:xfrm>
            <a:off x="5806440" y="2395728"/>
            <a:ext cx="365760" cy="0"/>
          </a:xfrm>
          <a:prstGeom prst="line">
            <a:avLst/>
          </a:prstGeom>
          <a:noFill/>
          <a:ln w="28575">
            <a:solidFill>
              <a:srgbClr val="0B5A3C"/>
            </a:solidFill>
            <a:prstDash val="solid"/>
            <a:tailEnd type="triangle"/>
          </a:ln>
        </p:spPr>
      </p:sp>
      <p:sp>
        <p:nvSpPr>
          <p:cNvPr id="10" name="Shape 8"/>
          <p:cNvSpPr/>
          <p:nvPr/>
        </p:nvSpPr>
        <p:spPr>
          <a:xfrm>
            <a:off x="6217920" y="1965960"/>
            <a:ext cx="2423160" cy="868680"/>
          </a:xfrm>
          <a:prstGeom prst="roundRect">
            <a:avLst>
              <a:gd name="adj" fmla="val 8421"/>
            </a:avLst>
          </a:prstGeom>
          <a:solidFill>
            <a:srgbClr val="EEF5F1"/>
          </a:solidFill>
          <a:ln w="12700">
            <a:solidFill>
              <a:srgbClr val="C9DDD2"/>
            </a:solidFill>
            <a:prstDash val="solid"/>
          </a:ln>
        </p:spPr>
      </p:sp>
      <p:sp>
        <p:nvSpPr>
          <p:cNvPr id="11" name="Text 9"/>
          <p:cNvSpPr txBox="1"/>
          <p:nvPr/>
        </p:nvSpPr>
        <p:spPr>
          <a:xfrm>
            <a:off x="6217920" y="1965960"/>
            <a:ext cx="2423160" cy="868680"/>
          </a:xfrm>
          <a:prstGeom prst="rect">
            <a:avLst/>
          </a:prstGeom>
          <a:noFill/>
          <a:ln/>
        </p:spPr>
        <p:txBody>
          <a:bodyPr wrap="square" lIns="0" tIns="0" rIns="0" bIns="0" rtlCol="0" anchor="ctr"/>
          <a:lstStyle/>
          <a:p>
            <a:pPr algn="ctr" indent="0" marL="0">
              <a:buNone/>
            </a:pPr>
            <a:r>
              <a:rPr lang="en-US" sz="1500" b="1" dirty="0">
                <a:solidFill>
                  <a:srgbClr val="111111"/>
                </a:solidFill>
                <a:latin typeface="Arial" pitchFamily="34" charset="0"/>
                <a:ea typeface="Arial" pitchFamily="34" charset="-122"/>
                <a:cs typeface="Arial" pitchFamily="34" charset="-120"/>
              </a:rPr>
              <a:t>Crop each box</a:t>
            </a:r>
            <a:endParaRPr lang="en-US" sz="1500" dirty="0"/>
          </a:p>
          <a:p>
            <a:pPr algn="ctr" indent="0" marL="0">
              <a:buNone/>
            </a:pPr>
            <a:r>
              <a:rPr lang="en-US" sz="1200" dirty="0">
                <a:solidFill>
                  <a:srgbClr val="111111"/>
                </a:solidFill>
                <a:latin typeface="Arial" pitchFamily="34" charset="0"/>
                <a:ea typeface="Arial" pitchFamily="34" charset="-122"/>
                <a:cs typeface="Arial" pitchFamily="34" charset="-120"/>
              </a:rPr>
              <a:t>full resolution</a:t>
            </a:r>
            <a:endParaRPr lang="en-US" sz="1500" dirty="0"/>
          </a:p>
        </p:txBody>
      </p:sp>
      <p:sp>
        <p:nvSpPr>
          <p:cNvPr id="12" name="Shape 10"/>
          <p:cNvSpPr/>
          <p:nvPr/>
        </p:nvSpPr>
        <p:spPr>
          <a:xfrm>
            <a:off x="8686800" y="2395728"/>
            <a:ext cx="365760" cy="0"/>
          </a:xfrm>
          <a:prstGeom prst="line">
            <a:avLst/>
          </a:prstGeom>
          <a:noFill/>
          <a:ln w="28575">
            <a:solidFill>
              <a:srgbClr val="0B5A3C"/>
            </a:solidFill>
            <a:prstDash val="solid"/>
            <a:tailEnd type="triangle"/>
          </a:ln>
        </p:spPr>
      </p:sp>
      <p:sp>
        <p:nvSpPr>
          <p:cNvPr id="13" name="Shape 11"/>
          <p:cNvSpPr/>
          <p:nvPr/>
        </p:nvSpPr>
        <p:spPr>
          <a:xfrm>
            <a:off x="9098280" y="1965960"/>
            <a:ext cx="2423160" cy="868680"/>
          </a:xfrm>
          <a:prstGeom prst="roundRect">
            <a:avLst>
              <a:gd name="adj" fmla="val 8421"/>
            </a:avLst>
          </a:prstGeom>
          <a:solidFill>
            <a:srgbClr val="0B5A3C"/>
          </a:solidFill>
          <a:ln w="12700">
            <a:solidFill>
              <a:srgbClr val="0B5A3C"/>
            </a:solidFill>
            <a:prstDash val="solid"/>
          </a:ln>
        </p:spPr>
      </p:sp>
      <p:sp>
        <p:nvSpPr>
          <p:cNvPr id="14" name="Text 12"/>
          <p:cNvSpPr txBox="1"/>
          <p:nvPr/>
        </p:nvSpPr>
        <p:spPr>
          <a:xfrm>
            <a:off x="9098280" y="1965960"/>
            <a:ext cx="2423160" cy="86868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ResNet-18</a:t>
            </a:r>
            <a:endParaRPr lang="en-US" sz="1500" dirty="0"/>
          </a:p>
          <a:p>
            <a:pPr algn="ctr" indent="0" marL="0">
              <a:buNone/>
            </a:pPr>
            <a:r>
              <a:rPr lang="en-US" sz="1200" dirty="0">
                <a:solidFill>
                  <a:srgbClr val="FFFFFF"/>
                </a:solidFill>
                <a:latin typeface="Arial" pitchFamily="34" charset="0"/>
                <a:ea typeface="Arial" pitchFamily="34" charset="-122"/>
                <a:cs typeface="Arial" pitchFamily="34" charset="-120"/>
              </a:rPr>
              <a:t>1 of 26 classes</a:t>
            </a:r>
            <a:endParaRPr lang="en-US" sz="1500" dirty="0"/>
          </a:p>
        </p:txBody>
      </p:sp>
      <p:sp>
        <p:nvSpPr>
          <p:cNvPr id="15" name="Text 13"/>
          <p:cNvSpPr txBox="1"/>
          <p:nvPr/>
        </p:nvSpPr>
        <p:spPr>
          <a:xfrm>
            <a:off x="457200" y="3063240"/>
            <a:ext cx="3749040" cy="640080"/>
          </a:xfrm>
          <a:prstGeom prst="rect">
            <a:avLst/>
          </a:prstGeom>
          <a:noFill/>
          <a:ln/>
        </p:spPr>
        <p:txBody>
          <a:bodyPr wrap="square" lIns="0" tIns="0" rIns="0" bIns="0" rtlCol="0" anchor="b"/>
          <a:lstStyle/>
          <a:p>
            <a:pPr algn="ctr" indent="0" marL="0">
              <a:buNone/>
            </a:pPr>
            <a:r>
              <a:rPr lang="en-US" sz="2400" b="1" dirty="0">
                <a:solidFill>
                  <a:srgbClr val="0B5A3C"/>
                </a:solidFill>
                <a:latin typeface="Arial" pitchFamily="34" charset="0"/>
                <a:ea typeface="Arial" pitchFamily="34" charset="-122"/>
                <a:cs typeface="Arial" pitchFamily="34" charset="-120"/>
              </a:rPr>
              <a:t>95.6% / 96.3%</a:t>
            </a:r>
            <a:endParaRPr lang="en-US" sz="2400" dirty="0"/>
          </a:p>
        </p:txBody>
      </p:sp>
      <p:sp>
        <p:nvSpPr>
          <p:cNvPr id="16" name="Text 14"/>
          <p:cNvSpPr txBox="1"/>
          <p:nvPr/>
        </p:nvSpPr>
        <p:spPr>
          <a:xfrm>
            <a:off x="457200" y="3721608"/>
            <a:ext cx="374904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detector precision / recall (379 test photos, 493 signs)</a:t>
            </a:r>
            <a:endParaRPr lang="en-US" sz="1200" dirty="0"/>
          </a:p>
        </p:txBody>
      </p:sp>
      <p:sp>
        <p:nvSpPr>
          <p:cNvPr id="17" name="Text 15"/>
          <p:cNvSpPr txBox="1"/>
          <p:nvPr/>
        </p:nvSpPr>
        <p:spPr>
          <a:xfrm>
            <a:off x="4206240" y="3063240"/>
            <a:ext cx="2103120" cy="640080"/>
          </a:xfrm>
          <a:prstGeom prst="rect">
            <a:avLst/>
          </a:prstGeom>
          <a:noFill/>
          <a:ln/>
        </p:spPr>
        <p:txBody>
          <a:bodyPr wrap="square" lIns="0" tIns="0" rIns="0" bIns="0" rtlCol="0" anchor="b"/>
          <a:lstStyle/>
          <a:p>
            <a:pPr algn="ctr" indent="0" marL="0">
              <a:buNone/>
            </a:pPr>
            <a:r>
              <a:rPr lang="en-US" sz="2400" b="1" dirty="0">
                <a:solidFill>
                  <a:srgbClr val="0B5A3C"/>
                </a:solidFill>
                <a:latin typeface="Arial" pitchFamily="34" charset="0"/>
                <a:ea typeface="Arial" pitchFamily="34" charset="-122"/>
                <a:cs typeface="Arial" pitchFamily="34" charset="-120"/>
              </a:rPr>
              <a:t>0.978</a:t>
            </a:r>
            <a:endParaRPr lang="en-US" sz="2400" dirty="0"/>
          </a:p>
        </p:txBody>
      </p:sp>
      <p:sp>
        <p:nvSpPr>
          <p:cNvPr id="18" name="Text 16"/>
          <p:cNvSpPr txBox="1"/>
          <p:nvPr/>
        </p:nvSpPr>
        <p:spPr>
          <a:xfrm>
            <a:off x="4206240" y="3721608"/>
            <a:ext cx="210312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detector mAP@50</a:t>
            </a:r>
            <a:endParaRPr lang="en-US" sz="1200" dirty="0"/>
          </a:p>
        </p:txBody>
      </p:sp>
      <p:sp>
        <p:nvSpPr>
          <p:cNvPr id="19" name="Text 17"/>
          <p:cNvSpPr txBox="1"/>
          <p:nvPr/>
        </p:nvSpPr>
        <p:spPr>
          <a:xfrm>
            <a:off x="457200" y="4343400"/>
            <a:ext cx="3749040" cy="640080"/>
          </a:xfrm>
          <a:prstGeom prst="rect">
            <a:avLst/>
          </a:prstGeom>
          <a:noFill/>
          <a:ln/>
        </p:spPr>
        <p:txBody>
          <a:bodyPr wrap="square" lIns="0" tIns="0" rIns="0" bIns="0" rtlCol="0" anchor="b"/>
          <a:lstStyle/>
          <a:p>
            <a:pPr algn="ctr" indent="0" marL="0">
              <a:buNone/>
            </a:pPr>
            <a:r>
              <a:rPr lang="en-US" sz="2400" b="1" dirty="0">
                <a:solidFill>
                  <a:srgbClr val="DD8452"/>
                </a:solidFill>
                <a:latin typeface="Arial" pitchFamily="34" charset="0"/>
                <a:ea typeface="Arial" pitchFamily="34" charset="-122"/>
                <a:cs typeface="Arial" pitchFamily="34" charset="-120"/>
              </a:rPr>
              <a:t>445 / 463</a:t>
            </a:r>
            <a:endParaRPr lang="en-US" sz="2400" dirty="0"/>
          </a:p>
        </p:txBody>
      </p:sp>
      <p:sp>
        <p:nvSpPr>
          <p:cNvPr id="20" name="Text 18"/>
          <p:cNvSpPr txBox="1"/>
          <p:nvPr/>
        </p:nvSpPr>
        <p:spPr>
          <a:xfrm>
            <a:off x="457200" y="5001768"/>
            <a:ext cx="3749040" cy="45720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test signs found AND correctly classified (96.1%)</a:t>
            </a:r>
            <a:endParaRPr lang="en-US" sz="1200" dirty="0"/>
          </a:p>
        </p:txBody>
      </p:sp>
      <p:sp>
        <p:nvSpPr>
          <p:cNvPr id="21" name="Text 19"/>
          <p:cNvSpPr txBox="1"/>
          <p:nvPr/>
        </p:nvSpPr>
        <p:spPr>
          <a:xfrm>
            <a:off x="4206240" y="4343400"/>
            <a:ext cx="2926080" cy="2011680"/>
          </a:xfrm>
          <a:prstGeom prst="rect">
            <a:avLst/>
          </a:prstGeom>
          <a:noFill/>
          <a:ln/>
        </p:spPr>
        <p:txBody>
          <a:bodyPr wrap="square" lIns="635" tIns="635" rIns="635" bIns="635" rtlCol="0" anchor="t"/>
          <a:lstStyle/>
          <a:p>
            <a:pPr marL="342900" indent="-342900">
              <a:spcAft>
                <a:spcPts val="800"/>
              </a:spcAft>
              <a:buSzPct val="100000"/>
              <a:buChar char="•"/>
            </a:pPr>
            <a:r>
              <a:rPr lang="en-US" sz="1200" dirty="0">
                <a:solidFill>
                  <a:srgbClr val="111111"/>
                </a:solidFill>
                <a:latin typeface="Arial" pitchFamily="34" charset="0"/>
                <a:ea typeface="Arial" pitchFamily="34" charset="-122"/>
                <a:cs typeface="Arial" pitchFamily="34" charset="-120"/>
              </a:rPr>
              <a:t>Same photo split as the classifier; trained 74 min on an RTX 4060</a:t>
            </a:r>
            <a:endParaRPr lang="en-US" sz="1200" dirty="0"/>
          </a:p>
          <a:p>
            <a:pPr marL="342900" indent="-342900">
              <a:spcAft>
                <a:spcPts val="800"/>
              </a:spcAft>
              <a:buSzPct val="100000"/>
              <a:buChar char="•"/>
            </a:pPr>
            <a:r>
              <a:rPr lang="en-US" sz="1200" dirty="0">
                <a:solidFill>
                  <a:srgbClr val="111111"/>
                </a:solidFill>
                <a:latin typeface="Arial" pitchFamily="34" charset="0"/>
                <a:ea typeface="Arial" pitchFamily="34" charset="-122"/>
                <a:cs typeface="Arial" pitchFamily="34" charset="-120"/>
              </a:rPr>
              <a:t>Missed: small, blurred or hidden signs; 5 Direction boards</a:t>
            </a:r>
            <a:endParaRPr lang="en-US" sz="1200" dirty="0"/>
          </a:p>
          <a:p>
            <a:pPr marL="342900" indent="-342900">
              <a:spcAft>
                <a:spcPts val="800"/>
              </a:spcAft>
              <a:buSzPct val="100000"/>
              <a:buChar char="•"/>
            </a:pPr>
            <a:r>
              <a:rPr lang="en-US" sz="1200" dirty="0">
                <a:solidFill>
                  <a:srgbClr val="111111"/>
                </a:solidFill>
                <a:latin typeface="Arial" pitchFamily="34" charset="0"/>
                <a:ea typeface="Arial" pitchFamily="34" charset="-122"/>
                <a:cs typeface="Arial" pitchFamily="34" charset="-120"/>
              </a:rPr>
              <a:t>Extra boxes: mostly real but unannotated signs (visual check)</a:t>
            </a:r>
            <a:endParaRPr lang="en-US" sz="1200" dirty="0"/>
          </a:p>
          <a:p>
            <a:pPr marL="342900" indent="-342900">
              <a:spcAft>
                <a:spcPts val="800"/>
              </a:spcAft>
              <a:buSzPct val="100000"/>
              <a:buChar char="•"/>
            </a:pPr>
            <a:r>
              <a:rPr lang="en-US" sz="1200" dirty="0">
                <a:solidFill>
                  <a:srgbClr val="111111"/>
                </a:solidFill>
                <a:latin typeface="Arial" pitchFamily="34" charset="0"/>
                <a:ea typeface="Arial" pitchFamily="34" charset="-122"/>
                <a:cs typeface="Arial" pitchFamily="34" charset="-120"/>
              </a:rPr>
              <a:t>Signs outside the 26 classes still get the closest label</a:t>
            </a:r>
            <a:endParaRPr lang="en-US" sz="1200" dirty="0"/>
          </a:p>
        </p:txBody>
      </p:sp>
      <p:pic>
        <p:nvPicPr>
          <p:cNvPr id="22" name="detector-example" descr="C:\Users\ASUS G 16 JVR\Desktop\deepLearning_CNN\results\sign_detector\figures\test_predictions_example.jpg">    </p:cNvPr>
          <p:cNvPicPr>
            <a:picLocks noChangeAspect="1"/>
          </p:cNvPicPr>
          <p:nvPr/>
        </p:nvPicPr>
        <p:blipFill>
          <a:blip r:embed="rId1"/>
          <a:stretch>
            <a:fillRect/>
          </a:stretch>
        </p:blipFill>
        <p:spPr>
          <a:xfrm>
            <a:off x="7315200" y="3467005"/>
            <a:ext cx="4416552" cy="2484311"/>
          </a:xfrm>
          <a:prstGeom prst="rect">
            <a:avLst/>
          </a:prstGeom>
        </p:spPr>
      </p:pic>
      <p:sp>
        <p:nvSpPr>
          <p:cNvPr id="23" name="Text 20"/>
          <p:cNvSpPr txBox="1"/>
          <p:nvPr/>
        </p:nvSpPr>
        <p:spPr>
          <a:xfrm>
            <a:off x="7315200" y="6144768"/>
            <a:ext cx="4416552" cy="274320"/>
          </a:xfrm>
          <a:prstGeom prst="rect">
            <a:avLst/>
          </a:prstGeom>
          <a:noFill/>
          <a:ln/>
        </p:spPr>
        <p:txBody>
          <a:bodyPr wrap="square" lIns="0" tIns="0" rIns="0" bIns="0" rtlCol="0" anchor="t"/>
          <a:lstStyle/>
          <a:p>
            <a:pPr algn="ctr" indent="0" marL="0">
              <a:buNone/>
            </a:pPr>
            <a:r>
              <a:rPr lang="en-US" sz="1000" dirty="0">
                <a:solidFill>
                  <a:srgbClr val="555555"/>
                </a:solidFill>
                <a:latin typeface="Arial" pitchFamily="34" charset="0"/>
                <a:ea typeface="Arial" pitchFamily="34" charset="-122"/>
                <a:cs typeface="Arial" pitchFamily="34" charset="-120"/>
              </a:rPr>
              <a:t>Detector predictions on test photos (Ultralytics evaluation plot)</a:t>
            </a:r>
            <a:endParaRPr lang="en-US" sz="10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Demo</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Classifying a traffic-sign image with the trained final model</a:t>
            </a:r>
            <a:endParaRPr lang="en-US" sz="1400" dirty="0"/>
          </a:p>
        </p:txBody>
      </p:sp>
      <p:sp>
        <p:nvSpPr>
          <p:cNvPr id="4" name="Shape 2"/>
          <p:cNvSpPr/>
          <p:nvPr/>
        </p:nvSpPr>
        <p:spPr>
          <a:xfrm>
            <a:off x="822960" y="2286000"/>
            <a:ext cx="3017520" cy="1371600"/>
          </a:xfrm>
          <a:prstGeom prst="roundRect">
            <a:avLst>
              <a:gd name="adj" fmla="val 5333"/>
            </a:avLst>
          </a:prstGeom>
          <a:solidFill>
            <a:srgbClr val="EEF5F1"/>
          </a:solidFill>
          <a:ln w="12700">
            <a:solidFill>
              <a:srgbClr val="C9DDD2"/>
            </a:solidFill>
            <a:prstDash val="solid"/>
          </a:ln>
        </p:spPr>
      </p:sp>
      <p:sp>
        <p:nvSpPr>
          <p:cNvPr id="5" name="Text 3"/>
          <p:cNvSpPr txBox="1"/>
          <p:nvPr/>
        </p:nvSpPr>
        <p:spPr>
          <a:xfrm>
            <a:off x="960120" y="2286000"/>
            <a:ext cx="2743200" cy="137160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Input image</a:t>
            </a:r>
            <a:endParaRPr lang="en-US" sz="1700" dirty="0"/>
          </a:p>
          <a:p>
            <a:pPr algn="ctr" indent="0" marL="0">
              <a:buNone/>
            </a:pPr>
            <a:r>
              <a:rPr lang="en-US" sz="1300" dirty="0">
                <a:solidFill>
                  <a:srgbClr val="111111"/>
                </a:solidFill>
                <a:latin typeface="Arial" pitchFamily="34" charset="0"/>
                <a:ea typeface="Arial" pitchFamily="34" charset="-122"/>
                <a:cs typeface="Arial" pitchFamily="34" charset="-120"/>
              </a:rPr>
              <a:t>a cropped traffic-sign photo</a:t>
            </a:r>
            <a:endParaRPr lang="en-US" sz="1700" dirty="0"/>
          </a:p>
        </p:txBody>
      </p:sp>
      <p:sp>
        <p:nvSpPr>
          <p:cNvPr id="6" name="Shape 4"/>
          <p:cNvSpPr/>
          <p:nvPr/>
        </p:nvSpPr>
        <p:spPr>
          <a:xfrm>
            <a:off x="3886200" y="2971800"/>
            <a:ext cx="731520" cy="0"/>
          </a:xfrm>
          <a:prstGeom prst="line">
            <a:avLst/>
          </a:prstGeom>
          <a:noFill/>
          <a:ln w="28575">
            <a:solidFill>
              <a:srgbClr val="0B5A3C"/>
            </a:solidFill>
            <a:prstDash val="solid"/>
            <a:tailEnd type="triangle"/>
          </a:ln>
        </p:spPr>
      </p:sp>
      <p:sp>
        <p:nvSpPr>
          <p:cNvPr id="7" name="Shape 5"/>
          <p:cNvSpPr/>
          <p:nvPr/>
        </p:nvSpPr>
        <p:spPr>
          <a:xfrm>
            <a:off x="4663440" y="2286000"/>
            <a:ext cx="3017520" cy="1371600"/>
          </a:xfrm>
          <a:prstGeom prst="roundRect">
            <a:avLst>
              <a:gd name="adj" fmla="val 5333"/>
            </a:avLst>
          </a:prstGeom>
          <a:solidFill>
            <a:srgbClr val="0B5A3C"/>
          </a:solidFill>
          <a:ln w="12700">
            <a:solidFill>
              <a:srgbClr val="0B5A3C"/>
            </a:solidFill>
            <a:prstDash val="solid"/>
          </a:ln>
        </p:spPr>
      </p:sp>
      <p:sp>
        <p:nvSpPr>
          <p:cNvPr id="8" name="Text 6"/>
          <p:cNvSpPr txBox="1"/>
          <p:nvPr/>
        </p:nvSpPr>
        <p:spPr>
          <a:xfrm>
            <a:off x="4800600" y="2286000"/>
            <a:ext cx="2743200" cy="13716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Final model</a:t>
            </a:r>
            <a:endParaRPr lang="en-US" sz="1700" dirty="0"/>
          </a:p>
          <a:p>
            <a:pPr algn="ctr" indent="0" marL="0">
              <a:buNone/>
            </a:pPr>
            <a:r>
              <a:rPr lang="en-US" sz="1300" dirty="0">
                <a:solidFill>
                  <a:srgbClr val="FFFFFF"/>
                </a:solidFill>
                <a:latin typeface="Arial" pitchFamily="34" charset="0"/>
                <a:ea typeface="Arial" pitchFamily="34" charset="-122"/>
                <a:cs typeface="Arial" pitchFamily="34" charset="-120"/>
              </a:rPr>
              <a:t>ResNet-18 fine-tuned + tuned (best checkpoint)</a:t>
            </a:r>
            <a:endParaRPr lang="en-US" sz="1700" dirty="0"/>
          </a:p>
        </p:txBody>
      </p:sp>
      <p:sp>
        <p:nvSpPr>
          <p:cNvPr id="9" name="Shape 7"/>
          <p:cNvSpPr/>
          <p:nvPr/>
        </p:nvSpPr>
        <p:spPr>
          <a:xfrm>
            <a:off x="7726680" y="2971800"/>
            <a:ext cx="731520" cy="0"/>
          </a:xfrm>
          <a:prstGeom prst="line">
            <a:avLst/>
          </a:prstGeom>
          <a:noFill/>
          <a:ln w="28575">
            <a:solidFill>
              <a:srgbClr val="0B5A3C"/>
            </a:solidFill>
            <a:prstDash val="solid"/>
            <a:tailEnd type="triangle"/>
          </a:ln>
        </p:spPr>
      </p:sp>
      <p:sp>
        <p:nvSpPr>
          <p:cNvPr id="10" name="Shape 8"/>
          <p:cNvSpPr/>
          <p:nvPr/>
        </p:nvSpPr>
        <p:spPr>
          <a:xfrm>
            <a:off x="8503920" y="2286000"/>
            <a:ext cx="3017520" cy="1371600"/>
          </a:xfrm>
          <a:prstGeom prst="roundRect">
            <a:avLst>
              <a:gd name="adj" fmla="val 5333"/>
            </a:avLst>
          </a:prstGeom>
          <a:solidFill>
            <a:srgbClr val="EEF5F1"/>
          </a:solidFill>
          <a:ln w="12700">
            <a:solidFill>
              <a:srgbClr val="C9DDD2"/>
            </a:solidFill>
            <a:prstDash val="solid"/>
          </a:ln>
        </p:spPr>
      </p:sp>
      <p:sp>
        <p:nvSpPr>
          <p:cNvPr id="11" name="Text 9"/>
          <p:cNvSpPr txBox="1"/>
          <p:nvPr/>
        </p:nvSpPr>
        <p:spPr>
          <a:xfrm>
            <a:off x="8641080" y="2286000"/>
            <a:ext cx="2743200" cy="137160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Prediction</a:t>
            </a:r>
            <a:endParaRPr lang="en-US" sz="1700" dirty="0"/>
          </a:p>
          <a:p>
            <a:pPr algn="ctr" indent="0" marL="0">
              <a:buNone/>
            </a:pPr>
            <a:r>
              <a:rPr lang="en-US" sz="1300" dirty="0">
                <a:solidFill>
                  <a:srgbClr val="111111"/>
                </a:solidFill>
                <a:latin typeface="Arial" pitchFamily="34" charset="0"/>
                <a:ea typeface="Arial" pitchFamily="34" charset="-122"/>
                <a:cs typeface="Arial" pitchFamily="34" charset="-120"/>
              </a:rPr>
              <a:t>class name + confidence</a:t>
            </a:r>
            <a:endParaRPr lang="en-US" sz="1700" dirty="0"/>
          </a:p>
        </p:txBody>
      </p:sp>
      <p:sp>
        <p:nvSpPr>
          <p:cNvPr id="12" name="demo-placeholder"/>
          <p:cNvSpPr/>
          <p:nvPr/>
        </p:nvSpPr>
        <p:spPr>
          <a:xfrm>
            <a:off x="822960" y="4069080"/>
            <a:ext cx="10607040" cy="2057400"/>
          </a:xfrm>
          <a:prstGeom prst="roundRect">
            <a:avLst>
              <a:gd name="adj" fmla="val 3556"/>
            </a:avLst>
          </a:prstGeom>
          <a:solidFill>
            <a:srgbClr val="FFFFFF"/>
          </a:solidFill>
          <a:ln w="9525">
            <a:solidFill>
              <a:srgbClr val="C9DDD2"/>
            </a:solidFill>
            <a:prstDash val="solid"/>
          </a:ln>
        </p:spPr>
      </p:sp>
      <p:sp>
        <p:nvSpPr>
          <p:cNvPr id="13" name="Text 11"/>
          <p:cNvSpPr txBox="1"/>
          <p:nvPr/>
        </p:nvSpPr>
        <p:spPr>
          <a:xfrm>
            <a:off x="1097280" y="4206240"/>
            <a:ext cx="10058400" cy="1783080"/>
          </a:xfrm>
          <a:prstGeom prst="rect">
            <a:avLst/>
          </a:prstGeom>
          <a:noFill/>
          <a:ln/>
        </p:spPr>
        <p:txBody>
          <a:bodyPr wrap="square" lIns="0" tIns="0" rIns="0" bIns="0" rtlCol="0" anchor="ctr"/>
          <a:lstStyle/>
          <a:p>
            <a:pPr algn="ctr" indent="0" marL="0">
              <a:buNone/>
            </a:pPr>
            <a:r>
              <a:rPr lang="en-US" sz="1500" i="1" dirty="0">
                <a:solidFill>
                  <a:srgbClr val="555555"/>
                </a:solidFill>
                <a:latin typeface="Arial" pitchFamily="34" charset="0"/>
                <a:ea typeface="Arial" pitchFamily="34" charset="-122"/>
                <a:cs typeface="Arial" pitchFamily="34" charset="-120"/>
              </a:rPr>
              <a:t>[Demo format to be finalised: e.g. live notebook cell or web app, with screenshots of real predictions added here]</a:t>
            </a:r>
            <a:endParaRPr lang="en-US" sz="15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Limitations &amp; Future Work</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Honest scope of the study and what to do next</a:t>
            </a:r>
            <a:endParaRPr lang="en-US" sz="1400" dirty="0"/>
          </a:p>
        </p:txBody>
      </p:sp>
      <p:sp>
        <p:nvSpPr>
          <p:cNvPr id="4" name="limits-card"/>
          <p:cNvSpPr/>
          <p:nvPr/>
        </p:nvSpPr>
        <p:spPr>
          <a:xfrm>
            <a:off x="457200" y="2011680"/>
            <a:ext cx="5486400" cy="4251960"/>
          </a:xfrm>
          <a:prstGeom prst="roundRect">
            <a:avLst>
              <a:gd name="adj" fmla="val 1720"/>
            </a:avLst>
          </a:prstGeom>
          <a:solidFill>
            <a:srgbClr val="EEF5F1"/>
          </a:solidFill>
          <a:ln w="9525">
            <a:solidFill>
              <a:srgbClr val="EEF5F1"/>
            </a:solidFill>
            <a:prstDash val="solid"/>
          </a:ln>
        </p:spPr>
      </p:sp>
      <p:sp>
        <p:nvSpPr>
          <p:cNvPr id="5" name="Text 3"/>
          <p:cNvSpPr txBox="1"/>
          <p:nvPr/>
        </p:nvSpPr>
        <p:spPr>
          <a:xfrm>
            <a:off x="685800" y="2148840"/>
            <a:ext cx="5029200" cy="347472"/>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Limitations</a:t>
            </a:r>
            <a:endParaRPr lang="en-US" sz="1600" dirty="0"/>
          </a:p>
        </p:txBody>
      </p:sp>
      <p:sp>
        <p:nvSpPr>
          <p:cNvPr id="6" name="Text 4"/>
          <p:cNvSpPr txBox="1"/>
          <p:nvPr/>
        </p:nvSpPr>
        <p:spPr>
          <a:xfrm>
            <a:off x="685800" y="2560320"/>
            <a:ext cx="5074920" cy="3611880"/>
          </a:xfrm>
          <a:prstGeom prst="rect">
            <a:avLst/>
          </a:prstGeom>
          <a:noFill/>
          <a:ln/>
        </p:spPr>
        <p:txBody>
          <a:bodyPr wrap="square" lIns="635" tIns="635" rIns="635" bIns="635" rtlCol="0" anchor="t"/>
          <a:lstStyle/>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Approach comparison and tuning: one split, seed 42 (grouped re-evaluation covers the final configuration only)</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Original split: 18.1% of test crops are near-duplicate video frames of training crops</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Grouped evaluation is independent by drive, not by location: the same physical sign can appear on another trip (197 strong matches)</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Only 20 drive clusters; rare classes have few crops (Cross Road 42, F1 0.81)</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Classifier knows only 26 classes; detector is a single run on the original split</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Some label noise in the dataset (misclassified images, unannotated signs)</a:t>
            </a:r>
            <a:endParaRPr lang="en-US" sz="1300" dirty="0"/>
          </a:p>
        </p:txBody>
      </p:sp>
      <p:sp>
        <p:nvSpPr>
          <p:cNvPr id="7" name="future-card"/>
          <p:cNvSpPr/>
          <p:nvPr/>
        </p:nvSpPr>
        <p:spPr>
          <a:xfrm>
            <a:off x="6245352" y="2011680"/>
            <a:ext cx="5486400" cy="4251960"/>
          </a:xfrm>
          <a:prstGeom prst="roundRect">
            <a:avLst>
              <a:gd name="adj" fmla="val 1720"/>
            </a:avLst>
          </a:prstGeom>
          <a:solidFill>
            <a:srgbClr val="EEF5F1"/>
          </a:solidFill>
          <a:ln w="9525">
            <a:solidFill>
              <a:srgbClr val="EEF5F1"/>
            </a:solidFill>
            <a:prstDash val="solid"/>
          </a:ln>
        </p:spPr>
      </p:sp>
      <p:sp>
        <p:nvSpPr>
          <p:cNvPr id="8" name="Text 6"/>
          <p:cNvSpPr txBox="1"/>
          <p:nvPr/>
        </p:nvSpPr>
        <p:spPr>
          <a:xfrm>
            <a:off x="6473952" y="2148840"/>
            <a:ext cx="5029200" cy="347472"/>
          </a:xfrm>
          <a:prstGeom prst="rect">
            <a:avLst/>
          </a:prstGeom>
          <a:noFill/>
          <a:ln/>
        </p:spPr>
        <p:txBody>
          <a:bodyPr wrap="square" lIns="0" tIns="0" rIns="0" bIns="0" rtlCol="0" anchor="ctr"/>
          <a:lstStyle/>
          <a:p>
            <a:pPr indent="0" marL="0">
              <a:buNone/>
            </a:pPr>
            <a:r>
              <a:rPr lang="en-US" sz="1600" b="1" dirty="0">
                <a:solidFill>
                  <a:srgbClr val="0B5A3C"/>
                </a:solidFill>
                <a:latin typeface="Arial" pitchFamily="34" charset="0"/>
                <a:ea typeface="Arial" pitchFamily="34" charset="-122"/>
                <a:cs typeface="Arial" pitchFamily="34" charset="-120"/>
              </a:rPr>
              <a:t>Future work</a:t>
            </a:r>
            <a:endParaRPr lang="en-US" sz="1600" dirty="0"/>
          </a:p>
        </p:txBody>
      </p:sp>
      <p:sp>
        <p:nvSpPr>
          <p:cNvPr id="9" name="Text 7"/>
          <p:cNvSpPr txBox="1"/>
          <p:nvPr/>
        </p:nvSpPr>
        <p:spPr>
          <a:xfrm>
            <a:off x="6473952" y="2560320"/>
            <a:ext cx="5074920" cy="3611880"/>
          </a:xfrm>
          <a:prstGeom prst="rect">
            <a:avLst/>
          </a:prstGeom>
          <a:noFill/>
          <a:ln/>
        </p:spPr>
        <p:txBody>
          <a:bodyPr wrap="square" lIns="635" tIns="635" rIns="635" bIns="635" rtlCol="0" anchor="t"/>
          <a:lstStyle/>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Split by location (GPS or a sign map), not only by drive</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Grouped evaluation also for the approach comparison and the detector</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More Cross Road and rare-class data; review annotations with the dataset author</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Add the unannotated signs and more Direction boards to the detector labels</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Handle signs outside the 26 classes (an "other sign" class)</a:t>
            </a:r>
            <a:endParaRPr lang="en-US" sz="1300" dirty="0"/>
          </a:p>
          <a:p>
            <a:pPr marL="342900" indent="-342900">
              <a:spcAft>
                <a:spcPts val="800"/>
              </a:spcAft>
              <a:buSzPct val="100000"/>
              <a:buChar char="•"/>
            </a:pPr>
            <a:r>
              <a:rPr lang="en-US" sz="1300" dirty="0">
                <a:solidFill>
                  <a:srgbClr val="111111"/>
                </a:solidFill>
                <a:latin typeface="Arial" pitchFamily="34" charset="0"/>
                <a:ea typeface="Arial" pitchFamily="34" charset="-122"/>
                <a:cs typeface="Arial" pitchFamily="34" charset="-120"/>
              </a:rPr>
              <a:t>Robustness on small, blurred, occluded signs; other architectures</a:t>
            </a:r>
            <a:endParaRPr lang="en-US" sz="13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Conclusion</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Key engineering takeaways</a:t>
            </a:r>
            <a:endParaRPr lang="en-US" sz="1400" dirty="0"/>
          </a:p>
        </p:txBody>
      </p:sp>
      <p:sp>
        <p:nvSpPr>
          <p:cNvPr id="4" name="take-0"/>
          <p:cNvSpPr/>
          <p:nvPr/>
        </p:nvSpPr>
        <p:spPr>
          <a:xfrm>
            <a:off x="457200" y="2011680"/>
            <a:ext cx="3611880" cy="2011680"/>
          </a:xfrm>
          <a:prstGeom prst="roundRect">
            <a:avLst>
              <a:gd name="adj" fmla="val 3636"/>
            </a:avLst>
          </a:prstGeom>
          <a:solidFill>
            <a:srgbClr val="EEF5F1"/>
          </a:solidFill>
          <a:ln w="9525">
            <a:solidFill>
              <a:srgbClr val="EEF5F1"/>
            </a:solidFill>
            <a:prstDash val="solid"/>
          </a:ln>
        </p:spPr>
      </p:sp>
      <p:sp>
        <p:nvSpPr>
          <p:cNvPr id="5" name="Text 3"/>
          <p:cNvSpPr txBox="1"/>
          <p:nvPr/>
        </p:nvSpPr>
        <p:spPr>
          <a:xfrm>
            <a:off x="640080" y="2148840"/>
            <a:ext cx="3246120" cy="777240"/>
          </a:xfrm>
          <a:prstGeom prst="rect">
            <a:avLst/>
          </a:prstGeom>
          <a:noFill/>
          <a:ln/>
        </p:spPr>
        <p:txBody>
          <a:bodyPr wrap="square" lIns="0" tIns="0" rIns="0" bIns="0" rtlCol="0" anchor="ctr"/>
          <a:lstStyle/>
          <a:p>
            <a:pPr algn="ctr" indent="0" marL="0">
              <a:buNone/>
            </a:pPr>
            <a:r>
              <a:rPr lang="en-US" sz="3600" b="1" dirty="0">
                <a:solidFill>
                  <a:srgbClr val="DD8452"/>
                </a:solidFill>
                <a:latin typeface="Arial" pitchFamily="34" charset="0"/>
                <a:ea typeface="Arial" pitchFamily="34" charset="-122"/>
                <a:cs typeface="Arial" pitchFamily="34" charset="-120"/>
              </a:rPr>
              <a:t>98.70%</a:t>
            </a:r>
            <a:endParaRPr lang="en-US" sz="3600" dirty="0"/>
          </a:p>
        </p:txBody>
      </p:sp>
      <p:sp>
        <p:nvSpPr>
          <p:cNvPr id="6" name="Text 4"/>
          <p:cNvSpPr txBox="1"/>
          <p:nvPr/>
        </p:nvSpPr>
        <p:spPr>
          <a:xfrm>
            <a:off x="685800" y="2971800"/>
            <a:ext cx="3154680" cy="960120"/>
          </a:xfrm>
          <a:prstGeom prst="rect">
            <a:avLst/>
          </a:prstGeom>
          <a:noFill/>
          <a:ln/>
        </p:spPr>
        <p:txBody>
          <a:bodyPr wrap="square" lIns="0" tIns="0" rIns="0" bIns="0" rtlCol="0" anchor="t"/>
          <a:lstStyle/>
          <a:p>
            <a:pPr algn="ctr" indent="0" marL="0">
              <a:buNone/>
            </a:pPr>
            <a:r>
              <a:rPr lang="en-US" sz="1300" dirty="0">
                <a:solidFill>
                  <a:srgbClr val="111111"/>
                </a:solidFill>
                <a:latin typeface="Arial" pitchFamily="34" charset="0"/>
                <a:ea typeface="Arial" pitchFamily="34" charset="-122"/>
                <a:cs typeface="Arial" pitchFamily="34" charset="-120"/>
              </a:rPr>
              <a:t>final model on the original random-photo test set (98.47% macro F1)</a:t>
            </a:r>
            <a:endParaRPr lang="en-US" sz="1300" dirty="0"/>
          </a:p>
        </p:txBody>
      </p:sp>
      <p:sp>
        <p:nvSpPr>
          <p:cNvPr id="7" name="take-1"/>
          <p:cNvSpPr/>
          <p:nvPr/>
        </p:nvSpPr>
        <p:spPr>
          <a:xfrm>
            <a:off x="4279392" y="2011680"/>
            <a:ext cx="3611880" cy="2011680"/>
          </a:xfrm>
          <a:prstGeom prst="roundRect">
            <a:avLst>
              <a:gd name="adj" fmla="val 3636"/>
            </a:avLst>
          </a:prstGeom>
          <a:solidFill>
            <a:srgbClr val="EEF5F1"/>
          </a:solidFill>
          <a:ln w="9525">
            <a:solidFill>
              <a:srgbClr val="EEF5F1"/>
            </a:solidFill>
            <a:prstDash val="solid"/>
          </a:ln>
        </p:spPr>
      </p:sp>
      <p:sp>
        <p:nvSpPr>
          <p:cNvPr id="8" name="Text 6"/>
          <p:cNvSpPr txBox="1"/>
          <p:nvPr/>
        </p:nvSpPr>
        <p:spPr>
          <a:xfrm>
            <a:off x="4462272" y="2148840"/>
            <a:ext cx="3246120" cy="777240"/>
          </a:xfrm>
          <a:prstGeom prst="rect">
            <a:avLst/>
          </a:prstGeom>
          <a:noFill/>
          <a:ln/>
        </p:spPr>
        <p:txBody>
          <a:bodyPr wrap="square" lIns="0" tIns="0" rIns="0" bIns="0" rtlCol="0" anchor="ctr"/>
          <a:lstStyle/>
          <a:p>
            <a:pPr algn="ctr" indent="0" marL="0">
              <a:buNone/>
            </a:pPr>
            <a:r>
              <a:rPr lang="en-US" sz="3600" b="1" dirty="0">
                <a:solidFill>
                  <a:srgbClr val="0B5A3C"/>
                </a:solidFill>
                <a:latin typeface="Arial" pitchFamily="34" charset="0"/>
                <a:ea typeface="Arial" pitchFamily="34" charset="-122"/>
                <a:cs typeface="Arial" pitchFamily="34" charset="-120"/>
              </a:rPr>
              <a:t>98.31%</a:t>
            </a:r>
            <a:endParaRPr lang="en-US" sz="3600" dirty="0"/>
          </a:p>
        </p:txBody>
      </p:sp>
      <p:sp>
        <p:nvSpPr>
          <p:cNvPr id="9" name="Text 7"/>
          <p:cNvSpPr txBox="1"/>
          <p:nvPr/>
        </p:nvSpPr>
        <p:spPr>
          <a:xfrm>
            <a:off x="4507992" y="2971800"/>
            <a:ext cx="3154680" cy="960120"/>
          </a:xfrm>
          <a:prstGeom prst="rect">
            <a:avLst/>
          </a:prstGeom>
          <a:noFill/>
          <a:ln/>
        </p:spPr>
        <p:txBody>
          <a:bodyPr wrap="square" lIns="0" tIns="0" rIns="0" bIns="0" rtlCol="0" anchor="t"/>
          <a:lstStyle/>
          <a:p>
            <a:pPr algn="ctr" indent="0" marL="0">
              <a:buNone/>
            </a:pPr>
            <a:r>
              <a:rPr lang="en-US" sz="1300" dirty="0">
                <a:solidFill>
                  <a:srgbClr val="111111"/>
                </a:solidFill>
                <a:latin typeface="Arial" pitchFamily="34" charset="0"/>
                <a:ea typeface="Arial" pitchFamily="34" charset="-122"/>
                <a:cs typeface="Arial" pitchFamily="34" charset="-120"/>
              </a:rPr>
              <a:t>± 0.20: same configuration, grouped by drive, 15 runs (97.24% macro F1); a different protocol</a:t>
            </a:r>
            <a:endParaRPr lang="en-US" sz="1300" dirty="0"/>
          </a:p>
        </p:txBody>
      </p:sp>
      <p:sp>
        <p:nvSpPr>
          <p:cNvPr id="10" name="take-2"/>
          <p:cNvSpPr/>
          <p:nvPr/>
        </p:nvSpPr>
        <p:spPr>
          <a:xfrm>
            <a:off x="8101584" y="2011680"/>
            <a:ext cx="3611880" cy="2011680"/>
          </a:xfrm>
          <a:prstGeom prst="roundRect">
            <a:avLst>
              <a:gd name="adj" fmla="val 3636"/>
            </a:avLst>
          </a:prstGeom>
          <a:solidFill>
            <a:srgbClr val="EEF5F1"/>
          </a:solidFill>
          <a:ln w="9525">
            <a:solidFill>
              <a:srgbClr val="EEF5F1"/>
            </a:solidFill>
            <a:prstDash val="solid"/>
          </a:ln>
        </p:spPr>
      </p:sp>
      <p:sp>
        <p:nvSpPr>
          <p:cNvPr id="11" name="Text 9"/>
          <p:cNvSpPr txBox="1"/>
          <p:nvPr/>
        </p:nvSpPr>
        <p:spPr>
          <a:xfrm>
            <a:off x="8284464" y="2148840"/>
            <a:ext cx="3246120" cy="777240"/>
          </a:xfrm>
          <a:prstGeom prst="rect">
            <a:avLst/>
          </a:prstGeom>
          <a:noFill/>
          <a:ln/>
        </p:spPr>
        <p:txBody>
          <a:bodyPr wrap="square" lIns="0" tIns="0" rIns="0" bIns="0" rtlCol="0" anchor="ctr"/>
          <a:lstStyle/>
          <a:p>
            <a:pPr algn="ctr" indent="0" marL="0">
              <a:buNone/>
            </a:pPr>
            <a:r>
              <a:rPr lang="en-US" sz="3600" b="1" dirty="0">
                <a:solidFill>
                  <a:srgbClr val="0B5A3C"/>
                </a:solidFill>
                <a:latin typeface="Arial" pitchFamily="34" charset="0"/>
                <a:ea typeface="Arial" pitchFamily="34" charset="-122"/>
                <a:cs typeface="Arial" pitchFamily="34" charset="-120"/>
              </a:rPr>
              <a:t>+22.25 pp</a:t>
            </a:r>
            <a:endParaRPr lang="en-US" sz="3600" dirty="0"/>
          </a:p>
        </p:txBody>
      </p:sp>
      <p:sp>
        <p:nvSpPr>
          <p:cNvPr id="12" name="Text 10"/>
          <p:cNvSpPr txBox="1"/>
          <p:nvPr/>
        </p:nvSpPr>
        <p:spPr>
          <a:xfrm>
            <a:off x="8330184" y="2971800"/>
            <a:ext cx="3154680" cy="960120"/>
          </a:xfrm>
          <a:prstGeom prst="rect">
            <a:avLst/>
          </a:prstGeom>
          <a:noFill/>
          <a:ln/>
        </p:spPr>
        <p:txBody>
          <a:bodyPr wrap="square" lIns="0" tIns="0" rIns="0" bIns="0" rtlCol="0" anchor="t"/>
          <a:lstStyle/>
          <a:p>
            <a:pPr algn="ctr" indent="0" marL="0">
              <a:buNone/>
            </a:pPr>
            <a:r>
              <a:rPr lang="en-US" sz="1300" dirty="0">
                <a:solidFill>
                  <a:srgbClr val="111111"/>
                </a:solidFill>
                <a:latin typeface="Arial" pitchFamily="34" charset="0"/>
                <a:ea typeface="Arial" pitchFamily="34" charset="-122"/>
                <a:cs typeface="Arial" pitchFamily="34" charset="-120"/>
              </a:rPr>
              <a:t>accuracy gained from transfer learning alone (scratch → frozen)</a:t>
            </a:r>
            <a:endParaRPr lang="en-US" sz="1300" dirty="0"/>
          </a:p>
        </p:txBody>
      </p:sp>
      <p:sp>
        <p:nvSpPr>
          <p:cNvPr id="13" name="Text 11"/>
          <p:cNvSpPr txBox="1"/>
          <p:nvPr/>
        </p:nvSpPr>
        <p:spPr>
          <a:xfrm>
            <a:off x="457200" y="4297680"/>
            <a:ext cx="11274552" cy="201168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rgbClr val="111111"/>
                </a:solidFill>
                <a:latin typeface="Arial" pitchFamily="34" charset="0"/>
                <a:ea typeface="Arial" pitchFamily="34" charset="-122"/>
                <a:cs typeface="Arial" pitchFamily="34" charset="-120"/>
              </a:rPr>
              <a:t>Transfer learning matters most on a small dataset; full fine-tuning adds the most on rare and similar classes</a:t>
            </a:r>
            <a:endParaRPr lang="en-US" sz="1500" dirty="0"/>
          </a:p>
          <a:p>
            <a:pPr marL="342900" indent="-342900">
              <a:spcAft>
                <a:spcPts val="800"/>
              </a:spcAft>
              <a:buSzPct val="100000"/>
              <a:buChar char="•"/>
            </a:pPr>
            <a:r>
              <a:rPr lang="en-US" sz="1500" dirty="0">
                <a:solidFill>
                  <a:srgbClr val="111111"/>
                </a:solidFill>
                <a:latin typeface="Arial" pitchFamily="34" charset="0"/>
                <a:ea typeface="Arial" pitchFamily="34" charset="-122"/>
                <a:cs typeface="Arial" pitchFamily="34" charset="-120"/>
              </a:rPr>
              <a:t>Grouping by drive confirms about 98% accuracy on unseen drives, but shows variation between drives and a Cross Road weakness</a:t>
            </a:r>
            <a:endParaRPr lang="en-US" sz="1500" dirty="0"/>
          </a:p>
          <a:p>
            <a:pPr marL="342900" indent="-342900">
              <a:spcAft>
                <a:spcPts val="800"/>
              </a:spcAft>
              <a:buSzPct val="100000"/>
              <a:buChar char="•"/>
            </a:pPr>
            <a:r>
              <a:rPr lang="en-US" sz="1500" dirty="0">
                <a:solidFill>
                  <a:srgbClr val="111111"/>
                </a:solidFill>
                <a:latin typeface="Arial" pitchFamily="34" charset="0"/>
                <a:ea typeface="Arial" pitchFamily="34" charset="-122"/>
                <a:cs typeface="Arial" pitchFamily="34" charset="-120"/>
              </a:rPr>
              <a:t>Extension: with a YOLO detector, 96.1% of test signs in full street photos are found and correctly classified</a:t>
            </a:r>
            <a:endParaRPr lang="en-US" sz="15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1920240"/>
            <a:ext cx="11274552" cy="1005840"/>
          </a:xfrm>
          <a:prstGeom prst="rect">
            <a:avLst/>
          </a:prstGeom>
          <a:noFill/>
          <a:ln/>
        </p:spPr>
        <p:txBody>
          <a:bodyPr wrap="square" lIns="0" tIns="0" rIns="0" bIns="0" rtlCol="0" anchor="ctr"/>
          <a:lstStyle/>
          <a:p>
            <a:pPr algn="ctr" indent="0" marL="0">
              <a:buNone/>
            </a:pPr>
            <a:r>
              <a:rPr lang="en-US" sz="4800" b="1" dirty="0">
                <a:solidFill>
                  <a:srgbClr val="0B5A3C"/>
                </a:solidFill>
                <a:latin typeface="Arial" pitchFamily="34" charset="0"/>
                <a:ea typeface="Arial" pitchFamily="34" charset="-122"/>
                <a:cs typeface="Arial" pitchFamily="34" charset="-120"/>
              </a:rPr>
              <a:t>Thank you</a:t>
            </a:r>
            <a:endParaRPr lang="en-US" sz="4800" dirty="0"/>
          </a:p>
        </p:txBody>
      </p:sp>
      <p:sp>
        <p:nvSpPr>
          <p:cNvPr id="3" name="Text 1"/>
          <p:cNvSpPr txBox="1"/>
          <p:nvPr/>
        </p:nvSpPr>
        <p:spPr>
          <a:xfrm>
            <a:off x="457200" y="2926080"/>
            <a:ext cx="11274552" cy="548640"/>
          </a:xfrm>
          <a:prstGeom prst="rect">
            <a:avLst/>
          </a:prstGeom>
          <a:noFill/>
          <a:ln/>
        </p:spPr>
        <p:txBody>
          <a:bodyPr wrap="square" lIns="0" tIns="0" rIns="0" bIns="0" rtlCol="0" anchor="ctr"/>
          <a:lstStyle/>
          <a:p>
            <a:pPr algn="ctr" indent="0" marL="0">
              <a:buNone/>
            </a:pPr>
            <a:r>
              <a:rPr lang="en-US" sz="2200" dirty="0">
                <a:solidFill>
                  <a:srgbClr val="0B5A3C"/>
                </a:solidFill>
                <a:latin typeface="Arial" pitchFamily="34" charset="0"/>
                <a:ea typeface="Arial" pitchFamily="34" charset="-122"/>
                <a:cs typeface="Arial" pitchFamily="34" charset="-120"/>
              </a:rPr>
              <a:t>Questions &amp; answers</a:t>
            </a:r>
            <a:endParaRPr lang="en-US" sz="2200" dirty="0"/>
          </a:p>
        </p:txBody>
      </p:sp>
      <p:sp>
        <p:nvSpPr>
          <p:cNvPr id="4" name="repo-card"/>
          <p:cNvSpPr/>
          <p:nvPr/>
        </p:nvSpPr>
        <p:spPr>
          <a:xfrm>
            <a:off x="2898648" y="3931920"/>
            <a:ext cx="6400800" cy="1280160"/>
          </a:xfrm>
          <a:prstGeom prst="roundRect">
            <a:avLst>
              <a:gd name="adj" fmla="val 5714"/>
            </a:avLst>
          </a:prstGeom>
          <a:solidFill>
            <a:srgbClr val="EEF5F1"/>
          </a:solidFill>
          <a:ln w="9525">
            <a:solidFill>
              <a:srgbClr val="EEF5F1"/>
            </a:solidFill>
            <a:prstDash val="solid"/>
          </a:ln>
        </p:spPr>
      </p:sp>
      <p:sp>
        <p:nvSpPr>
          <p:cNvPr id="5" name="Text 3"/>
          <p:cNvSpPr txBox="1"/>
          <p:nvPr/>
        </p:nvSpPr>
        <p:spPr>
          <a:xfrm>
            <a:off x="2898648" y="3931920"/>
            <a:ext cx="6400800" cy="1280160"/>
          </a:xfrm>
          <a:prstGeom prst="rect">
            <a:avLst/>
          </a:prstGeom>
          <a:noFill/>
          <a:ln/>
        </p:spPr>
        <p:txBody>
          <a:bodyPr wrap="square" lIns="0" tIns="0" rIns="0" bIns="0" rtlCol="0" anchor="ctr"/>
          <a:lstStyle/>
          <a:p>
            <a:pPr algn="ctr" indent="0" marL="0">
              <a:buNone/>
            </a:pPr>
            <a:r>
              <a:rPr lang="en-US" sz="1600" b="1" dirty="0">
                <a:solidFill>
                  <a:srgbClr val="0B5A3C"/>
                </a:solidFill>
                <a:latin typeface="Arial" pitchFamily="34" charset="0"/>
                <a:ea typeface="Arial" pitchFamily="34" charset="-122"/>
                <a:cs typeface="Arial" pitchFamily="34" charset="-120"/>
              </a:rPr>
              <a:t>Code, results and README</a:t>
            </a:r>
            <a:endParaRPr lang="en-US" sz="1600" dirty="0"/>
          </a:p>
          <a:p>
            <a:pPr algn="ctr" indent="0" marL="0">
              <a:buNone/>
            </a:pPr>
            <a:r>
              <a:rPr lang="en-US" sz="1600" dirty="0">
                <a:solidFill>
                  <a:srgbClr val="111111"/>
                </a:solidFill>
                <a:latin typeface="Arial" pitchFamily="34" charset="0"/>
                <a:ea typeface="Arial" pitchFamily="34" charset="-122"/>
                <a:cs typeface="Arial" pitchFamily="34" charset="-120"/>
              </a:rPr>
              <a:t>github.com/RothRothRoth/DeepLearning_CNN</a:t>
            </a:r>
            <a:endParaRPr lang="en-US" sz="1600" dirty="0"/>
          </a:p>
        </p:txBody>
      </p:sp>
      <p:sp>
        <p:nvSpPr>
          <p:cNvPr id="7"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endParaRPr lang="en-US" sz="3000" dirty="0"/>
          </a:p>
        </p:txBody>
      </p:sp>
      <p:sp>
        <p:nvSpPr>
          <p:cNvPr id="8"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endParaRPr lang="en-US" sz="14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Backup: Comparison Figures</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Final model highlighted in orange</a:t>
            </a:r>
            <a:endParaRPr lang="en-US" sz="1400" dirty="0"/>
          </a:p>
        </p:txBody>
      </p:sp>
      <p:pic>
        <p:nvPicPr>
          <p:cNvPr id="4" name="fig-accuracy" descr="C:/Users/ASUS G 16 JVR/Desktop/deepLearning_CNN/results/final_comparison/comparison_test_accuracy.png">    </p:cNvPr>
          <p:cNvPicPr>
            <a:picLocks noChangeAspect="1"/>
          </p:cNvPicPr>
          <p:nvPr/>
        </p:nvPicPr>
        <p:blipFill>
          <a:blip r:embed="rId1"/>
          <a:stretch>
            <a:fillRect/>
          </a:stretch>
        </p:blipFill>
        <p:spPr>
          <a:xfrm>
            <a:off x="457200" y="2172970"/>
            <a:ext cx="5532120" cy="3380740"/>
          </a:xfrm>
          <a:prstGeom prst="rect">
            <a:avLst/>
          </a:prstGeom>
        </p:spPr>
      </p:pic>
      <p:pic>
        <p:nvPicPr>
          <p:cNvPr id="5" name="fig-macro-f1" descr="C:/Users/ASUS G 16 JVR/Desktop/deepLearning_CNN/results/final_comparison/comparison_macro_f1.png">    </p:cNvPr>
          <p:cNvPicPr>
            <a:picLocks noChangeAspect="1"/>
          </p:cNvPicPr>
          <p:nvPr/>
        </p:nvPicPr>
        <p:blipFill>
          <a:blip r:embed="rId2"/>
          <a:stretch>
            <a:fillRect/>
          </a:stretch>
        </p:blipFill>
        <p:spPr>
          <a:xfrm>
            <a:off x="6199632" y="2172970"/>
            <a:ext cx="5532120" cy="3380740"/>
          </a:xfrm>
          <a:prstGeom prst="rect">
            <a:avLst/>
          </a:prstGeom>
        </p:spPr>
      </p:pic>
      <p:sp>
        <p:nvSpPr>
          <p:cNvPr id="6" name="Text 2"/>
          <p:cNvSpPr txBox="1"/>
          <p:nvPr/>
        </p:nvSpPr>
        <p:spPr>
          <a:xfrm>
            <a:off x="457200" y="5852160"/>
            <a:ext cx="11274552" cy="502920"/>
          </a:xfrm>
          <a:prstGeom prst="rect">
            <a:avLst/>
          </a:prstGeom>
          <a:noFill/>
          <a:ln/>
        </p:spPr>
        <p:txBody>
          <a:bodyPr wrap="square" lIns="0" tIns="0" rIns="0" bIns="0" rtlCol="0" anchor="t"/>
          <a:lstStyle/>
          <a:p>
            <a:pPr algn="l" indent="0" marL="0">
              <a:buNone/>
            </a:pPr>
            <a:r>
              <a:rPr lang="en-US" sz="1300" dirty="0">
                <a:solidFill>
                  <a:srgbClr val="111111"/>
                </a:solidFill>
                <a:latin typeface="Arial" pitchFamily="34" charset="0"/>
                <a:ea typeface="Arial" pitchFamily="34" charset="-122"/>
                <a:cs typeface="Arial" pitchFamily="34" charset="-120"/>
              </a:rPr>
              <a:t>Macro F1 shows the gap more clearly than accuracy: SmallCNN reaches 70.19% accuracy but only 50.78% macro F1, because it fails on rare classes.</a:t>
            </a:r>
            <a:endParaRPr lang="en-US" sz="13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Backup: Learning Curves: Training vs. Validation Loss</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Signs of underfitting and overfitting for each approach</a:t>
            </a:r>
            <a:endParaRPr lang="en-US" sz="1400" dirty="0"/>
          </a:p>
        </p:txBody>
      </p:sp>
      <p:pic>
        <p:nvPicPr>
          <p:cNvPr id="4" name="curve-0" descr="C:/Users/ASUS G 16 JVR/Desktop/deepLearning_CNN/results/small_cnn/20261006-081721_seed42/figures/loss_curve.png">    </p:cNvPr>
          <p:cNvPicPr>
            <a:picLocks noChangeAspect="1"/>
          </p:cNvPicPr>
          <p:nvPr/>
        </p:nvPicPr>
        <p:blipFill>
          <a:blip r:embed="rId1"/>
          <a:stretch>
            <a:fillRect/>
          </a:stretch>
        </p:blipFill>
        <p:spPr>
          <a:xfrm>
            <a:off x="457200" y="2025968"/>
            <a:ext cx="3611880" cy="2257425"/>
          </a:xfrm>
          <a:prstGeom prst="rect">
            <a:avLst/>
          </a:prstGeom>
        </p:spPr>
      </p:pic>
      <p:sp>
        <p:nvSpPr>
          <p:cNvPr id="5" name="Text 2"/>
          <p:cNvSpPr txBox="1"/>
          <p:nvPr/>
        </p:nvSpPr>
        <p:spPr>
          <a:xfrm>
            <a:off x="457200" y="4480560"/>
            <a:ext cx="3611880" cy="384048"/>
          </a:xfrm>
          <a:prstGeom prst="rect">
            <a:avLst/>
          </a:prstGeom>
          <a:noFill/>
          <a:ln/>
        </p:spPr>
        <p:txBody>
          <a:bodyPr wrap="square" lIns="0" tIns="0" rIns="0" bIns="0" rtlCol="0" anchor="ctr"/>
          <a:lstStyle/>
          <a:p>
            <a:pPr indent="0" marL="0">
              <a:buNone/>
            </a:pPr>
            <a:r>
              <a:rPr lang="en-US" sz="1500" b="1" dirty="0">
                <a:solidFill>
                  <a:srgbClr val="0B5A3C"/>
                </a:solidFill>
                <a:latin typeface="Arial" pitchFamily="34" charset="0"/>
                <a:ea typeface="Arial" pitchFamily="34" charset="-122"/>
                <a:cs typeface="Arial" pitchFamily="34" charset="-120"/>
              </a:rPr>
              <a:t>SmallCNN: underfitting</a:t>
            </a:r>
            <a:endParaRPr lang="en-US" sz="1500" dirty="0"/>
          </a:p>
        </p:txBody>
      </p:sp>
      <p:sp>
        <p:nvSpPr>
          <p:cNvPr id="6" name="Text 3"/>
          <p:cNvSpPr txBox="1"/>
          <p:nvPr/>
        </p:nvSpPr>
        <p:spPr>
          <a:xfrm>
            <a:off x="457200" y="4892040"/>
            <a:ext cx="3611880" cy="1280160"/>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Train ≈ 73%, val ≈ 74–75% accuracy; still improving at epoch 40 (best 37)</a:t>
            </a:r>
            <a:endParaRPr lang="en-US" sz="1300" dirty="0"/>
          </a:p>
        </p:txBody>
      </p:sp>
      <p:pic>
        <p:nvPicPr>
          <p:cNvPr id="7" name="curve-1" descr="C:/Users/ASUS G 16 JVR/Desktop/deepLearning_CNN/results/resnet18_frozen/20261006-085519_seed42/figures/loss_curve.png">    </p:cNvPr>
          <p:cNvPicPr>
            <a:picLocks noChangeAspect="1"/>
          </p:cNvPicPr>
          <p:nvPr/>
        </p:nvPicPr>
        <p:blipFill>
          <a:blip r:embed="rId2"/>
          <a:stretch>
            <a:fillRect/>
          </a:stretch>
        </p:blipFill>
        <p:spPr>
          <a:xfrm>
            <a:off x="4279392" y="2025968"/>
            <a:ext cx="3611880" cy="2257425"/>
          </a:xfrm>
          <a:prstGeom prst="rect">
            <a:avLst/>
          </a:prstGeom>
        </p:spPr>
      </p:pic>
      <p:sp>
        <p:nvSpPr>
          <p:cNvPr id="8" name="Text 4"/>
          <p:cNvSpPr txBox="1"/>
          <p:nvPr/>
        </p:nvSpPr>
        <p:spPr>
          <a:xfrm>
            <a:off x="4279392" y="4480560"/>
            <a:ext cx="3611880" cy="384048"/>
          </a:xfrm>
          <a:prstGeom prst="rect">
            <a:avLst/>
          </a:prstGeom>
          <a:noFill/>
          <a:ln/>
        </p:spPr>
        <p:txBody>
          <a:bodyPr wrap="square" lIns="0" tIns="0" rIns="0" bIns="0" rtlCol="0" anchor="ctr"/>
          <a:lstStyle/>
          <a:p>
            <a:pPr indent="0" marL="0">
              <a:buNone/>
            </a:pPr>
            <a:r>
              <a:rPr lang="en-US" sz="1500" b="1" dirty="0">
                <a:solidFill>
                  <a:srgbClr val="0B5A3C"/>
                </a:solidFill>
                <a:latin typeface="Arial" pitchFamily="34" charset="0"/>
                <a:ea typeface="Arial" pitchFamily="34" charset="-122"/>
                <a:cs typeface="Arial" pitchFamily="34" charset="-120"/>
              </a:rPr>
              <a:t>Frozen: good fit</a:t>
            </a:r>
            <a:endParaRPr lang="en-US" sz="1500" dirty="0"/>
          </a:p>
        </p:txBody>
      </p:sp>
      <p:sp>
        <p:nvSpPr>
          <p:cNvPr id="9" name="Text 5"/>
          <p:cNvSpPr txBox="1"/>
          <p:nvPr/>
        </p:nvSpPr>
        <p:spPr>
          <a:xfrm>
            <a:off x="4279392" y="4892040"/>
            <a:ext cx="3611880" cy="1280160"/>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Train ≈ 97% vs. val 95–96%; gap grows from +0.8 to +2.3 pp</a:t>
            </a:r>
            <a:endParaRPr lang="en-US" sz="1300" dirty="0"/>
          </a:p>
        </p:txBody>
      </p:sp>
      <p:pic>
        <p:nvPicPr>
          <p:cNvPr id="10" name="curve-2" descr="C:/Users/ASUS G 16 JVR/Desktop/deepLearning_CNN/results/resnet18_finetuned/20261006-130538_seed42/figures/loss_curve.png">    </p:cNvPr>
          <p:cNvPicPr>
            <a:picLocks noChangeAspect="1"/>
          </p:cNvPicPr>
          <p:nvPr/>
        </p:nvPicPr>
        <p:blipFill>
          <a:blip r:embed="rId3"/>
          <a:stretch>
            <a:fillRect/>
          </a:stretch>
        </p:blipFill>
        <p:spPr>
          <a:xfrm>
            <a:off x="8101584" y="2025968"/>
            <a:ext cx="3611880" cy="2257425"/>
          </a:xfrm>
          <a:prstGeom prst="rect">
            <a:avLst/>
          </a:prstGeom>
        </p:spPr>
      </p:pic>
      <p:sp>
        <p:nvSpPr>
          <p:cNvPr id="11" name="Text 6"/>
          <p:cNvSpPr txBox="1"/>
          <p:nvPr/>
        </p:nvSpPr>
        <p:spPr>
          <a:xfrm>
            <a:off x="8101584" y="4480560"/>
            <a:ext cx="3611880" cy="384048"/>
          </a:xfrm>
          <a:prstGeom prst="rect">
            <a:avLst/>
          </a:prstGeom>
          <a:noFill/>
          <a:ln/>
        </p:spPr>
        <p:txBody>
          <a:bodyPr wrap="square" lIns="0" tIns="0" rIns="0" bIns="0" rtlCol="0" anchor="ctr"/>
          <a:lstStyle/>
          <a:p>
            <a:pPr indent="0" marL="0">
              <a:buNone/>
            </a:pPr>
            <a:r>
              <a:rPr lang="en-US" sz="1500" b="1" dirty="0">
                <a:solidFill>
                  <a:srgbClr val="DD8452"/>
                </a:solidFill>
                <a:latin typeface="Arial" pitchFamily="34" charset="0"/>
                <a:ea typeface="Arial" pitchFamily="34" charset="-122"/>
                <a:cs typeface="Arial" pitchFamily="34" charset="-120"/>
              </a:rPr>
              <a:t>Fine-tuned: mild overfitting in the loss</a:t>
            </a:r>
            <a:endParaRPr lang="en-US" sz="1500" dirty="0"/>
          </a:p>
        </p:txBody>
      </p:sp>
      <p:sp>
        <p:nvSpPr>
          <p:cNvPr id="12" name="Text 7"/>
          <p:cNvSpPr txBox="1"/>
          <p:nvPr/>
        </p:nvSpPr>
        <p:spPr>
          <a:xfrm>
            <a:off x="8101584" y="4892040"/>
            <a:ext cx="3611880" cy="1280160"/>
          </a:xfrm>
          <a:prstGeom prst="rect">
            <a:avLst/>
          </a:prstGeom>
          <a:noFill/>
          <a:ln/>
        </p:spPr>
        <p:txBody>
          <a:bodyPr wrap="square" lIns="0" tIns="0" rIns="0" bIns="0" rtlCol="0" anchor="t"/>
          <a:lstStyle/>
          <a:p>
            <a:pPr indent="0" marL="0">
              <a:buNone/>
            </a:pPr>
            <a:r>
              <a:rPr lang="en-US" sz="1300" dirty="0">
                <a:solidFill>
                  <a:srgbClr val="111111"/>
                </a:solidFill>
                <a:latin typeface="Arial" pitchFamily="34" charset="0"/>
                <a:ea typeface="Arial" pitchFamily="34" charset="-122"/>
                <a:cs typeface="Arial" pitchFamily="34" charset="-120"/>
              </a:rPr>
              <a:t>Train loss → 0.002; val loss rises from 0.023 to 0.042–0.059; best checkpoint kept (epoch 8)</a:t>
            </a:r>
            <a:endParaRPr lang="en-US" sz="13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Backup: Grouped Evaluation Confusion Matrix</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Pooled over 5 folds and 3 seeds (row-normalised colour, counts in cells)</a:t>
            </a:r>
            <a:endParaRPr lang="en-US" sz="1400" dirty="0"/>
          </a:p>
        </p:txBody>
      </p:sp>
      <p:pic>
        <p:nvPicPr>
          <p:cNvPr id="4" name="grouped-confusion-matrix" descr="C:\Users\ASUS G 16 JVR\Desktop\deepLearning_CNN\results\grouped_evaluation\summary\confusion_matrix_pooled_all_seeds.png">    </p:cNvPr>
          <p:cNvPicPr>
            <a:picLocks noChangeAspect="1"/>
          </p:cNvPicPr>
          <p:nvPr/>
        </p:nvPicPr>
        <p:blipFill>
          <a:blip r:embed="rId1"/>
          <a:stretch>
            <a:fillRect/>
          </a:stretch>
        </p:blipFill>
        <p:spPr>
          <a:xfrm>
            <a:off x="3446872" y="1874520"/>
            <a:ext cx="5295207" cy="4480560"/>
          </a:xfrm>
          <a:prstGeom prst="rect">
            <a:avLst/>
          </a:prstGeom>
        </p:spPr>
      </p:pic>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Backup: Final Model Confusion Matrix</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Row-normalised (recall per class) on the 463-image test set</a:t>
            </a:r>
            <a:endParaRPr lang="en-US" sz="1400" dirty="0"/>
          </a:p>
        </p:txBody>
      </p:sp>
      <p:pic>
        <p:nvPicPr>
          <p:cNvPr id="4" name="confusion-matrix" descr="C:/Users/ASUS G 16 JVR/Desktop/deepLearning_CNN/results/hyperparameter_tuning/resnet18_finetuned_lr_wd_seed42/figures/final_confusion_matrix_normalized.png">    </p:cNvPr>
          <p:cNvPicPr>
            <a:picLocks noChangeAspect="1"/>
          </p:cNvPicPr>
          <p:nvPr/>
        </p:nvPicPr>
        <p:blipFill>
          <a:blip r:embed="rId1"/>
          <a:stretch>
            <a:fillRect/>
          </a:stretch>
        </p:blipFill>
        <p:spPr>
          <a:xfrm>
            <a:off x="3480816" y="1874520"/>
            <a:ext cx="5227320" cy="4480560"/>
          </a:xfrm>
          <a:prstGeom prst="rect">
            <a:avLst/>
          </a:prstGeom>
        </p:spPr>
      </p:pic>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Backup: Tuning Validation Curves</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Validation accuracy and loss per epoch for configurations A–D</a:t>
            </a:r>
            <a:endParaRPr lang="en-US" sz="1400" dirty="0"/>
          </a:p>
        </p:txBody>
      </p:sp>
      <p:pic>
        <p:nvPicPr>
          <p:cNvPr id="4" name="tuning-curves" descr="C:/Users/ASUS G 16 JVR/Desktop/deepLearning_CNN/results/hyperparameter_tuning/resnet18_finetuned_lr_wd_seed42/figures/tuning_val_curves.png">    </p:cNvPr>
          <p:cNvPicPr>
            <a:picLocks noChangeAspect="1"/>
          </p:cNvPicPr>
          <p:nvPr/>
        </p:nvPicPr>
        <p:blipFill>
          <a:blip r:embed="rId1"/>
          <a:stretch>
            <a:fillRect/>
          </a:stretch>
        </p:blipFill>
        <p:spPr>
          <a:xfrm>
            <a:off x="461772" y="1965960"/>
            <a:ext cx="11265408" cy="4023360"/>
          </a:xfrm>
          <a:prstGeom prst="rect">
            <a:avLst/>
          </a:prstGeom>
        </p:spPr>
      </p:pic>
      <p:sp>
        <p:nvSpPr>
          <p:cNvPr id="5" name="Text 2"/>
          <p:cNvSpPr txBox="1"/>
          <p:nvPr/>
        </p:nvSpPr>
        <p:spPr>
          <a:xfrm>
            <a:off x="457200" y="5989320"/>
            <a:ext cx="11274552" cy="365760"/>
          </a:xfrm>
          <a:prstGeom prst="rect">
            <a:avLst/>
          </a:prstGeom>
          <a:noFill/>
          <a:ln/>
        </p:spPr>
        <p:txBody>
          <a:bodyPr wrap="square" lIns="0" tIns="0" rIns="0" bIns="0" rtlCol="0" anchor="t"/>
          <a:lstStyle/>
          <a:p>
            <a:pPr algn="ctr" indent="0" marL="0">
              <a:buNone/>
            </a:pPr>
            <a:r>
              <a:rPr lang="en-US" sz="1200" dirty="0">
                <a:solidFill>
                  <a:srgbClr val="555555"/>
                </a:solidFill>
                <a:latin typeface="Arial" pitchFamily="34" charset="0"/>
                <a:ea typeface="Arial" pitchFamily="34" charset="-122"/>
                <a:cs typeface="Arial" pitchFamily="34" charset="-120"/>
              </a:rPr>
              <a:t>Best epochs: A 8, B 14, C 3, D 3 · training time: A 3.9, B 5.5, C 2.9, D 3.0 min · all reached 99.78% validation accuracy</a:t>
            </a:r>
            <a:endParaRPr lang="en-US" sz="12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4"/>
          <p:cNvSpPr/>
          <p:nvPr>
            <p:ph idx="105" type="title" hasCustomPrompt="1"/>
          </p:nvPr>
        </p:nvSpPr>
        <p:spPr>
          <a:xfrm>
            <a:off x="457200" y="987552"/>
            <a:ext cx="11274552" cy="566928"/>
          </a:xfrm>
          <a:prstGeom prst="rect">
            <a:avLst/>
          </a:prstGeom>
          <a:noFill/>
          <a:ln/>
        </p:spPr>
        <p:txBody>
          <a:bodyPr wrap="square" lIns="0" tIns="0" rIns="0" bIns="0" rtlCol="0" anchor="ctr"/>
          <a:lstStyle/>
          <a:p>
            <a:pPr algn="l" indent="0" marL="0">
              <a:buNone/>
            </a:pPr>
            <a:r>
              <a:rPr lang="en-US" sz="3000" b="1" dirty="0">
                <a:solidFill>
                  <a:srgbClr val="0B5A3C"/>
                </a:solidFill>
                <a:latin typeface="Arial" pitchFamily="34" charset="0"/>
                <a:ea typeface="Arial" pitchFamily="34" charset="-122"/>
                <a:cs typeface="Arial" pitchFamily="34" charset="-120"/>
              </a:rPr>
              <a:t>Backup: Training vs. Validation Accuracy</a:t>
            </a:r>
            <a:endParaRPr lang="en-US" sz="3000" dirty="0"/>
          </a:p>
        </p:txBody>
      </p:sp>
      <p:sp>
        <p:nvSpPr>
          <p:cNvPr id="3" name="Text 4"/>
          <p:cNvSpPr/>
          <p:nvPr>
            <p:ph idx="106" type="body" hasCustomPrompt="1"/>
          </p:nvPr>
        </p:nvSpPr>
        <p:spPr>
          <a:xfrm>
            <a:off x="457200" y="1536192"/>
            <a:ext cx="11274552" cy="329184"/>
          </a:xfrm>
          <a:prstGeom prst="rect">
            <a:avLst/>
          </a:prstGeom>
          <a:noFill/>
          <a:ln/>
        </p:spPr>
        <p:txBody>
          <a:bodyPr wrap="square" lIns="0" tIns="0" rIns="0" bIns="0" rtlCol="0" anchor="t"/>
          <a:lstStyle/>
          <a:p>
            <a:pPr indent="0" marL="0">
              <a:buNone/>
            </a:pPr>
            <a:r>
              <a:rPr lang="en-US" sz="1400" dirty="0">
                <a:solidFill>
                  <a:srgbClr val="0B5A3C"/>
                </a:solidFill>
                <a:latin typeface="Arial" pitchFamily="34" charset="0"/>
                <a:ea typeface="Arial" pitchFamily="34" charset="-122"/>
                <a:cs typeface="Arial" pitchFamily="34" charset="-120"/>
              </a:rPr>
              <a:t>Accuracy curves for the three approaches</a:t>
            </a:r>
            <a:endParaRPr lang="en-US" sz="1400" dirty="0"/>
          </a:p>
        </p:txBody>
      </p:sp>
      <p:pic>
        <p:nvPicPr>
          <p:cNvPr id="4" name="acc-curve-0" descr="C:/Users/ASUS G 16 JVR/Desktop/deepLearning_CNN/results/small_cnn/20261006-081721_seed42/figures/accuracy_curve.png">    </p:cNvPr>
          <p:cNvPicPr>
            <a:picLocks noChangeAspect="1"/>
          </p:cNvPicPr>
          <p:nvPr/>
        </p:nvPicPr>
        <p:blipFill>
          <a:blip r:embed="rId1"/>
          <a:stretch>
            <a:fillRect/>
          </a:stretch>
        </p:blipFill>
        <p:spPr>
          <a:xfrm>
            <a:off x="457200" y="2194560"/>
            <a:ext cx="3611880" cy="2257425"/>
          </a:xfrm>
          <a:prstGeom prst="rect">
            <a:avLst/>
          </a:prstGeom>
        </p:spPr>
      </p:pic>
      <p:sp>
        <p:nvSpPr>
          <p:cNvPr id="5" name="Text 2"/>
          <p:cNvSpPr txBox="1"/>
          <p:nvPr/>
        </p:nvSpPr>
        <p:spPr>
          <a:xfrm>
            <a:off x="457200" y="4589145"/>
            <a:ext cx="3611880" cy="320040"/>
          </a:xfrm>
          <a:prstGeom prst="rect">
            <a:avLst/>
          </a:prstGeom>
          <a:noFill/>
          <a:ln/>
        </p:spPr>
        <p:txBody>
          <a:bodyPr wrap="square" lIns="0" tIns="0" rIns="0" bIns="0" rtlCol="0" anchor="t"/>
          <a:lstStyle/>
          <a:p>
            <a:pPr algn="ctr" indent="0" marL="0">
              <a:buNone/>
            </a:pPr>
            <a:r>
              <a:rPr lang="en-US" sz="1400" dirty="0">
                <a:solidFill>
                  <a:srgbClr val="0B5A3C"/>
                </a:solidFill>
                <a:latin typeface="Arial" pitchFamily="34" charset="0"/>
                <a:ea typeface="Arial" pitchFamily="34" charset="-122"/>
                <a:cs typeface="Arial" pitchFamily="34" charset="-120"/>
              </a:rPr>
              <a:t>SmallCNN from scratch</a:t>
            </a:r>
            <a:endParaRPr lang="en-US" sz="1400" dirty="0"/>
          </a:p>
        </p:txBody>
      </p:sp>
      <p:pic>
        <p:nvPicPr>
          <p:cNvPr id="6" name="acc-curve-1" descr="C:/Users/ASUS G 16 JVR/Desktop/deepLearning_CNN/results/resnet18_frozen/20261006-085519_seed42/figures/accuracy_curve.png">    </p:cNvPr>
          <p:cNvPicPr>
            <a:picLocks noChangeAspect="1"/>
          </p:cNvPicPr>
          <p:nvPr/>
        </p:nvPicPr>
        <p:blipFill>
          <a:blip r:embed="rId2"/>
          <a:stretch>
            <a:fillRect/>
          </a:stretch>
        </p:blipFill>
        <p:spPr>
          <a:xfrm>
            <a:off x="4279392" y="2194560"/>
            <a:ext cx="3611880" cy="2257425"/>
          </a:xfrm>
          <a:prstGeom prst="rect">
            <a:avLst/>
          </a:prstGeom>
        </p:spPr>
      </p:pic>
      <p:sp>
        <p:nvSpPr>
          <p:cNvPr id="7" name="Text 3"/>
          <p:cNvSpPr txBox="1"/>
          <p:nvPr/>
        </p:nvSpPr>
        <p:spPr>
          <a:xfrm>
            <a:off x="4279392" y="4589145"/>
            <a:ext cx="3611880" cy="320040"/>
          </a:xfrm>
          <a:prstGeom prst="rect">
            <a:avLst/>
          </a:prstGeom>
          <a:noFill/>
          <a:ln/>
        </p:spPr>
        <p:txBody>
          <a:bodyPr wrap="square" lIns="0" tIns="0" rIns="0" bIns="0" rtlCol="0" anchor="t"/>
          <a:lstStyle/>
          <a:p>
            <a:pPr algn="ctr" indent="0" marL="0">
              <a:buNone/>
            </a:pPr>
            <a:r>
              <a:rPr lang="en-US" sz="1400" dirty="0">
                <a:solidFill>
                  <a:srgbClr val="0B5A3C"/>
                </a:solidFill>
                <a:latin typeface="Arial" pitchFamily="34" charset="0"/>
                <a:ea typeface="Arial" pitchFamily="34" charset="-122"/>
                <a:cs typeface="Arial" pitchFamily="34" charset="-120"/>
              </a:rPr>
              <a:t>ResNet-18 frozen</a:t>
            </a:r>
            <a:endParaRPr lang="en-US" sz="1400" dirty="0"/>
          </a:p>
        </p:txBody>
      </p:sp>
      <p:pic>
        <p:nvPicPr>
          <p:cNvPr id="8" name="acc-curve-2" descr="C:/Users/ASUS G 16 JVR/Desktop/deepLearning_CNN/results/resnet18_finetuned/20261006-130538_seed42/figures/accuracy_curve.png">    </p:cNvPr>
          <p:cNvPicPr>
            <a:picLocks noChangeAspect="1"/>
          </p:cNvPicPr>
          <p:nvPr/>
        </p:nvPicPr>
        <p:blipFill>
          <a:blip r:embed="rId3"/>
          <a:stretch>
            <a:fillRect/>
          </a:stretch>
        </p:blipFill>
        <p:spPr>
          <a:xfrm>
            <a:off x="8101584" y="2194560"/>
            <a:ext cx="3611880" cy="2257425"/>
          </a:xfrm>
          <a:prstGeom prst="rect">
            <a:avLst/>
          </a:prstGeom>
        </p:spPr>
      </p:pic>
      <p:sp>
        <p:nvSpPr>
          <p:cNvPr id="9" name="Text 4"/>
          <p:cNvSpPr txBox="1"/>
          <p:nvPr/>
        </p:nvSpPr>
        <p:spPr>
          <a:xfrm>
            <a:off x="8101584" y="4589145"/>
            <a:ext cx="3611880" cy="320040"/>
          </a:xfrm>
          <a:prstGeom prst="rect">
            <a:avLst/>
          </a:prstGeom>
          <a:noFill/>
          <a:ln/>
        </p:spPr>
        <p:txBody>
          <a:bodyPr wrap="square" lIns="0" tIns="0" rIns="0" bIns="0" rtlCol="0" anchor="t"/>
          <a:lstStyle/>
          <a:p>
            <a:pPr algn="ctr" indent="0" marL="0">
              <a:buNone/>
            </a:pPr>
            <a:r>
              <a:rPr lang="en-US" sz="1400" dirty="0">
                <a:solidFill>
                  <a:srgbClr val="0B5A3C"/>
                </a:solidFill>
                <a:latin typeface="Arial" pitchFamily="34" charset="0"/>
                <a:ea typeface="Arial" pitchFamily="34" charset="-122"/>
                <a:cs typeface="Arial" pitchFamily="34" charset="-120"/>
              </a:rPr>
              <a:t>ResNet-18 fine-tuned</a:t>
            </a:r>
            <a:endParaRPr lang="en-US" sz="1400" dirty="0"/>
          </a:p>
        </p:txBody>
      </p:sp>
      <p:sp>
        <p:nvSpPr>
          <p:cNvPr id="25" name="Slide Number Placeholder 0"/>
          <p:cNvSpPr>
            <a:spLocks noGrp="1"/>
          </p:cNvSpPr>
          <p:nvPr>
            <p:ph type="sldNum" sz="quarter" idx="4294967295"/>
          </p:nvPr>
        </p:nvSpPr>
        <p:spPr>
          <a:xfrm>
            <a:off x="5733288" y="6510528"/>
            <a:ext cx="73152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Arial"/>
                <a:ea typeface="Arial"/>
                <a:cs typeface="Arial"/>
              </a:defRPr>
            </a:lvl1pPr>
          </a:lstStyle>
          <a:p>
            <a:pPr algn="ct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Road Sign Recognition Using Deep Learning</dc:title>
  <dc:subject>PptxGenJS Presentation</dc:subject>
  <dc:creator>Tes Sothyroth</dc:creator>
  <cp:lastModifiedBy>Tes Sothyroth</cp:lastModifiedBy>
  <cp:revision>1</cp:revision>
  <dcterms:created xsi:type="dcterms:W3CDTF">2026-10-17T07:41:02Z</dcterms:created>
  <dcterms:modified xsi:type="dcterms:W3CDTF">2026-10-17T07:41:02Z</dcterms:modified>
</cp:coreProperties>
</file>