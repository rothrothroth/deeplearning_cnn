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89b4416-2440-30b9-f001-81b0eba369ef}">
          <p14:sldIdLst>
            <p14:sldId id="256"/>
            <p14:sldId id="257"/>
          </p14:sldIdLst>
        </p14:section>
        <p14:section name="Data" id="{a203cac1-53ed-0dc4-f8f5-ee9849710814}">
          <p14:sldIdLst>
            <p14:sldId id="258"/>
            <p14:sldId id="259"/>
          </p14:sldIdLst>
        </p14:section>
        <p14:section name="Method" id="{26532383-a55f-c159-25df-c7bcadd731b5}">
          <p14:sldIdLst>
            <p14:sldId id="260"/>
            <p14:sldId id="261"/>
            <p14:sldId id="262"/>
          </p14:sldIdLst>
        </p14:section>
        <p14:section name="Results" id="{98d0e8b1-4f80-ec10-2d94-010086f65449}">
          <p14:sldIdLst>
            <p14:sldId id="263"/>
            <p14:sldId id="264"/>
            <p14:sldId id="265"/>
            <p14:sldId id="266"/>
          </p14:sldIdLst>
        </p14:section>
        <p14:section name="Detection" id="{5d7e9b8f-2751-d1bb-34e2-9912d5a10083}">
          <p14:sldIdLst>
            <p14:sldId id="267"/>
          </p14:sldIdLst>
        </p14:section>
        <p14:section name="Evaluation" id="{33f36e43-4c55-bc04-6bbf-24b1f012b50b}">
          <p14:sldIdLst>
            <p14:sldId id="268"/>
            <p14:sldId id="269"/>
          </p14:sldIdLst>
        </p14:section>
        <p14:section name="Conclusion" id="{edb6f477-46aa-76f7-ad2c-fe2b0381f12e}">
          <p14:sldIdLst>
            <p14:sldId id="270"/>
            <p14:sldId id="271"/>
            <p14:sldId id="272"/>
          </p14:sldIdLst>
        </p14:section>
        <p14:section name="Backup" id="{6e136004-a05b-a9a9-cd1d-ff38f050f493}">
          <p14:sldIdLst>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Tes Sothyroth. My project recognises Cambodian traffic signs. A classifier names a cropped sign as one of 26 types; I compared three deep-learning approaches for it. I then added a YOLOv8 detector so the system also works on full street photos, like this real test photo where all four signs are found and named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image classification: one picture of a sign in, one of 26 sign types out. It is hard because several signs look almost the same, the classes are very unbalanced, some signs are specific to Cambodia, and real road photos are often small or blurry.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images from the dataset: one example per class with its number of crops. 2,766 street photos, 3,070 cropped signs in 26 classes. Notice the imbalance: KM posts have 738 crops, carriage-way-narrows only 29. The dataset is public on Kaggle under Apache 2.0; the link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by photo, not by crop, so two signs from the same photo cannot be in training and test. The test set is used only once. All images are resized to 224 by 224; training images get small rotations and colour changes. I do not flip images, because a flipped left bend looks like a right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for a full street photo: YOLOv8 finds where the signs are, each sign is cropped at full resolution, ResNet-18 decides which of the 26 signs it is, and the web app shows boxes and a results table. Path B: if the user already has a cropped sign, it goes straight to ResNet-18. So YOLO answers where, ResNet-18 answers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and detection are different jobs. The classifier answers what sign this is; the detector answers where the signs are. My detector only learns the general class traffic sign, and the classifier names the sign. YOLO can also be trained to classify all 26 classes directly, and the dataset author's own paper did detection with YOLOv8, but I did not test a 26-class YOLO, so I do not claim my two-stage design is better. My reason is that the course task compares classifiers, and the detector extends it to full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is a small CNN I built: three convolution blocks, a pooling layer and two dense layers, trained from random weights. Approaches 2 and 3 use ResNet-18, which already learned edges, shapes and colours on 1.2 million ImageNet photos; that is transfer learning. In approach 2 the pretrained layers are frozen and only the new output layer learns. In approach 3, fine-tuning, every layer keeps learning on the traffic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main result. Every approach used the same data and settings and was tested once on the same 463 test crops. Transfer learning gives the biggest jump: 70 to 92 percent. Fine-tuning all layers raises it to 98 percent, and tuning the learning rate and weight decay on validation data gives the final model: 98.70 percent accuracy and 98.47 percent macro F1. Times are on one Tesla T4 GPU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training and validation loss curves from my saved runs. SmallCNN underfits: both losses are still high after 40 epochs. The frozen ResNet fits well: the two curves stay close. The fine-tuned final model reaches a very low loss; its validation loss is noisy in early epochs, so training keeps the checkpoint with the best validation result, epoch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of the final model, with a picture of each sign. Rows are the true sign, columns the prediction. Green numbers on the diagonal are correct; red cells are mistakes. 457 of 463 test images are correct, there are only 6 mistakes, and no mistake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six mistakes as real images. In the purple ones the model predicts the sign that is really visible, so the dataset label looks wrong; I did not change the metrics for that. The red ones are real model errors: a priority road confused with a cross road, a tiny blurred no-entry sign, and a priority road hidden by branches. The last two have low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extension. The YOLOv8 detector learns one general class, traffic sign. On the 379 test photos it has 95.6 percent precision and 96.3 percent recall, and mAP at 50 of 97.8 percent. In the full pipeline, 445 of the 463 test signs are both found and correctly named, 96.1 percent. These numbers are from this test set only; they are not a guarantee for every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most photos are video frames, some test crops are almost copies of training frames. To check this, I grouped the photos into 20 drives and tested five times, each time on drives the model never saw, with three seeds: 15 runs. Pooled accuracy is 98.31 percent and macro F1 97.24 percent. It is a different test from the 98.70 percent, so it is not a before-and-after comparison. Separating drives does not guarantee separate locations, because some roads were driven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pair is Cross Road versus Priority Road. Both are yellow diamonds with a black cross; Priority Road has a thicker, pointed vertical bar. Cross Road has only 42 images and an F1 of 0.81; 25 times it was predicted as Priority Road. Some of those images look like Priority Road, so label errors may play a role, but I have not verified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live demo of the local web app. In tab 1 I pick a real test scene, classify the cropped sign, and then show that the whole uncropped photo fails, which is why cropping matters. In tab 2 I run the detector on the street photo from slide 1 and all four signs are found and named. If the app fails, the backup is the demo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original split contains near-duplicate video frames; the grouped test separates drives but not necessarily locations; some signs have very few images; and the model only knows 26 classes, so a STOP sign gets the closest label. Future work answers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fine-tuned ResNet-18 reaches 98.70 percent on the original test set; tested on unseen drives, the same recipe reaches 98.31 percent; and with the YOLOv8 detector, 96.1 percent of signs in full street photos are found and named correctly. Transfer learning was the biggest gain.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tuning grid. All configurations tied on validation accuracy; B was chosen by validation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accuracy curves for the three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baseline's validation loss rises after epoch 7, while the final model's stays lower, consistent with stronger weight decay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all confusions of the grouped evaluation, summed over the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per-class results of the grouped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detector settings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training settings shared by all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TH">
    <p:bg>
      <p:bgPr>
        <a:solidFill>
          <a:srgbClr val="FFFFFF"/>
        </a:solidFill>
      </p:bgPr>
    </p:bg>
    <p:spTree>
      <p:nvGrpSpPr>
        <p:cNvPr id="1" name=""/>
        <p:cNvGrpSpPr/>
        <p:nvPr/>
      </p:nvGrpSpPr>
      <p:grpSpPr>
        <a:xfrm>
          <a:off x="0" y="0"/>
          <a:ext cx="0" cy="0"/>
          <a:chOff x="0" y="0"/>
          <a:chExt cx="0" cy="0"/>
        </a:xfrm>
      </p:grpSpPr>
      <p:pic>
        <p:nvPicPr>
          <p:cNvPr id="2" name="Image 0" descr="C:/Users/ASUSG1~1/AppData/Local/Temp/claude/C--Users-ASUS-G-16-JVR-Desktop-deepLearning-CNN/ddb4b7a1-b5ad-4432-b312-271443ec143d/scratchpad/deck_v3/assets/kith_logo.png">    </p:cNvPr>
          <p:cNvPicPr>
            <a:picLocks noChangeAspect="1"/>
          </p:cNvPicPr>
          <p:nvPr/>
        </p:nvPicPr>
        <p:blipFill>
          <a:blip r:embed="rId1"/>
          <a:stretch>
            <a:fillRect/>
          </a:stretch>
        </p:blipFill>
        <p:spPr>
          <a:xfrm>
            <a:off x="457200" y="164592"/>
            <a:ext cx="877824" cy="585216"/>
          </a:xfrm>
          <a:prstGeom prst="rect">
            <a:avLst/>
          </a:prstGeom>
        </p:spPr>
      </p:pic>
      <p:sp>
        <p:nvSpPr>
          <p:cNvPr id="3" name="Shape 0"/>
          <p:cNvSpPr/>
          <p:nvPr/>
        </p:nvSpPr>
        <p:spPr>
          <a:xfrm>
            <a:off x="457200" y="841248"/>
            <a:ext cx="11274552" cy="0"/>
          </a:xfrm>
          <a:prstGeom prst="line">
            <a:avLst/>
          </a:prstGeom>
          <a:noFill/>
          <a:ln w="15875">
            <a:solidFill>
              <a:srgbClr val="0B5A3C"/>
            </a:solidFill>
            <a:prstDash val="solid"/>
          </a:ln>
        </p:spPr>
      </p:sp>
      <p:sp>
        <p:nvSpPr>
          <p:cNvPr id="4" name="Shape 1"/>
          <p:cNvSpPr/>
          <p:nvPr/>
        </p:nvSpPr>
        <p:spPr>
          <a:xfrm>
            <a:off x="0" y="6446520"/>
            <a:ext cx="12191695" cy="411480"/>
          </a:xfrm>
          <a:prstGeom prst="rect">
            <a:avLst/>
          </a:prstGeom>
          <a:solidFill>
            <a:srgbClr val="084C32"/>
          </a:solidFill>
          <a:ln w="12700">
            <a:solidFill>
              <a:srgbClr val="084C32"/>
            </a:solidFill>
            <a:prstDash val="solid"/>
          </a:ln>
        </p:spPr>
      </p:sp>
      <p:sp>
        <p:nvSpPr>
          <p:cNvPr id="5" name="Text 2"/>
          <p:cNvSpPr/>
          <p:nvPr/>
        </p:nvSpPr>
        <p:spPr>
          <a:xfrm>
            <a:off x="320040" y="6446520"/>
            <a:ext cx="5486400" cy="4114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Tes Sothyroth · Deep Learning final project</a:t>
            </a:r>
            <a:endParaRPr lang="en-US" sz="1200" dirty="0"/>
          </a:p>
        </p:txBody>
      </p:sp>
      <p:sp>
        <p:nvSpPr>
          <p:cNvPr id="6" name="Text 3"/>
          <p:cNvSpPr/>
          <p:nvPr/>
        </p:nvSpPr>
        <p:spPr>
          <a:xfrm>
            <a:off x="6858000" y="6446520"/>
            <a:ext cx="5010912" cy="411480"/>
          </a:xfrm>
          <a:prstGeom prst="rect">
            <a:avLst/>
          </a:prstGeom>
          <a:noFill/>
          <a:ln/>
        </p:spPr>
        <p:txBody>
          <a:bodyPr wrap="square" lIns="0" tIns="0" rIns="0" bIns="0" rtlCol="0" anchor="ctr"/>
          <a:lstStyle/>
          <a:p>
            <a:pPr algn="r" indent="0" marL="0">
              <a:buNone/>
            </a:pPr>
            <a:r>
              <a:rPr lang="en-US" sz="1200" dirty="0">
                <a:solidFill>
                  <a:srgbClr val="FFFFFF"/>
                </a:solidFill>
                <a:latin typeface="Arial" pitchFamily="34" charset="0"/>
                <a:ea typeface="Arial" pitchFamily="34" charset="-122"/>
                <a:cs typeface="Arial" pitchFamily="34" charset="-120"/>
              </a:rPr>
              <a:t>Kirirom Institute of Technology</a:t>
            </a:r>
            <a:endParaRPr lang="en-US" sz="1200" dirty="0"/>
          </a:p>
        </p:txBody>
      </p:sp>
      <p:sp>
        <p:nvSpPr>
          <p:cNvPr id="7" name="Text 4"/>
          <p:cNvSpPr/>
          <p:nvPr>
            <p:ph idx="105" type="title" hasCustomPrompt="1"/>
          </p:nvPr>
        </p:nvSpPr>
        <p:spPr>
          <a:xfrm>
            <a:off x="457200" y="914400"/>
            <a:ext cx="11274552" cy="621792"/>
          </a:xfrm>
          <a:prstGeom prst="rect">
            <a:avLst/>
          </a:prstGeom>
          <a:noFill/>
          <a:ln/>
        </p:spPr>
        <p:txBody>
          <a:bodyPr wrap="square" rtlCol="0"/>
          <a:lstStyle>
            <a:lvl1pPr algn="l" indent="0" marL="0">
              <a:buNone/>
              <a:defRPr lang="en-US" sz="3200" b="1" dirty="0">
                <a:solidFill>
                  <a:srgbClr val="0B5A3C"/>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sophalratitya/cambodia-traffic-signs-dataset" TargetMode="Externa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RothRothRoth/DeepLearning_CNN" TargetMode="External"/><Relationship Id="rId2" Type="http://schemas.openxmlformats.org/officeDocument/2006/relationships/hyperlink" Target="https://www.kaggle.com/datasets/sophalratitya/cambodia-traffic-signs-dataset" TargetMode="Externa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97280"/>
            <a:ext cx="5852160" cy="1371600"/>
          </a:xfrm>
          <a:prstGeom prst="rect">
            <a:avLst/>
          </a:prstGeom>
          <a:noFill/>
          <a:ln/>
        </p:spPr>
        <p:txBody>
          <a:bodyPr wrap="square" lIns="0" tIns="0" rIns="0" bIns="0" rtlCol="0" anchor="t"/>
          <a:lstStyle/>
          <a:p>
            <a:pPr indent="0" marL="0">
              <a:buNone/>
            </a:pPr>
            <a:r>
              <a:rPr lang="en-US" sz="3800" b="1" dirty="0">
                <a:solidFill>
                  <a:srgbClr val="0B5A3C"/>
                </a:solidFill>
                <a:latin typeface="Arial" pitchFamily="34" charset="0"/>
                <a:ea typeface="Arial" pitchFamily="34" charset="-122"/>
                <a:cs typeface="Arial" pitchFamily="34" charset="-120"/>
              </a:rPr>
              <a:t>Cambodian Traffic Sign Recognition</a:t>
            </a:r>
            <a:endParaRPr lang="en-US" sz="3800" dirty="0"/>
          </a:p>
        </p:txBody>
      </p:sp>
      <p:sp>
        <p:nvSpPr>
          <p:cNvPr id="3" name="Text 1"/>
          <p:cNvSpPr txBox="1"/>
          <p:nvPr/>
        </p:nvSpPr>
        <p:spPr>
          <a:xfrm>
            <a:off x="457200" y="2514600"/>
            <a:ext cx="5669280" cy="868680"/>
          </a:xfrm>
          <a:prstGeom prst="rect">
            <a:avLst/>
          </a:prstGeom>
          <a:noFill/>
          <a:ln/>
        </p:spPr>
        <p:txBody>
          <a:bodyPr wrap="square" lIns="0" tIns="0" rIns="0" bIns="0" rtlCol="0" anchor="t"/>
          <a:lstStyle/>
          <a:p>
            <a:pPr indent="0" marL="0">
              <a:buNone/>
            </a:pPr>
            <a:r>
              <a:rPr lang="en-US" sz="1900" dirty="0">
                <a:solidFill>
                  <a:srgbClr val="0B5A3C"/>
                </a:solidFill>
                <a:latin typeface="Arial" pitchFamily="34" charset="0"/>
                <a:ea typeface="Arial" pitchFamily="34" charset="-122"/>
                <a:cs typeface="Arial" pitchFamily="34" charset="-120"/>
              </a:rPr>
              <a:t>Deep learning with CNN and ResNet-18, plus YOLOv8 to find signs in street photos</a:t>
            </a:r>
            <a:endParaRPr lang="en-US" sz="1900" dirty="0"/>
          </a:p>
        </p:txBody>
      </p:sp>
      <p:sp>
        <p:nvSpPr>
          <p:cNvPr id="4" name="Text 2"/>
          <p:cNvSpPr txBox="1"/>
          <p:nvPr/>
        </p:nvSpPr>
        <p:spPr>
          <a:xfrm>
            <a:off x="457200" y="3703320"/>
            <a:ext cx="5669280" cy="2377440"/>
          </a:xfrm>
          <a:prstGeom prst="rect">
            <a:avLst/>
          </a:prstGeom>
          <a:noFill/>
          <a:ln/>
        </p:spPr>
        <p:txBody>
          <a:bodyPr wrap="square" lIns="0" tIns="0" rIns="0" bIns="0" rtlCol="0" anchor="t"/>
          <a:lstStyle/>
          <a:p>
            <a:pPr indent="0" marL="0">
              <a:spcAft>
                <a:spcPts val="600"/>
              </a:spcAft>
              <a:buNone/>
            </a:pPr>
            <a:r>
              <a:rPr lang="en-US" sz="1800" dirty="0">
                <a:solidFill>
                  <a:srgbClr val="111111"/>
                </a:solidFill>
                <a:latin typeface="Arial" pitchFamily="34" charset="0"/>
                <a:ea typeface="Arial" pitchFamily="34" charset="-122"/>
                <a:cs typeface="Arial" pitchFamily="34" charset="-120"/>
              </a:rPr>
              <a:t>Presenter: Tes Sothyroth</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Student ID: 1702250028</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Course: Deep Learning · Lecturer: Him Soklong</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Kirirom Institute of Technology</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Date: [presentation date]</a:t>
            </a:r>
            <a:endParaRPr lang="en-US" sz="1800" dirty="0"/>
          </a:p>
        </p:txBody>
      </p:sp>
      <p:pic>
        <p:nvPicPr>
          <p:cNvPr id="5" name="Image 0" descr="C:/Users/ASUSG1~1/AppData/Local/Temp/claude/C--Users-ASUS-G-16-JVR-Desktop-deepLearning-CNN/ddb4b7a1-b5ad-4432-b312-271443ec143d/scratchpad/deck_v3/assets/pipeline_photo.jpg">    </p:cNvPr>
          <p:cNvPicPr>
            <a:picLocks noChangeAspect="1"/>
          </p:cNvPicPr>
          <p:nvPr/>
        </p:nvPicPr>
        <p:blipFill>
          <a:blip r:embed="rId1"/>
          <a:stretch>
            <a:fillRect/>
          </a:stretch>
        </p:blipFill>
        <p:spPr>
          <a:xfrm>
            <a:off x="6446520" y="1759648"/>
            <a:ext cx="5285232" cy="2972943"/>
          </a:xfrm>
          <a:prstGeom prst="rect">
            <a:avLst/>
          </a:prstGeom>
        </p:spPr>
      </p:pic>
      <p:sp>
        <p:nvSpPr>
          <p:cNvPr id="6" name="Text 3"/>
          <p:cNvSpPr txBox="1"/>
          <p:nvPr/>
        </p:nvSpPr>
        <p:spPr>
          <a:xfrm>
            <a:off x="6446520" y="4709160"/>
            <a:ext cx="5285232" cy="685800"/>
          </a:xfrm>
          <a:prstGeom prst="rect">
            <a:avLst/>
          </a:prstGeom>
          <a:noFill/>
          <a:ln/>
        </p:spPr>
        <p:txBody>
          <a:bodyPr wrap="square" lIns="0" tIns="0" rIns="0" bIns="0" rtlCol="0" anchor="t"/>
          <a:lstStyle/>
          <a:p>
            <a:pPr algn="ctr" indent="0" marL="0">
              <a:buNone/>
            </a:pPr>
            <a:r>
              <a:rPr lang="en-US" sz="1500" dirty="0">
                <a:solidFill>
                  <a:srgbClr val="4A4A4A"/>
                </a:solidFill>
                <a:latin typeface="Arial" pitchFamily="34" charset="0"/>
                <a:ea typeface="Arial" pitchFamily="34" charset="-122"/>
                <a:cs typeface="Arial" pitchFamily="34" charset="-120"/>
              </a:rPr>
              <a:t>A real test photo: YOLOv8 finds 4 signs (yellow boxes), ResNet-18 names all 4 correctly.</a:t>
            </a:r>
            <a:endParaRPr lang="en-US" sz="1500" dirty="0"/>
          </a:p>
        </p:txBody>
      </p:sp>
      <p:sp>
        <p:nvSpPr>
          <p:cNvPr id="8"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The Problem</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Given an image of a traffic sign, which of 26 Cambodian sign types is it?</a:t>
            </a:r>
            <a:endParaRPr lang="en-US" sz="1800" dirty="0"/>
          </a:p>
        </p:txBody>
      </p:sp>
      <p:sp>
        <p:nvSpPr>
          <p:cNvPr id="4" name="Shape 2"/>
          <p:cNvSpPr/>
          <p:nvPr/>
        </p:nvSpPr>
        <p:spPr>
          <a:xfrm>
            <a:off x="457200" y="2103120"/>
            <a:ext cx="5120640" cy="4069080"/>
          </a:xfrm>
          <a:prstGeom prst="roundRect">
            <a:avLst>
              <a:gd name="adj" fmla="val 1798"/>
            </a:avLst>
          </a:prstGeom>
          <a:solidFill>
            <a:srgbClr val="EEF5F1"/>
          </a:solidFill>
          <a:ln w="9525">
            <a:solidFill>
              <a:srgbClr val="EEF5F1"/>
            </a:solidFill>
            <a:prstDash val="solid"/>
          </a:ln>
        </p:spPr>
      </p:sp>
      <p:pic>
        <p:nvPicPr>
          <p:cNvPr id="5" name="Image 0" descr="C:/Users/ASUSG1~1/AppData/Local/Temp/claude/C--Users-ASUS-G-16-JVR-Desktop-deepLearning-CNN/ddb4b7a1-b5ad-4432-b312-271443ec143d/scratchpad/deck_v3/assets/pipeline_crop_2.png">    </p:cNvPr>
          <p:cNvPicPr>
            <a:picLocks noChangeAspect="1"/>
          </p:cNvPicPr>
          <p:nvPr/>
        </p:nvPicPr>
        <p:blipFill>
          <a:blip r:embed="rId1"/>
          <a:stretch>
            <a:fillRect/>
          </a:stretch>
        </p:blipFill>
        <p:spPr>
          <a:xfrm>
            <a:off x="731520" y="2331720"/>
            <a:ext cx="1828800" cy="1828800"/>
          </a:xfrm>
          <a:prstGeom prst="rect">
            <a:avLst/>
          </a:prstGeom>
        </p:spPr>
      </p:pic>
      <p:sp>
        <p:nvSpPr>
          <p:cNvPr id="6" name="Shape 3"/>
          <p:cNvSpPr/>
          <p:nvPr/>
        </p:nvSpPr>
        <p:spPr>
          <a:xfrm>
            <a:off x="2697480" y="3246120"/>
            <a:ext cx="594360" cy="914"/>
          </a:xfrm>
          <a:prstGeom prst="line">
            <a:avLst/>
          </a:prstGeom>
          <a:noFill/>
          <a:ln w="31750">
            <a:solidFill>
              <a:srgbClr val="0B5A3C"/>
            </a:solidFill>
            <a:prstDash val="solid"/>
            <a:tailEnd type="triangle"/>
          </a:ln>
        </p:spPr>
      </p:sp>
      <p:sp>
        <p:nvSpPr>
          <p:cNvPr id="7" name="Shape 4"/>
          <p:cNvSpPr/>
          <p:nvPr/>
        </p:nvSpPr>
        <p:spPr>
          <a:xfrm>
            <a:off x="3383280" y="2743200"/>
            <a:ext cx="1965960" cy="1005840"/>
          </a:xfrm>
          <a:prstGeom prst="roundRect">
            <a:avLst>
              <a:gd name="adj" fmla="val 7273"/>
            </a:avLst>
          </a:prstGeom>
          <a:solidFill>
            <a:srgbClr val="0B5A3C"/>
          </a:solidFill>
          <a:ln w="15875">
            <a:solidFill>
              <a:srgbClr val="0B5A3C"/>
            </a:solidFill>
            <a:prstDash val="solid"/>
          </a:ln>
        </p:spPr>
      </p:sp>
      <p:sp>
        <p:nvSpPr>
          <p:cNvPr id="8" name="Text 5"/>
          <p:cNvSpPr txBox="1"/>
          <p:nvPr/>
        </p:nvSpPr>
        <p:spPr>
          <a:xfrm>
            <a:off x="3429000" y="2743200"/>
            <a:ext cx="187452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deep neural network</a:t>
            </a:r>
            <a:endParaRPr lang="en-US" sz="1700" dirty="0"/>
          </a:p>
        </p:txBody>
      </p:sp>
      <p:sp>
        <p:nvSpPr>
          <p:cNvPr id="9" name="Text 6"/>
          <p:cNvSpPr txBox="1"/>
          <p:nvPr/>
        </p:nvSpPr>
        <p:spPr>
          <a:xfrm>
            <a:off x="731520" y="4526280"/>
            <a:ext cx="4572000" cy="1005840"/>
          </a:xfrm>
          <a:prstGeom prst="rect">
            <a:avLst/>
          </a:prstGeom>
          <a:noFill/>
          <a:ln/>
        </p:spPr>
        <p:txBody>
          <a:bodyPr wrap="square" lIns="0" tIns="0" rIns="0" bIns="0" rtlCol="0" anchor="ctr"/>
          <a:lstStyle/>
          <a:p>
            <a:pPr algn="ctr" indent="0" marL="0">
              <a:buNone/>
            </a:pPr>
            <a:r>
              <a:rPr lang="en-US" sz="2600" b="1" dirty="0">
                <a:solidFill>
                  <a:srgbClr val="0B5A3C"/>
                </a:solidFill>
                <a:latin typeface="Arial" pitchFamily="34" charset="0"/>
                <a:ea typeface="Arial" pitchFamily="34" charset="-122"/>
                <a:cs typeface="Arial" pitchFamily="34" charset="-120"/>
              </a:rPr>
              <a:t>Keep Right</a:t>
            </a:r>
            <a:endParaRPr lang="en-US" sz="2600" dirty="0"/>
          </a:p>
          <a:p>
            <a:pPr algn="ctr" indent="0" marL="0">
              <a:buNone/>
            </a:pPr>
            <a:r>
              <a:rPr lang="en-US" sz="1800" dirty="0">
                <a:solidFill>
                  <a:srgbClr val="4A4A4A"/>
                </a:solidFill>
                <a:latin typeface="Arial" pitchFamily="34" charset="0"/>
                <a:ea typeface="Arial" pitchFamily="34" charset="-122"/>
                <a:cs typeface="Arial" pitchFamily="34" charset="-120"/>
              </a:rPr>
              <a:t>confidence 99.8%</a:t>
            </a:r>
            <a:endParaRPr lang="en-US" sz="2600" dirty="0"/>
          </a:p>
        </p:txBody>
      </p:sp>
      <p:sp>
        <p:nvSpPr>
          <p:cNvPr id="10" name="Text 7"/>
          <p:cNvSpPr txBox="1"/>
          <p:nvPr/>
        </p:nvSpPr>
        <p:spPr>
          <a:xfrm>
            <a:off x="5989320" y="21031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Why it is hard</a:t>
            </a:r>
            <a:endParaRPr lang="en-US" sz="2400" dirty="0"/>
          </a:p>
        </p:txBody>
      </p:sp>
      <p:sp>
        <p:nvSpPr>
          <p:cNvPr id="11" name="Text 8"/>
          <p:cNvSpPr txBox="1"/>
          <p:nvPr/>
        </p:nvSpPr>
        <p:spPr>
          <a:xfrm>
            <a:off x="5989320" y="2651760"/>
            <a:ext cx="5715000" cy="3566160"/>
          </a:xfrm>
          <a:prstGeom prst="rect">
            <a:avLst/>
          </a:prstGeom>
          <a:noFill/>
          <a:ln/>
        </p:spPr>
        <p:txBody>
          <a:bodyPr wrap="square" lIns="635" tIns="635" rIns="635" bIns="635" rtlCol="0" anchor="t"/>
          <a:lstStyle/>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26 classes, many look alike: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left vs. right bend, 30 / 40 / 60 / 80 speed limits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Unbalanced data: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from 29 to 738 images per class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Cambodia-specific signs,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e.g. kilometre posts with Khmer text</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Real roads: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small, blurred or partly hidden signs</a:t>
            </a:r>
            <a:endParaRPr lang="en-US" sz="20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Dataset: 26 Real Cambodian Sign Classes</a:t>
            </a:r>
            <a:endParaRPr lang="en-US" sz="3200" dirty="0"/>
          </a:p>
        </p:txBody>
      </p:sp>
      <p:pic>
        <p:nvPicPr>
          <p:cNvPr id="3" name="Image 0" descr="C:/Users/ASUSG1~1/AppData/Local/Temp/claude/C--Users-ASUS-G-16-JVR-Desktop-deepLearning-CNN/ddb4b7a1-b5ad-4432-b312-271443ec143d/scratchpad/deck_v3/assets/class_gallery.png">    </p:cNvPr>
          <p:cNvPicPr>
            <a:picLocks noChangeAspect="1"/>
          </p:cNvPicPr>
          <p:nvPr/>
        </p:nvPicPr>
        <p:blipFill>
          <a:blip r:embed="rId1"/>
          <a:stretch>
            <a:fillRect/>
          </a:stretch>
        </p:blipFill>
        <p:spPr>
          <a:xfrm>
            <a:off x="320040" y="1481328"/>
            <a:ext cx="6164830" cy="4919472"/>
          </a:xfrm>
          <a:prstGeom prst="rect">
            <a:avLst/>
          </a:prstGeom>
        </p:spPr>
      </p:pic>
      <p:sp>
        <p:nvSpPr>
          <p:cNvPr id="4" name="Text 1"/>
          <p:cNvSpPr txBox="1"/>
          <p:nvPr/>
        </p:nvSpPr>
        <p:spPr>
          <a:xfrm>
            <a:off x="7223760" y="164592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2,766</a:t>
            </a:r>
            <a:endParaRPr lang="en-US" sz="3600" dirty="0"/>
          </a:p>
        </p:txBody>
      </p:sp>
      <p:sp>
        <p:nvSpPr>
          <p:cNvPr id="5" name="Text 2"/>
          <p:cNvSpPr txBox="1"/>
          <p:nvPr/>
        </p:nvSpPr>
        <p:spPr>
          <a:xfrm>
            <a:off x="7223760" y="232257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street photos from car-mounted cameras</a:t>
            </a:r>
            <a:endParaRPr lang="en-US" sz="1600" dirty="0"/>
          </a:p>
        </p:txBody>
      </p:sp>
      <p:sp>
        <p:nvSpPr>
          <p:cNvPr id="6" name="Text 3"/>
          <p:cNvSpPr txBox="1"/>
          <p:nvPr/>
        </p:nvSpPr>
        <p:spPr>
          <a:xfrm>
            <a:off x="7223760" y="288036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3,070</a:t>
            </a:r>
            <a:endParaRPr lang="en-US" sz="3600" dirty="0"/>
          </a:p>
        </p:txBody>
      </p:sp>
      <p:sp>
        <p:nvSpPr>
          <p:cNvPr id="7" name="Text 4"/>
          <p:cNvSpPr txBox="1"/>
          <p:nvPr/>
        </p:nvSpPr>
        <p:spPr>
          <a:xfrm>
            <a:off x="7223760" y="355701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cropped signs used (26 classes)</a:t>
            </a:r>
            <a:endParaRPr lang="en-US" sz="1600" dirty="0"/>
          </a:p>
        </p:txBody>
      </p:sp>
      <p:sp>
        <p:nvSpPr>
          <p:cNvPr id="8" name="Shape 5"/>
          <p:cNvSpPr/>
          <p:nvPr/>
        </p:nvSpPr>
        <p:spPr>
          <a:xfrm>
            <a:off x="7406640" y="4206240"/>
            <a:ext cx="4325112" cy="2103120"/>
          </a:xfrm>
          <a:prstGeom prst="roundRect">
            <a:avLst>
              <a:gd name="adj" fmla="val 3478"/>
            </a:avLst>
          </a:prstGeom>
          <a:solidFill>
            <a:srgbClr val="EEF5F1"/>
          </a:solidFill>
          <a:ln w="9525">
            <a:solidFill>
              <a:srgbClr val="EEF5F1"/>
            </a:solidFill>
            <a:prstDash val="solid"/>
          </a:ln>
        </p:spPr>
      </p:sp>
      <p:sp>
        <p:nvSpPr>
          <p:cNvPr id="9" name="Text 6"/>
          <p:cNvSpPr txBox="1"/>
          <p:nvPr/>
        </p:nvSpPr>
        <p:spPr>
          <a:xfrm>
            <a:off x="7589520" y="4297680"/>
            <a:ext cx="4023360" cy="1920240"/>
          </a:xfrm>
          <a:prstGeom prst="rect">
            <a:avLst/>
          </a:prstGeom>
          <a:noFill/>
          <a:ln/>
        </p:spPr>
        <p:txBody>
          <a:bodyPr wrap="square" lIns="0" tIns="0" rIns="0" bIns="0" rtlCol="0" anchor="t"/>
          <a:lstStyle/>
          <a:p>
            <a:pPr indent="0" marL="0">
              <a:spcAft>
                <a:spcPts val="600"/>
              </a:spcAft>
              <a:buNone/>
            </a:pPr>
            <a:r>
              <a:rPr lang="en-US" sz="1700" b="1" dirty="0">
                <a:solidFill>
                  <a:srgbClr val="0B5A3C"/>
                </a:solidFill>
                <a:latin typeface="Arial" pitchFamily="34" charset="0"/>
                <a:ea typeface="Arial" pitchFamily="34" charset="-122"/>
                <a:cs typeface="Arial" pitchFamily="34" charset="-120"/>
              </a:rPr>
              <a:t>Source</a:t>
            </a:r>
            <a:endParaRPr lang="en-US" sz="1700" dirty="0"/>
          </a:p>
          <a:p>
            <a:pPr indent="0" marL="0">
              <a:spcAft>
                <a:spcPts val="600"/>
              </a:spcAft>
              <a:buNone/>
            </a:pPr>
            <a:r>
              <a:rPr lang="en-US" sz="1700" dirty="0">
                <a:solidFill>
                  <a:srgbClr val="111111"/>
                </a:solidFill>
                <a:latin typeface="Arial" pitchFamily="34" charset="0"/>
                <a:ea typeface="Arial" pitchFamily="34" charset="-122"/>
                <a:cs typeface="Arial" pitchFamily="34" charset="-120"/>
              </a:rPr>
              <a:t>Cambodia Traffic Signs Dataset (Kaggle)</a:t>
            </a:r>
            <a:endParaRPr lang="en-US" sz="1700" dirty="0"/>
          </a:p>
          <a:p>
            <a:pPr indent="0" marL="0">
              <a:spcAft>
                <a:spcPts val="6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Open the dataset on Kaggle</a:t>
            </a:r>
            <a:endParaRPr lang="en-US" sz="1700" dirty="0"/>
          </a:p>
          <a:p>
            <a:pPr indent="0" marL="0">
              <a:spcAft>
                <a:spcPts val="600"/>
              </a:spcAft>
              <a:buNone/>
            </a:pPr>
            <a:r>
              <a:rPr lang="en-US" sz="1500" dirty="0">
                <a:solidFill>
                  <a:srgbClr val="4A4A4A"/>
                </a:solidFill>
                <a:latin typeface="Arial" pitchFamily="34" charset="0"/>
                <a:ea typeface="Arial" pitchFamily="34" charset="-122"/>
                <a:cs typeface="Arial" pitchFamily="34" charset="-120"/>
              </a:rPr>
              <a:t>Author: Sophal Ratitya · License: Apache 2.0</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Data Split and Preprocessing</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Split by photo (seed 42): signs from one photo never appear in two splits</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5120640" cy="914400"/>
        </p:xfrm>
        <a:graphic>
          <a:graphicData uri="http://schemas.openxmlformats.org/drawingml/2006/table">
            <a:tbl>
              <a:tblPr/>
              <a:tblGrid>
                <a:gridCol w="1828800"/>
                <a:gridCol w="1463040"/>
                <a:gridCol w="1828800"/>
              </a:tblGrid>
              <a:tr h="566928">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Split</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Photos</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Cropped signs</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Train</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1,766</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2,153</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Validation</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378</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454</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Test</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379</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463</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Total</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2,523</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3,070</a:t>
                      </a:r>
                      <a:endParaRPr lang="en-US" sz="20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5" name="Text 2"/>
          <p:cNvSpPr txBox="1"/>
          <p:nvPr/>
        </p:nvSpPr>
        <p:spPr>
          <a:xfrm>
            <a:off x="457200" y="5120640"/>
            <a:ext cx="5120640" cy="822960"/>
          </a:xfrm>
          <a:prstGeom prst="rect">
            <a:avLst/>
          </a:prstGeom>
          <a:noFill/>
          <a:ln/>
        </p:spPr>
        <p:txBody>
          <a:bodyPr wrap="square" lIns="508" tIns="508" rIns="508" bIns="508" rtlCol="0" anchor="t"/>
          <a:lstStyle/>
          <a:p>
            <a:pPr indent="0" marL="0">
              <a:buNone/>
            </a:pPr>
            <a:r>
              <a:rPr lang="en-US" sz="1700" dirty="0">
                <a:solidFill>
                  <a:srgbClr val="4A4A4A"/>
                </a:solidFill>
                <a:latin typeface="Arial" pitchFamily="34" charset="0"/>
                <a:ea typeface="Arial" pitchFamily="34" charset="-122"/>
                <a:cs typeface="Arial" pitchFamily="34" charset="-120"/>
              </a:rPr>
              <a:t>Test set: used only once, at the very end.</a:t>
            </a:r>
            <a:endParaRPr lang="en-US" sz="1700" dirty="0"/>
          </a:p>
        </p:txBody>
      </p:sp>
      <p:sp>
        <p:nvSpPr>
          <p:cNvPr id="6" name="Text 3"/>
          <p:cNvSpPr txBox="1"/>
          <p:nvPr/>
        </p:nvSpPr>
        <p:spPr>
          <a:xfrm>
            <a:off x="6035040" y="21031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Preprocessing</a:t>
            </a:r>
            <a:endParaRPr lang="en-US" sz="2400" dirty="0"/>
          </a:p>
        </p:txBody>
      </p:sp>
      <p:sp>
        <p:nvSpPr>
          <p:cNvPr id="7" name="Text 4"/>
          <p:cNvSpPr txBox="1"/>
          <p:nvPr/>
        </p:nvSpPr>
        <p:spPr>
          <a:xfrm>
            <a:off x="6035040" y="2606040"/>
            <a:ext cx="5669280" cy="1463040"/>
          </a:xfrm>
          <a:prstGeom prst="rect">
            <a:avLst/>
          </a:prstGeom>
          <a:noFill/>
          <a:ln/>
        </p:spPr>
        <p:txBody>
          <a:bodyPr wrap="square" lIns="635" tIns="635" rIns="635" bIns="635" rtlCol="0" anchor="t"/>
          <a:lstStyle/>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All images: resize to 224 × 224, ImageNet normalisation</a:t>
            </a:r>
            <a:endParaRPr lang="en-US" sz="1900" dirty="0"/>
          </a:p>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Training only: small rotation (±10°) and colour changes</a:t>
            </a:r>
            <a:endParaRPr lang="en-US" sz="1900" dirty="0"/>
          </a:p>
        </p:txBody>
      </p:sp>
      <p:sp>
        <p:nvSpPr>
          <p:cNvPr id="8" name="Text 5"/>
          <p:cNvSpPr txBox="1"/>
          <p:nvPr/>
        </p:nvSpPr>
        <p:spPr>
          <a:xfrm>
            <a:off x="6035040" y="4160520"/>
            <a:ext cx="5669280" cy="411480"/>
          </a:xfrm>
          <a:prstGeom prst="rect">
            <a:avLst/>
          </a:prstGeom>
          <a:noFill/>
          <a:ln/>
        </p:spPr>
        <p:txBody>
          <a:bodyPr wrap="square" lIns="508" tIns="508" rIns="508" bIns="508" rtlCol="0" anchor="t"/>
          <a:lstStyle/>
          <a:p>
            <a:pPr indent="0" marL="0">
              <a:buNone/>
            </a:pPr>
            <a:r>
              <a:rPr lang="en-US" sz="1900" b="1" dirty="0">
                <a:solidFill>
                  <a:srgbClr val="C44E52"/>
                </a:solidFill>
                <a:latin typeface="Arial" pitchFamily="34" charset="0"/>
                <a:ea typeface="Arial" pitchFamily="34" charset="-122"/>
                <a:cs typeface="Arial" pitchFamily="34" charset="-120"/>
              </a:rPr>
              <a:t>No horizontal flip: it changes the meaning</a:t>
            </a:r>
            <a:endParaRPr lang="en-US" sz="1900" dirty="0"/>
          </a:p>
        </p:txBody>
      </p:sp>
      <p:pic>
        <p:nvPicPr>
          <p:cNvPr id="9" name="Image 0" descr="C:/Users/ASUSG1~1/AppData/Local/Temp/claude/C--Users-ASUS-G-16-JVR-Desktop-deepLearning-CNN/ddb4b7a1-b5ad-4432-b312-271443ec143d/scratchpad/deck_v3/assets/left_bend.png">    </p:cNvPr>
          <p:cNvPicPr>
            <a:picLocks noChangeAspect="1"/>
          </p:cNvPicPr>
          <p:nvPr/>
        </p:nvPicPr>
        <p:blipFill>
          <a:blip r:embed="rId1"/>
          <a:stretch>
            <a:fillRect/>
          </a:stretch>
        </p:blipFill>
        <p:spPr>
          <a:xfrm>
            <a:off x="6309360" y="4617720"/>
            <a:ext cx="1280160" cy="1280160"/>
          </a:xfrm>
          <a:prstGeom prst="rect">
            <a:avLst/>
          </a:prstGeom>
        </p:spPr>
      </p:pic>
      <p:sp>
        <p:nvSpPr>
          <p:cNvPr id="10" name="Shape 6"/>
          <p:cNvSpPr/>
          <p:nvPr/>
        </p:nvSpPr>
        <p:spPr>
          <a:xfrm>
            <a:off x="7726680" y="5257800"/>
            <a:ext cx="548640" cy="914"/>
          </a:xfrm>
          <a:prstGeom prst="line">
            <a:avLst/>
          </a:prstGeom>
          <a:noFill/>
          <a:ln w="31750">
            <a:solidFill>
              <a:srgbClr val="C44E52"/>
            </a:solidFill>
            <a:prstDash val="solid"/>
            <a:tailEnd type="triangle"/>
          </a:ln>
        </p:spPr>
      </p:sp>
      <p:pic>
        <p:nvPicPr>
          <p:cNvPr id="11" name="Image 1" descr="C:/Users/ASUSG1~1/AppData/Local/Temp/claude/C--Users-ASUS-G-16-JVR-Desktop-deepLearning-CNN/ddb4b7a1-b5ad-4432-b312-271443ec143d/scratchpad/deck_v3/assets/left_bend_flipped.png">    </p:cNvPr>
          <p:cNvPicPr>
            <a:picLocks noChangeAspect="1"/>
          </p:cNvPicPr>
          <p:nvPr/>
        </p:nvPicPr>
        <p:blipFill>
          <a:blip r:embed="rId2"/>
          <a:stretch>
            <a:fillRect/>
          </a:stretch>
        </p:blipFill>
        <p:spPr>
          <a:xfrm>
            <a:off x="8412480" y="4617720"/>
            <a:ext cx="1280160" cy="1280160"/>
          </a:xfrm>
          <a:prstGeom prst="rect">
            <a:avLst/>
          </a:prstGeom>
        </p:spPr>
      </p:pic>
      <p:sp>
        <p:nvSpPr>
          <p:cNvPr id="12" name="Text 7"/>
          <p:cNvSpPr txBox="1"/>
          <p:nvPr/>
        </p:nvSpPr>
        <p:spPr>
          <a:xfrm>
            <a:off x="6035040" y="5943600"/>
            <a:ext cx="1828800" cy="365760"/>
          </a:xfrm>
          <a:prstGeom prst="rect">
            <a:avLst/>
          </a:prstGeom>
          <a:noFill/>
          <a:ln/>
        </p:spPr>
        <p:txBody>
          <a:bodyPr wrap="square" lIns="508" tIns="508" rIns="508" bIns="508" rtlCol="0" anchor="t"/>
          <a:lstStyle/>
          <a:p>
            <a:pPr algn="ctr" indent="0" marL="0">
              <a:buNone/>
            </a:pPr>
            <a:r>
              <a:rPr lang="en-US" sz="1500" dirty="0">
                <a:solidFill>
                  <a:srgbClr val="4A4A4A"/>
                </a:solidFill>
                <a:latin typeface="Arial" pitchFamily="34" charset="0"/>
                <a:ea typeface="Arial" pitchFamily="34" charset="-122"/>
                <a:cs typeface="Arial" pitchFamily="34" charset="-120"/>
              </a:rPr>
              <a:t>Left Bend</a:t>
            </a:r>
            <a:endParaRPr lang="en-US" sz="1500" dirty="0"/>
          </a:p>
        </p:txBody>
      </p:sp>
      <p:sp>
        <p:nvSpPr>
          <p:cNvPr id="13" name="Text 8"/>
          <p:cNvSpPr txBox="1"/>
          <p:nvPr/>
        </p:nvSpPr>
        <p:spPr>
          <a:xfrm>
            <a:off x="8138160" y="5943600"/>
            <a:ext cx="3566160" cy="365760"/>
          </a:xfrm>
          <a:prstGeom prst="rect">
            <a:avLst/>
          </a:prstGeom>
          <a:noFill/>
          <a:ln/>
        </p:spPr>
        <p:txBody>
          <a:bodyPr wrap="square" lIns="508" tIns="508" rIns="508" bIns="508" rtlCol="0" anchor="t"/>
          <a:lstStyle/>
          <a:p>
            <a:pPr indent="0" marL="0">
              <a:buNone/>
            </a:pPr>
            <a:r>
              <a:rPr lang="en-US" sz="1500" dirty="0">
                <a:solidFill>
                  <a:srgbClr val="C44E52"/>
                </a:solidFill>
                <a:latin typeface="Arial" pitchFamily="34" charset="0"/>
                <a:ea typeface="Arial" pitchFamily="34" charset="-122"/>
                <a:cs typeface="Arial" pitchFamily="34" charset="-120"/>
              </a:rPr>
              <a:t>flipped = looks like Right Bend</a:t>
            </a:r>
            <a:endParaRPr lang="en-US" sz="15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System Flow</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Two ways to use the system: a full street photo, or one cropped sign</a:t>
            </a:r>
            <a:endParaRPr lang="en-US" sz="1800" dirty="0"/>
          </a:p>
        </p:txBody>
      </p:sp>
      <p:sp>
        <p:nvSpPr>
          <p:cNvPr id="4" name="Shape 2"/>
          <p:cNvSpPr/>
          <p:nvPr/>
        </p:nvSpPr>
        <p:spPr>
          <a:xfrm>
            <a:off x="457200" y="2240280"/>
            <a:ext cx="1664208" cy="1234440"/>
          </a:xfrm>
          <a:prstGeom prst="roundRect">
            <a:avLst>
              <a:gd name="adj" fmla="val 5926"/>
            </a:avLst>
          </a:prstGeom>
          <a:solidFill>
            <a:srgbClr val="EEF5F1"/>
          </a:solidFill>
          <a:ln w="15875">
            <a:solidFill>
              <a:srgbClr val="EEF5F1"/>
            </a:solidFill>
            <a:prstDash val="solid"/>
          </a:ln>
        </p:spPr>
      </p:sp>
      <p:sp>
        <p:nvSpPr>
          <p:cNvPr id="5" name="Text 3"/>
          <p:cNvSpPr txBox="1"/>
          <p:nvPr/>
        </p:nvSpPr>
        <p:spPr>
          <a:xfrm>
            <a:off x="502920" y="22402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Full street photo</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4K road image</a:t>
            </a:r>
            <a:endParaRPr lang="en-US" sz="1700" dirty="0"/>
          </a:p>
        </p:txBody>
      </p:sp>
      <p:sp>
        <p:nvSpPr>
          <p:cNvPr id="6" name="Shape 4"/>
          <p:cNvSpPr/>
          <p:nvPr/>
        </p:nvSpPr>
        <p:spPr>
          <a:xfrm>
            <a:off x="2139696" y="2857500"/>
            <a:ext cx="210312" cy="914"/>
          </a:xfrm>
          <a:prstGeom prst="line">
            <a:avLst/>
          </a:prstGeom>
          <a:noFill/>
          <a:ln w="31750">
            <a:solidFill>
              <a:srgbClr val="0B5A3C"/>
            </a:solidFill>
            <a:prstDash val="solid"/>
            <a:tailEnd type="triangle"/>
          </a:ln>
        </p:spPr>
      </p:sp>
      <p:sp>
        <p:nvSpPr>
          <p:cNvPr id="7" name="Shape 5"/>
          <p:cNvSpPr/>
          <p:nvPr/>
        </p:nvSpPr>
        <p:spPr>
          <a:xfrm>
            <a:off x="2368296" y="2240280"/>
            <a:ext cx="1664208" cy="1234440"/>
          </a:xfrm>
          <a:prstGeom prst="roundRect">
            <a:avLst>
              <a:gd name="adj" fmla="val 5926"/>
            </a:avLst>
          </a:prstGeom>
          <a:solidFill>
            <a:srgbClr val="0B5A3C"/>
          </a:solidFill>
          <a:ln w="15875">
            <a:solidFill>
              <a:srgbClr val="0B5A3C"/>
            </a:solidFill>
            <a:prstDash val="solid"/>
          </a:ln>
        </p:spPr>
      </p:sp>
      <p:sp>
        <p:nvSpPr>
          <p:cNvPr id="8" name="Text 6"/>
          <p:cNvSpPr txBox="1"/>
          <p:nvPr/>
        </p:nvSpPr>
        <p:spPr>
          <a:xfrm>
            <a:off x="2414016" y="22402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YOLOv8 detector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WHERE are the signs?</a:t>
            </a:r>
            <a:endParaRPr lang="en-US" sz="1700" dirty="0"/>
          </a:p>
        </p:txBody>
      </p:sp>
      <p:sp>
        <p:nvSpPr>
          <p:cNvPr id="9" name="Shape 7"/>
          <p:cNvSpPr/>
          <p:nvPr/>
        </p:nvSpPr>
        <p:spPr>
          <a:xfrm>
            <a:off x="4050792" y="2857500"/>
            <a:ext cx="210312" cy="914"/>
          </a:xfrm>
          <a:prstGeom prst="line">
            <a:avLst/>
          </a:prstGeom>
          <a:noFill/>
          <a:ln w="31750">
            <a:solidFill>
              <a:srgbClr val="0B5A3C"/>
            </a:solidFill>
            <a:prstDash val="solid"/>
            <a:tailEnd type="triangle"/>
          </a:ln>
        </p:spPr>
      </p:sp>
      <p:sp>
        <p:nvSpPr>
          <p:cNvPr id="10" name="Shape 8"/>
          <p:cNvSpPr/>
          <p:nvPr/>
        </p:nvSpPr>
        <p:spPr>
          <a:xfrm>
            <a:off x="4279392" y="2240280"/>
            <a:ext cx="1664208" cy="1234440"/>
          </a:xfrm>
          <a:prstGeom prst="roundRect">
            <a:avLst>
              <a:gd name="adj" fmla="val 5926"/>
            </a:avLst>
          </a:prstGeom>
          <a:solidFill>
            <a:srgbClr val="EEF5F1"/>
          </a:solidFill>
          <a:ln w="15875">
            <a:solidFill>
              <a:srgbClr val="EEF5F1"/>
            </a:solidFill>
            <a:prstDash val="solid"/>
          </a:ln>
        </p:spPr>
      </p:sp>
      <p:sp>
        <p:nvSpPr>
          <p:cNvPr id="11" name="Text 9"/>
          <p:cNvSpPr txBox="1"/>
          <p:nvPr/>
        </p:nvSpPr>
        <p:spPr>
          <a:xfrm>
            <a:off x="4325112" y="22402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Crop each sign</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full resolution</a:t>
            </a:r>
            <a:endParaRPr lang="en-US" sz="1700" dirty="0"/>
          </a:p>
        </p:txBody>
      </p:sp>
      <p:sp>
        <p:nvSpPr>
          <p:cNvPr id="12" name="Shape 10"/>
          <p:cNvSpPr/>
          <p:nvPr/>
        </p:nvSpPr>
        <p:spPr>
          <a:xfrm>
            <a:off x="5961888" y="2857500"/>
            <a:ext cx="210312" cy="914"/>
          </a:xfrm>
          <a:prstGeom prst="line">
            <a:avLst/>
          </a:prstGeom>
          <a:noFill/>
          <a:ln w="31750">
            <a:solidFill>
              <a:srgbClr val="0B5A3C"/>
            </a:solidFill>
            <a:prstDash val="solid"/>
            <a:tailEnd type="triangle"/>
          </a:ln>
        </p:spPr>
      </p:sp>
      <p:sp>
        <p:nvSpPr>
          <p:cNvPr id="13" name="Shape 11"/>
          <p:cNvSpPr/>
          <p:nvPr/>
        </p:nvSpPr>
        <p:spPr>
          <a:xfrm>
            <a:off x="6190488" y="2240280"/>
            <a:ext cx="1664208" cy="1234440"/>
          </a:xfrm>
          <a:prstGeom prst="roundRect">
            <a:avLst>
              <a:gd name="adj" fmla="val 5926"/>
            </a:avLst>
          </a:prstGeom>
          <a:solidFill>
            <a:srgbClr val="0B5A3C"/>
          </a:solidFill>
          <a:ln w="15875">
            <a:solidFill>
              <a:srgbClr val="0B5A3C"/>
            </a:solidFill>
            <a:prstDash val="solid"/>
          </a:ln>
        </p:spPr>
      </p:sp>
      <p:sp>
        <p:nvSpPr>
          <p:cNvPr id="14" name="Text 12"/>
          <p:cNvSpPr txBox="1"/>
          <p:nvPr/>
        </p:nvSpPr>
        <p:spPr>
          <a:xfrm>
            <a:off x="6236208" y="22402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ResNet-18 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WHICH of 26 signs?</a:t>
            </a:r>
            <a:endParaRPr lang="en-US" sz="1700" dirty="0"/>
          </a:p>
        </p:txBody>
      </p:sp>
      <p:sp>
        <p:nvSpPr>
          <p:cNvPr id="15" name="Shape 13"/>
          <p:cNvSpPr/>
          <p:nvPr/>
        </p:nvSpPr>
        <p:spPr>
          <a:xfrm>
            <a:off x="7872984" y="2857500"/>
            <a:ext cx="210312" cy="914"/>
          </a:xfrm>
          <a:prstGeom prst="line">
            <a:avLst/>
          </a:prstGeom>
          <a:noFill/>
          <a:ln w="31750">
            <a:solidFill>
              <a:srgbClr val="0B5A3C"/>
            </a:solidFill>
            <a:prstDash val="solid"/>
            <a:tailEnd type="triangle"/>
          </a:ln>
        </p:spPr>
      </p:sp>
      <p:sp>
        <p:nvSpPr>
          <p:cNvPr id="16" name="Shape 14"/>
          <p:cNvSpPr/>
          <p:nvPr/>
        </p:nvSpPr>
        <p:spPr>
          <a:xfrm>
            <a:off x="8101584" y="2240280"/>
            <a:ext cx="1664208" cy="1234440"/>
          </a:xfrm>
          <a:prstGeom prst="roundRect">
            <a:avLst>
              <a:gd name="adj" fmla="val 5926"/>
            </a:avLst>
          </a:prstGeom>
          <a:solidFill>
            <a:srgbClr val="EEF5F1"/>
          </a:solidFill>
          <a:ln w="15875">
            <a:solidFill>
              <a:srgbClr val="EEF5F1"/>
            </a:solidFill>
            <a:prstDash val="solid"/>
          </a:ln>
        </p:spPr>
      </p:sp>
      <p:sp>
        <p:nvSpPr>
          <p:cNvPr id="17" name="Text 15"/>
          <p:cNvSpPr txBox="1"/>
          <p:nvPr/>
        </p:nvSpPr>
        <p:spPr>
          <a:xfrm>
            <a:off x="8147304" y="22402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Label + confidence</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e.g. Keep Right 99.8%</a:t>
            </a:r>
            <a:endParaRPr lang="en-US" sz="1700" dirty="0"/>
          </a:p>
        </p:txBody>
      </p:sp>
      <p:sp>
        <p:nvSpPr>
          <p:cNvPr id="18" name="Shape 16"/>
          <p:cNvSpPr/>
          <p:nvPr/>
        </p:nvSpPr>
        <p:spPr>
          <a:xfrm>
            <a:off x="9784080" y="2857500"/>
            <a:ext cx="210312" cy="914"/>
          </a:xfrm>
          <a:prstGeom prst="line">
            <a:avLst/>
          </a:prstGeom>
          <a:noFill/>
          <a:ln w="31750">
            <a:solidFill>
              <a:srgbClr val="0B5A3C"/>
            </a:solidFill>
            <a:prstDash val="solid"/>
            <a:tailEnd type="triangle"/>
          </a:ln>
        </p:spPr>
      </p:sp>
      <p:sp>
        <p:nvSpPr>
          <p:cNvPr id="19" name="Shape 17"/>
          <p:cNvSpPr/>
          <p:nvPr/>
        </p:nvSpPr>
        <p:spPr>
          <a:xfrm>
            <a:off x="10012680" y="2240280"/>
            <a:ext cx="1664208" cy="1234440"/>
          </a:xfrm>
          <a:prstGeom prst="roundRect">
            <a:avLst>
              <a:gd name="adj" fmla="val 5926"/>
            </a:avLst>
          </a:prstGeom>
          <a:solidFill>
            <a:srgbClr val="FFFFFF"/>
          </a:solidFill>
          <a:ln w="15875">
            <a:solidFill>
              <a:srgbClr val="0B5A3C"/>
            </a:solidFill>
            <a:prstDash val="solid"/>
          </a:ln>
        </p:spPr>
      </p:sp>
      <p:sp>
        <p:nvSpPr>
          <p:cNvPr id="20" name="Text 18"/>
          <p:cNvSpPr txBox="1"/>
          <p:nvPr/>
        </p:nvSpPr>
        <p:spPr>
          <a:xfrm>
            <a:off x="10058400" y="22402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Web app</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boxes on the photo + results table</a:t>
            </a:r>
            <a:endParaRPr lang="en-US" sz="1700" dirty="0"/>
          </a:p>
        </p:txBody>
      </p:sp>
      <p:sp>
        <p:nvSpPr>
          <p:cNvPr id="21" name="Text 19"/>
          <p:cNvSpPr txBox="1"/>
          <p:nvPr/>
        </p:nvSpPr>
        <p:spPr>
          <a:xfrm>
            <a:off x="457200" y="182880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A</a:t>
            </a:r>
            <a:endParaRPr lang="en-US" sz="1600" dirty="0"/>
          </a:p>
        </p:txBody>
      </p:sp>
      <p:sp>
        <p:nvSpPr>
          <p:cNvPr id="22" name="Shape 20"/>
          <p:cNvSpPr/>
          <p:nvPr/>
        </p:nvSpPr>
        <p:spPr>
          <a:xfrm>
            <a:off x="3730752" y="3977640"/>
            <a:ext cx="2212848" cy="914400"/>
          </a:xfrm>
          <a:prstGeom prst="roundRect">
            <a:avLst>
              <a:gd name="adj" fmla="val 8000"/>
            </a:avLst>
          </a:prstGeom>
          <a:solidFill>
            <a:srgbClr val="FBEDE5"/>
          </a:solidFill>
          <a:ln w="15875">
            <a:solidFill>
              <a:srgbClr val="FBEDE5"/>
            </a:solidFill>
            <a:prstDash val="solid"/>
          </a:ln>
        </p:spPr>
      </p:sp>
      <p:sp>
        <p:nvSpPr>
          <p:cNvPr id="23" name="Text 21"/>
          <p:cNvSpPr txBox="1"/>
          <p:nvPr/>
        </p:nvSpPr>
        <p:spPr>
          <a:xfrm>
            <a:off x="3776472" y="3977640"/>
            <a:ext cx="2121408" cy="9144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Upload one cropped sign</a:t>
            </a:r>
            <a:endParaRPr lang="en-US" sz="1700" dirty="0"/>
          </a:p>
        </p:txBody>
      </p:sp>
      <p:sp>
        <p:nvSpPr>
          <p:cNvPr id="24" name="Shape 22"/>
          <p:cNvSpPr/>
          <p:nvPr/>
        </p:nvSpPr>
        <p:spPr>
          <a:xfrm flipV="1">
            <a:off x="5961888" y="3520440"/>
            <a:ext cx="1060704" cy="914400"/>
          </a:xfrm>
          <a:prstGeom prst="line">
            <a:avLst/>
          </a:prstGeom>
          <a:noFill/>
          <a:ln w="31750">
            <a:solidFill>
              <a:srgbClr val="C75B1E"/>
            </a:solidFill>
            <a:prstDash val="solid"/>
            <a:tailEnd type="triangle"/>
          </a:ln>
        </p:spPr>
      </p:sp>
      <p:sp>
        <p:nvSpPr>
          <p:cNvPr id="25" name="Text 23"/>
          <p:cNvSpPr txBox="1"/>
          <p:nvPr/>
        </p:nvSpPr>
        <p:spPr>
          <a:xfrm>
            <a:off x="3730752" y="493776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B</a:t>
            </a:r>
            <a:endParaRPr lang="en-US" sz="1600" dirty="0"/>
          </a:p>
        </p:txBody>
      </p:sp>
      <p:sp>
        <p:nvSpPr>
          <p:cNvPr id="26" name="Shape 24"/>
          <p:cNvSpPr/>
          <p:nvPr/>
        </p:nvSpPr>
        <p:spPr>
          <a:xfrm>
            <a:off x="457200" y="5349240"/>
            <a:ext cx="5486400" cy="960120"/>
          </a:xfrm>
          <a:prstGeom prst="roundRect">
            <a:avLst>
              <a:gd name="adj" fmla="val 7619"/>
            </a:avLst>
          </a:prstGeom>
          <a:solidFill>
            <a:srgbClr val="EEF5F1"/>
          </a:solidFill>
          <a:ln w="9525">
            <a:solidFill>
              <a:srgbClr val="EEF5F1"/>
            </a:solidFill>
            <a:prstDash val="solid"/>
          </a:ln>
        </p:spPr>
      </p:sp>
      <p:sp>
        <p:nvSpPr>
          <p:cNvPr id="27" name="Text 25"/>
          <p:cNvSpPr txBox="1"/>
          <p:nvPr/>
        </p:nvSpPr>
        <p:spPr>
          <a:xfrm>
            <a:off x="640080" y="53492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YOLOv8 = WHERE. </a:t>
            </a:r>
            <a:pPr indent="0" marL="0">
              <a:buNone/>
            </a:pPr>
            <a:r>
              <a:rPr lang="en-US" sz="1700" dirty="0">
                <a:solidFill>
                  <a:srgbClr val="111111"/>
                </a:solidFill>
                <a:latin typeface="Arial" pitchFamily="34" charset="0"/>
                <a:ea typeface="Arial" pitchFamily="34" charset="-122"/>
                <a:cs typeface="Arial" pitchFamily="34" charset="-120"/>
              </a:rPr>
              <a:t>Finds every sign in the photo (one class: "Traffic Sign").</a:t>
            </a:r>
            <a:endParaRPr lang="en-US" sz="1700" dirty="0"/>
          </a:p>
        </p:txBody>
      </p:sp>
      <p:sp>
        <p:nvSpPr>
          <p:cNvPr id="28" name="Shape 26"/>
          <p:cNvSpPr/>
          <p:nvPr/>
        </p:nvSpPr>
        <p:spPr>
          <a:xfrm>
            <a:off x="6245352" y="5349240"/>
            <a:ext cx="5486400" cy="960120"/>
          </a:xfrm>
          <a:prstGeom prst="roundRect">
            <a:avLst>
              <a:gd name="adj" fmla="val 7619"/>
            </a:avLst>
          </a:prstGeom>
          <a:solidFill>
            <a:srgbClr val="EEF5F1"/>
          </a:solidFill>
          <a:ln w="9525">
            <a:solidFill>
              <a:srgbClr val="EEF5F1"/>
            </a:solidFill>
            <a:prstDash val="solid"/>
          </a:ln>
        </p:spPr>
      </p:sp>
      <p:sp>
        <p:nvSpPr>
          <p:cNvPr id="29" name="Text 27"/>
          <p:cNvSpPr txBox="1"/>
          <p:nvPr/>
        </p:nvSpPr>
        <p:spPr>
          <a:xfrm>
            <a:off x="6428232" y="53492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ResNet-18 = WHICH. </a:t>
            </a:r>
            <a:pPr indent="0" marL="0">
              <a:buNone/>
            </a:pPr>
            <a:r>
              <a:rPr lang="en-US" sz="1700" dirty="0">
                <a:solidFill>
                  <a:srgbClr val="111111"/>
                </a:solidFill>
                <a:latin typeface="Arial" pitchFamily="34" charset="0"/>
                <a:ea typeface="Arial" pitchFamily="34" charset="-122"/>
                <a:cs typeface="Arial" pitchFamily="34" charset="-120"/>
              </a:rPr>
              <a:t>Names each sign as one of the 26 classes.</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Classification vs. Detection</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They answer different questions, so the system uses both</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011680"/>
                <a:gridCol w="4631436"/>
                <a:gridCol w="4631436"/>
              </a:tblGrid>
              <a:tr h="548640">
                <a:tc>
                  <a:txBody>
                    <a:bodyPr/>
                    <a:lstStyle/>
                    <a:p>
                      <a:pPr algn="ctr" indent="0" marL="0">
                        <a:buNone/>
                      </a:pP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ResNet-18 classifier</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YOLOv8 detector</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48640">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Question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What type of sign is this crop?</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Where are the signs in this photo?</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Input</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one cropped sign (224 × 224)</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full street photo</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Output</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1 of 26 classes + confidence</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boxes labelled "Traffic Sign"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Trained on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2,153 sign crops, 26 labels</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2,009 photos with sign boxes</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5" name="Text 2"/>
          <p:cNvSpPr txBox="1"/>
          <p:nvPr/>
        </p:nvSpPr>
        <p:spPr>
          <a:xfrm>
            <a:off x="457200" y="4937760"/>
            <a:ext cx="11274552"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Why not YOLO alone?</a:t>
            </a:r>
            <a:endParaRPr lang="en-US" sz="2000" dirty="0"/>
          </a:p>
        </p:txBody>
      </p:sp>
      <p:sp>
        <p:nvSpPr>
          <p:cNvPr id="6" name="Text 3"/>
          <p:cNvSpPr txBox="1"/>
          <p:nvPr/>
        </p:nvSpPr>
        <p:spPr>
          <a:xfrm>
            <a:off x="457200" y="5349240"/>
            <a:ext cx="11274552" cy="1097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The course task is to compare CNN classifiers, so classification of cropped signs is the core; the detector was added to handle full photos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YOLO can also be trained to classify all 26 signs; I did not test that option, so I do not claim my design is better</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Model Architectures</a:t>
            </a:r>
            <a:endParaRPr lang="en-US" sz="3200" dirty="0"/>
          </a:p>
        </p:txBody>
      </p:sp>
      <p:sp>
        <p:nvSpPr>
          <p:cNvPr id="3" name="Text 1"/>
          <p:cNvSpPr txBox="1"/>
          <p:nvPr/>
        </p:nvSpPr>
        <p:spPr>
          <a:xfrm>
            <a:off x="457200" y="160020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 1: SmallCNN, trained from scratch</a:t>
            </a:r>
            <a:endParaRPr lang="en-US" sz="1900" dirty="0"/>
          </a:p>
        </p:txBody>
      </p:sp>
      <p:sp>
        <p:nvSpPr>
          <p:cNvPr id="4" name="Shape 2"/>
          <p:cNvSpPr/>
          <p:nvPr/>
        </p:nvSpPr>
        <p:spPr>
          <a:xfrm>
            <a:off x="457200" y="2057400"/>
            <a:ext cx="1444752" cy="868680"/>
          </a:xfrm>
          <a:prstGeom prst="roundRect">
            <a:avLst>
              <a:gd name="adj" fmla="val 8421"/>
            </a:avLst>
          </a:prstGeom>
          <a:solidFill>
            <a:srgbClr val="EEF5F1"/>
          </a:solidFill>
          <a:ln w="15875">
            <a:solidFill>
              <a:srgbClr val="EEF5F1"/>
            </a:solidFill>
            <a:prstDash val="solid"/>
          </a:ln>
        </p:spPr>
      </p:sp>
      <p:sp>
        <p:nvSpPr>
          <p:cNvPr id="5" name="Text 3"/>
          <p:cNvSpPr txBox="1"/>
          <p:nvPr/>
        </p:nvSpPr>
        <p:spPr>
          <a:xfrm>
            <a:off x="502920" y="2057400"/>
            <a:ext cx="1353312" cy="86868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6" name="Shape 4"/>
          <p:cNvSpPr/>
          <p:nvPr/>
        </p:nvSpPr>
        <p:spPr>
          <a:xfrm>
            <a:off x="1911096" y="2491740"/>
            <a:ext cx="173736" cy="914"/>
          </a:xfrm>
          <a:prstGeom prst="line">
            <a:avLst/>
          </a:prstGeom>
          <a:noFill/>
          <a:ln w="31750">
            <a:solidFill>
              <a:srgbClr val="0B5A3C"/>
            </a:solidFill>
            <a:prstDash val="solid"/>
            <a:tailEnd type="triangle"/>
          </a:ln>
        </p:spPr>
      </p:sp>
      <p:sp>
        <p:nvSpPr>
          <p:cNvPr id="7" name="Shape 5"/>
          <p:cNvSpPr/>
          <p:nvPr/>
        </p:nvSpPr>
        <p:spPr>
          <a:xfrm>
            <a:off x="2093976" y="2057400"/>
            <a:ext cx="1444752" cy="868680"/>
          </a:xfrm>
          <a:prstGeom prst="roundRect">
            <a:avLst>
              <a:gd name="adj" fmla="val 8421"/>
            </a:avLst>
          </a:prstGeom>
          <a:solidFill>
            <a:srgbClr val="0B5A3C"/>
          </a:solidFill>
          <a:ln w="15875">
            <a:solidFill>
              <a:srgbClr val="0B5A3C"/>
            </a:solidFill>
            <a:prstDash val="solid"/>
          </a:ln>
        </p:spPr>
      </p:sp>
      <p:sp>
        <p:nvSpPr>
          <p:cNvPr id="8" name="Text 6"/>
          <p:cNvSpPr txBox="1"/>
          <p:nvPr/>
        </p:nvSpPr>
        <p:spPr>
          <a:xfrm>
            <a:off x="2139696"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32 filters</a:t>
            </a:r>
            <a:endParaRPr lang="en-US" sz="1600" dirty="0"/>
          </a:p>
        </p:txBody>
      </p:sp>
      <p:sp>
        <p:nvSpPr>
          <p:cNvPr id="9" name="Shape 7"/>
          <p:cNvSpPr/>
          <p:nvPr/>
        </p:nvSpPr>
        <p:spPr>
          <a:xfrm>
            <a:off x="3547872" y="2491740"/>
            <a:ext cx="173736" cy="914"/>
          </a:xfrm>
          <a:prstGeom prst="line">
            <a:avLst/>
          </a:prstGeom>
          <a:noFill/>
          <a:ln w="31750">
            <a:solidFill>
              <a:srgbClr val="0B5A3C"/>
            </a:solidFill>
            <a:prstDash val="solid"/>
            <a:tailEnd type="triangle"/>
          </a:ln>
        </p:spPr>
      </p:sp>
      <p:sp>
        <p:nvSpPr>
          <p:cNvPr id="10" name="Shape 8"/>
          <p:cNvSpPr/>
          <p:nvPr/>
        </p:nvSpPr>
        <p:spPr>
          <a:xfrm>
            <a:off x="3730752" y="2057400"/>
            <a:ext cx="1444752" cy="868680"/>
          </a:xfrm>
          <a:prstGeom prst="roundRect">
            <a:avLst>
              <a:gd name="adj" fmla="val 8421"/>
            </a:avLst>
          </a:prstGeom>
          <a:solidFill>
            <a:srgbClr val="0B5A3C"/>
          </a:solidFill>
          <a:ln w="15875">
            <a:solidFill>
              <a:srgbClr val="0B5A3C"/>
            </a:solidFill>
            <a:prstDash val="solid"/>
          </a:ln>
        </p:spPr>
      </p:sp>
      <p:sp>
        <p:nvSpPr>
          <p:cNvPr id="11" name="Text 9"/>
          <p:cNvSpPr txBox="1"/>
          <p:nvPr/>
        </p:nvSpPr>
        <p:spPr>
          <a:xfrm>
            <a:off x="3776472"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filters</a:t>
            </a:r>
            <a:endParaRPr lang="en-US" sz="1600" dirty="0"/>
          </a:p>
        </p:txBody>
      </p:sp>
      <p:sp>
        <p:nvSpPr>
          <p:cNvPr id="12" name="Shape 10"/>
          <p:cNvSpPr/>
          <p:nvPr/>
        </p:nvSpPr>
        <p:spPr>
          <a:xfrm>
            <a:off x="5184648" y="2491740"/>
            <a:ext cx="173736" cy="914"/>
          </a:xfrm>
          <a:prstGeom prst="line">
            <a:avLst/>
          </a:prstGeom>
          <a:noFill/>
          <a:ln w="31750">
            <a:solidFill>
              <a:srgbClr val="0B5A3C"/>
            </a:solidFill>
            <a:prstDash val="solid"/>
            <a:tailEnd type="triangle"/>
          </a:ln>
        </p:spPr>
      </p:sp>
      <p:sp>
        <p:nvSpPr>
          <p:cNvPr id="13" name="Shape 11"/>
          <p:cNvSpPr/>
          <p:nvPr/>
        </p:nvSpPr>
        <p:spPr>
          <a:xfrm>
            <a:off x="5367528" y="2057400"/>
            <a:ext cx="1444752" cy="868680"/>
          </a:xfrm>
          <a:prstGeom prst="roundRect">
            <a:avLst>
              <a:gd name="adj" fmla="val 8421"/>
            </a:avLst>
          </a:prstGeom>
          <a:solidFill>
            <a:srgbClr val="0B5A3C"/>
          </a:solidFill>
          <a:ln w="15875">
            <a:solidFill>
              <a:srgbClr val="0B5A3C"/>
            </a:solidFill>
            <a:prstDash val="solid"/>
          </a:ln>
        </p:spPr>
      </p:sp>
      <p:sp>
        <p:nvSpPr>
          <p:cNvPr id="14" name="Text 12"/>
          <p:cNvSpPr txBox="1"/>
          <p:nvPr/>
        </p:nvSpPr>
        <p:spPr>
          <a:xfrm>
            <a:off x="5413248"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filters</a:t>
            </a:r>
            <a:endParaRPr lang="en-US" sz="1600" dirty="0"/>
          </a:p>
        </p:txBody>
      </p:sp>
      <p:sp>
        <p:nvSpPr>
          <p:cNvPr id="15" name="Shape 13"/>
          <p:cNvSpPr/>
          <p:nvPr/>
        </p:nvSpPr>
        <p:spPr>
          <a:xfrm>
            <a:off x="6821424" y="2491740"/>
            <a:ext cx="173736" cy="914"/>
          </a:xfrm>
          <a:prstGeom prst="line">
            <a:avLst/>
          </a:prstGeom>
          <a:noFill/>
          <a:ln w="31750">
            <a:solidFill>
              <a:srgbClr val="0B5A3C"/>
            </a:solidFill>
            <a:prstDash val="solid"/>
            <a:tailEnd type="triangle"/>
          </a:ln>
        </p:spPr>
      </p:sp>
      <p:sp>
        <p:nvSpPr>
          <p:cNvPr id="16" name="Shape 14"/>
          <p:cNvSpPr/>
          <p:nvPr/>
        </p:nvSpPr>
        <p:spPr>
          <a:xfrm>
            <a:off x="7004304" y="2057400"/>
            <a:ext cx="1444752" cy="868680"/>
          </a:xfrm>
          <a:prstGeom prst="roundRect">
            <a:avLst>
              <a:gd name="adj" fmla="val 8421"/>
            </a:avLst>
          </a:prstGeom>
          <a:solidFill>
            <a:srgbClr val="0B5A3C"/>
          </a:solidFill>
          <a:ln w="15875">
            <a:solidFill>
              <a:srgbClr val="0B5A3C"/>
            </a:solidFill>
            <a:prstDash val="solid"/>
          </a:ln>
        </p:spPr>
      </p:sp>
      <p:sp>
        <p:nvSpPr>
          <p:cNvPr id="17" name="Text 15"/>
          <p:cNvSpPr txBox="1"/>
          <p:nvPr/>
        </p:nvSpPr>
        <p:spPr>
          <a:xfrm>
            <a:off x="7050024"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Global pool</a:t>
            </a:r>
            <a:endParaRPr lang="en-US" sz="1600" dirty="0"/>
          </a:p>
        </p:txBody>
      </p:sp>
      <p:sp>
        <p:nvSpPr>
          <p:cNvPr id="18" name="Shape 16"/>
          <p:cNvSpPr/>
          <p:nvPr/>
        </p:nvSpPr>
        <p:spPr>
          <a:xfrm>
            <a:off x="8458200" y="2491740"/>
            <a:ext cx="173736" cy="914"/>
          </a:xfrm>
          <a:prstGeom prst="line">
            <a:avLst/>
          </a:prstGeom>
          <a:noFill/>
          <a:ln w="31750">
            <a:solidFill>
              <a:srgbClr val="0B5A3C"/>
            </a:solidFill>
            <a:prstDash val="solid"/>
            <a:tailEnd type="triangle"/>
          </a:ln>
        </p:spPr>
      </p:sp>
      <p:sp>
        <p:nvSpPr>
          <p:cNvPr id="19" name="Shape 17"/>
          <p:cNvSpPr/>
          <p:nvPr/>
        </p:nvSpPr>
        <p:spPr>
          <a:xfrm>
            <a:off x="8641080" y="2057400"/>
            <a:ext cx="1444752" cy="868680"/>
          </a:xfrm>
          <a:prstGeom prst="roundRect">
            <a:avLst>
              <a:gd name="adj" fmla="val 8421"/>
            </a:avLst>
          </a:prstGeom>
          <a:solidFill>
            <a:srgbClr val="0B5A3C"/>
          </a:solidFill>
          <a:ln w="15875">
            <a:solidFill>
              <a:srgbClr val="0B5A3C"/>
            </a:solidFill>
            <a:prstDash val="solid"/>
          </a:ln>
        </p:spPr>
      </p:sp>
      <p:sp>
        <p:nvSpPr>
          <p:cNvPr id="20" name="Text 18"/>
          <p:cNvSpPr txBox="1"/>
          <p:nvPr/>
        </p:nvSpPr>
        <p:spPr>
          <a:xfrm>
            <a:off x="8686800"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Dense 256</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 dropout 0.5</a:t>
            </a:r>
            <a:endParaRPr lang="en-US" sz="1600" dirty="0"/>
          </a:p>
        </p:txBody>
      </p:sp>
      <p:sp>
        <p:nvSpPr>
          <p:cNvPr id="21" name="Shape 19"/>
          <p:cNvSpPr/>
          <p:nvPr/>
        </p:nvSpPr>
        <p:spPr>
          <a:xfrm>
            <a:off x="10094976" y="2491740"/>
            <a:ext cx="173736" cy="914"/>
          </a:xfrm>
          <a:prstGeom prst="line">
            <a:avLst/>
          </a:prstGeom>
          <a:noFill/>
          <a:ln w="31750">
            <a:solidFill>
              <a:srgbClr val="0B5A3C"/>
            </a:solidFill>
            <a:prstDash val="solid"/>
            <a:tailEnd type="triangle"/>
          </a:ln>
        </p:spPr>
      </p:sp>
      <p:sp>
        <p:nvSpPr>
          <p:cNvPr id="22" name="Shape 20"/>
          <p:cNvSpPr/>
          <p:nvPr/>
        </p:nvSpPr>
        <p:spPr>
          <a:xfrm>
            <a:off x="10277856" y="2057400"/>
            <a:ext cx="1444752" cy="868680"/>
          </a:xfrm>
          <a:prstGeom prst="roundRect">
            <a:avLst>
              <a:gd name="adj" fmla="val 8421"/>
            </a:avLst>
          </a:prstGeom>
          <a:solidFill>
            <a:srgbClr val="C75B1E"/>
          </a:solidFill>
          <a:ln w="15875">
            <a:solidFill>
              <a:srgbClr val="C75B1E"/>
            </a:solidFill>
            <a:prstDash val="solid"/>
          </a:ln>
        </p:spPr>
      </p:sp>
      <p:sp>
        <p:nvSpPr>
          <p:cNvPr id="23" name="Text 21"/>
          <p:cNvSpPr txBox="1"/>
          <p:nvPr/>
        </p:nvSpPr>
        <p:spPr>
          <a:xfrm>
            <a:off x="10323576" y="205740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26 classes</a:t>
            </a:r>
            <a:endParaRPr lang="en-US" sz="1600" dirty="0"/>
          </a:p>
        </p:txBody>
      </p:sp>
      <p:sp>
        <p:nvSpPr>
          <p:cNvPr id="24" name="Text 22"/>
          <p:cNvSpPr txBox="1"/>
          <p:nvPr/>
        </p:nvSpPr>
        <p:spPr>
          <a:xfrm>
            <a:off x="457200" y="2971800"/>
            <a:ext cx="11274552" cy="36576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Conv block = 3×3 convolution → batch norm → ReLU → 2×2 max-pool · 133,178 trainable weights</a:t>
            </a:r>
            <a:endParaRPr lang="en-US" sz="1500" dirty="0"/>
          </a:p>
        </p:txBody>
      </p:sp>
      <p:sp>
        <p:nvSpPr>
          <p:cNvPr id="25" name="Text 23"/>
          <p:cNvSpPr txBox="1"/>
          <p:nvPr/>
        </p:nvSpPr>
        <p:spPr>
          <a:xfrm>
            <a:off x="457200" y="347472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Approaches 2 and 3: ResNet-18, pretrained on ImageNet (1.2 million photos)</a:t>
            </a:r>
            <a:endParaRPr lang="en-US" sz="1900" dirty="0"/>
          </a:p>
        </p:txBody>
      </p:sp>
      <p:sp>
        <p:nvSpPr>
          <p:cNvPr id="26" name="Shape 24"/>
          <p:cNvSpPr/>
          <p:nvPr/>
        </p:nvSpPr>
        <p:spPr>
          <a:xfrm>
            <a:off x="457200" y="3931920"/>
            <a:ext cx="1444752" cy="868680"/>
          </a:xfrm>
          <a:prstGeom prst="roundRect">
            <a:avLst>
              <a:gd name="adj" fmla="val 8421"/>
            </a:avLst>
          </a:prstGeom>
          <a:solidFill>
            <a:srgbClr val="EEF5F1"/>
          </a:solidFill>
          <a:ln w="15875">
            <a:solidFill>
              <a:srgbClr val="EEF5F1"/>
            </a:solidFill>
            <a:prstDash val="solid"/>
          </a:ln>
        </p:spPr>
      </p:sp>
      <p:sp>
        <p:nvSpPr>
          <p:cNvPr id="27" name="Text 25"/>
          <p:cNvSpPr txBox="1"/>
          <p:nvPr/>
        </p:nvSpPr>
        <p:spPr>
          <a:xfrm>
            <a:off x="502920" y="3931920"/>
            <a:ext cx="1353312" cy="86868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28" name="Shape 26"/>
          <p:cNvSpPr/>
          <p:nvPr/>
        </p:nvSpPr>
        <p:spPr>
          <a:xfrm>
            <a:off x="1911096" y="4366260"/>
            <a:ext cx="173736" cy="914"/>
          </a:xfrm>
          <a:prstGeom prst="line">
            <a:avLst/>
          </a:prstGeom>
          <a:noFill/>
          <a:ln w="31750">
            <a:solidFill>
              <a:srgbClr val="0B5A3C"/>
            </a:solidFill>
            <a:prstDash val="solid"/>
            <a:tailEnd type="triangle"/>
          </a:ln>
        </p:spPr>
      </p:sp>
      <p:sp>
        <p:nvSpPr>
          <p:cNvPr id="29" name="Shape 27"/>
          <p:cNvSpPr/>
          <p:nvPr/>
        </p:nvSpPr>
        <p:spPr>
          <a:xfrm>
            <a:off x="2093976" y="3931920"/>
            <a:ext cx="1444752" cy="868680"/>
          </a:xfrm>
          <a:prstGeom prst="roundRect">
            <a:avLst>
              <a:gd name="adj" fmla="val 8421"/>
            </a:avLst>
          </a:prstGeom>
          <a:solidFill>
            <a:srgbClr val="5B7F95"/>
          </a:solidFill>
          <a:ln w="15875">
            <a:solidFill>
              <a:srgbClr val="5B7F95"/>
            </a:solidFill>
            <a:prstDash val="solid"/>
          </a:ln>
        </p:spPr>
      </p:sp>
      <p:sp>
        <p:nvSpPr>
          <p:cNvPr id="30" name="Text 28"/>
          <p:cNvSpPr txBox="1"/>
          <p:nvPr/>
        </p:nvSpPr>
        <p:spPr>
          <a:xfrm>
            <a:off x="2139696"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Stem</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7×7 conv, 64</a:t>
            </a:r>
            <a:endParaRPr lang="en-US" sz="1600" dirty="0"/>
          </a:p>
        </p:txBody>
      </p:sp>
      <p:sp>
        <p:nvSpPr>
          <p:cNvPr id="31" name="Shape 29"/>
          <p:cNvSpPr/>
          <p:nvPr/>
        </p:nvSpPr>
        <p:spPr>
          <a:xfrm>
            <a:off x="3547872" y="4366260"/>
            <a:ext cx="173736" cy="914"/>
          </a:xfrm>
          <a:prstGeom prst="line">
            <a:avLst/>
          </a:prstGeom>
          <a:noFill/>
          <a:ln w="31750">
            <a:solidFill>
              <a:srgbClr val="0B5A3C"/>
            </a:solidFill>
            <a:prstDash val="solid"/>
            <a:tailEnd type="triangle"/>
          </a:ln>
        </p:spPr>
      </p:sp>
      <p:sp>
        <p:nvSpPr>
          <p:cNvPr id="32" name="Shape 30"/>
          <p:cNvSpPr/>
          <p:nvPr/>
        </p:nvSpPr>
        <p:spPr>
          <a:xfrm>
            <a:off x="3730752" y="3931920"/>
            <a:ext cx="1444752" cy="868680"/>
          </a:xfrm>
          <a:prstGeom prst="roundRect">
            <a:avLst>
              <a:gd name="adj" fmla="val 8421"/>
            </a:avLst>
          </a:prstGeom>
          <a:solidFill>
            <a:srgbClr val="5B7F95"/>
          </a:solidFill>
          <a:ln w="15875">
            <a:solidFill>
              <a:srgbClr val="5B7F95"/>
            </a:solidFill>
            <a:prstDash val="solid"/>
          </a:ln>
        </p:spPr>
      </p:sp>
      <p:sp>
        <p:nvSpPr>
          <p:cNvPr id="33" name="Text 31"/>
          <p:cNvSpPr txBox="1"/>
          <p:nvPr/>
        </p:nvSpPr>
        <p:spPr>
          <a:xfrm>
            <a:off x="3776472"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1</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 2 residual blocks</a:t>
            </a:r>
            <a:endParaRPr lang="en-US" sz="1600" dirty="0"/>
          </a:p>
        </p:txBody>
      </p:sp>
      <p:sp>
        <p:nvSpPr>
          <p:cNvPr id="34" name="Shape 32"/>
          <p:cNvSpPr/>
          <p:nvPr/>
        </p:nvSpPr>
        <p:spPr>
          <a:xfrm>
            <a:off x="5184648" y="4366260"/>
            <a:ext cx="173736" cy="914"/>
          </a:xfrm>
          <a:prstGeom prst="line">
            <a:avLst/>
          </a:prstGeom>
          <a:noFill/>
          <a:ln w="31750">
            <a:solidFill>
              <a:srgbClr val="0B5A3C"/>
            </a:solidFill>
            <a:prstDash val="solid"/>
            <a:tailEnd type="triangle"/>
          </a:ln>
        </p:spPr>
      </p:sp>
      <p:sp>
        <p:nvSpPr>
          <p:cNvPr id="35" name="Shape 33"/>
          <p:cNvSpPr/>
          <p:nvPr/>
        </p:nvSpPr>
        <p:spPr>
          <a:xfrm>
            <a:off x="5367528" y="3931920"/>
            <a:ext cx="1444752" cy="868680"/>
          </a:xfrm>
          <a:prstGeom prst="roundRect">
            <a:avLst>
              <a:gd name="adj" fmla="val 8421"/>
            </a:avLst>
          </a:prstGeom>
          <a:solidFill>
            <a:srgbClr val="5B7F95"/>
          </a:solidFill>
          <a:ln w="15875">
            <a:solidFill>
              <a:srgbClr val="5B7F95"/>
            </a:solidFill>
            <a:prstDash val="solid"/>
          </a:ln>
        </p:spPr>
      </p:sp>
      <p:sp>
        <p:nvSpPr>
          <p:cNvPr id="36" name="Text 34"/>
          <p:cNvSpPr txBox="1"/>
          <p:nvPr/>
        </p:nvSpPr>
        <p:spPr>
          <a:xfrm>
            <a:off x="5413248"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2</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 2 blocks</a:t>
            </a:r>
            <a:endParaRPr lang="en-US" sz="1600" dirty="0"/>
          </a:p>
        </p:txBody>
      </p:sp>
      <p:sp>
        <p:nvSpPr>
          <p:cNvPr id="37" name="Shape 35"/>
          <p:cNvSpPr/>
          <p:nvPr/>
        </p:nvSpPr>
        <p:spPr>
          <a:xfrm>
            <a:off x="6821424" y="4366260"/>
            <a:ext cx="173736" cy="914"/>
          </a:xfrm>
          <a:prstGeom prst="line">
            <a:avLst/>
          </a:prstGeom>
          <a:noFill/>
          <a:ln w="31750">
            <a:solidFill>
              <a:srgbClr val="0B5A3C"/>
            </a:solidFill>
            <a:prstDash val="solid"/>
            <a:tailEnd type="triangle"/>
          </a:ln>
        </p:spPr>
      </p:sp>
      <p:sp>
        <p:nvSpPr>
          <p:cNvPr id="38" name="Shape 36"/>
          <p:cNvSpPr/>
          <p:nvPr/>
        </p:nvSpPr>
        <p:spPr>
          <a:xfrm>
            <a:off x="7004304" y="3931920"/>
            <a:ext cx="1444752" cy="868680"/>
          </a:xfrm>
          <a:prstGeom prst="roundRect">
            <a:avLst>
              <a:gd name="adj" fmla="val 8421"/>
            </a:avLst>
          </a:prstGeom>
          <a:solidFill>
            <a:srgbClr val="5B7F95"/>
          </a:solidFill>
          <a:ln w="15875">
            <a:solidFill>
              <a:srgbClr val="5B7F95"/>
            </a:solidFill>
            <a:prstDash val="solid"/>
          </a:ln>
        </p:spPr>
      </p:sp>
      <p:sp>
        <p:nvSpPr>
          <p:cNvPr id="39" name="Text 37"/>
          <p:cNvSpPr txBox="1"/>
          <p:nvPr/>
        </p:nvSpPr>
        <p:spPr>
          <a:xfrm>
            <a:off x="7050024"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3</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256 · 2 blocks</a:t>
            </a:r>
            <a:endParaRPr lang="en-US" sz="1600" dirty="0"/>
          </a:p>
        </p:txBody>
      </p:sp>
      <p:sp>
        <p:nvSpPr>
          <p:cNvPr id="40" name="Shape 38"/>
          <p:cNvSpPr/>
          <p:nvPr/>
        </p:nvSpPr>
        <p:spPr>
          <a:xfrm>
            <a:off x="8458200" y="4366260"/>
            <a:ext cx="173736" cy="914"/>
          </a:xfrm>
          <a:prstGeom prst="line">
            <a:avLst/>
          </a:prstGeom>
          <a:noFill/>
          <a:ln w="31750">
            <a:solidFill>
              <a:srgbClr val="0B5A3C"/>
            </a:solidFill>
            <a:prstDash val="solid"/>
            <a:tailEnd type="triangle"/>
          </a:ln>
        </p:spPr>
      </p:sp>
      <p:sp>
        <p:nvSpPr>
          <p:cNvPr id="41" name="Shape 39"/>
          <p:cNvSpPr/>
          <p:nvPr/>
        </p:nvSpPr>
        <p:spPr>
          <a:xfrm>
            <a:off x="8641080" y="3931920"/>
            <a:ext cx="1444752" cy="868680"/>
          </a:xfrm>
          <a:prstGeom prst="roundRect">
            <a:avLst>
              <a:gd name="adj" fmla="val 8421"/>
            </a:avLst>
          </a:prstGeom>
          <a:solidFill>
            <a:srgbClr val="5B7F95"/>
          </a:solidFill>
          <a:ln w="15875">
            <a:solidFill>
              <a:srgbClr val="5B7F95"/>
            </a:solidFill>
            <a:prstDash val="solid"/>
          </a:ln>
        </p:spPr>
      </p:sp>
      <p:sp>
        <p:nvSpPr>
          <p:cNvPr id="42" name="Text 40"/>
          <p:cNvSpPr txBox="1"/>
          <p:nvPr/>
        </p:nvSpPr>
        <p:spPr>
          <a:xfrm>
            <a:off x="8686800"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4</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 blocks</a:t>
            </a:r>
            <a:endParaRPr lang="en-US" sz="1600" dirty="0"/>
          </a:p>
        </p:txBody>
      </p:sp>
      <p:sp>
        <p:nvSpPr>
          <p:cNvPr id="43" name="Shape 41"/>
          <p:cNvSpPr/>
          <p:nvPr/>
        </p:nvSpPr>
        <p:spPr>
          <a:xfrm>
            <a:off x="10094976" y="4366260"/>
            <a:ext cx="173736" cy="914"/>
          </a:xfrm>
          <a:prstGeom prst="line">
            <a:avLst/>
          </a:prstGeom>
          <a:noFill/>
          <a:ln w="31750">
            <a:solidFill>
              <a:srgbClr val="0B5A3C"/>
            </a:solidFill>
            <a:prstDash val="solid"/>
            <a:tailEnd type="triangle"/>
          </a:ln>
        </p:spPr>
      </p:sp>
      <p:sp>
        <p:nvSpPr>
          <p:cNvPr id="44" name="Shape 42"/>
          <p:cNvSpPr/>
          <p:nvPr/>
        </p:nvSpPr>
        <p:spPr>
          <a:xfrm>
            <a:off x="10277856" y="3931920"/>
            <a:ext cx="1444752" cy="868680"/>
          </a:xfrm>
          <a:prstGeom prst="roundRect">
            <a:avLst>
              <a:gd name="adj" fmla="val 8421"/>
            </a:avLst>
          </a:prstGeom>
          <a:solidFill>
            <a:srgbClr val="C75B1E"/>
          </a:solidFill>
          <a:ln w="15875">
            <a:solidFill>
              <a:srgbClr val="C75B1E"/>
            </a:solidFill>
            <a:prstDash val="solid"/>
          </a:ln>
        </p:spPr>
      </p:sp>
      <p:sp>
        <p:nvSpPr>
          <p:cNvPr id="45" name="Text 43"/>
          <p:cNvSpPr txBox="1"/>
          <p:nvPr/>
        </p:nvSpPr>
        <p:spPr>
          <a:xfrm>
            <a:off x="10323576" y="3931920"/>
            <a:ext cx="1353312"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New 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26</a:t>
            </a:r>
            <a:endParaRPr lang="en-US" sz="1600" dirty="0"/>
          </a:p>
        </p:txBody>
      </p:sp>
      <p:sp>
        <p:nvSpPr>
          <p:cNvPr id="46" name="Shape 44"/>
          <p:cNvSpPr/>
          <p:nvPr/>
        </p:nvSpPr>
        <p:spPr>
          <a:xfrm>
            <a:off x="457200" y="5029200"/>
            <a:ext cx="5532120" cy="1298448"/>
          </a:xfrm>
          <a:prstGeom prst="roundRect">
            <a:avLst>
              <a:gd name="adj" fmla="val 5634"/>
            </a:avLst>
          </a:prstGeom>
          <a:solidFill>
            <a:srgbClr val="EEF5F1"/>
          </a:solidFill>
          <a:ln w="9525">
            <a:solidFill>
              <a:srgbClr val="EEF5F1"/>
            </a:solidFill>
            <a:prstDash val="solid"/>
          </a:ln>
        </p:spPr>
      </p:sp>
      <p:sp>
        <p:nvSpPr>
          <p:cNvPr id="47" name="Text 45"/>
          <p:cNvSpPr txBox="1"/>
          <p:nvPr/>
        </p:nvSpPr>
        <p:spPr>
          <a:xfrm>
            <a:off x="594360" y="5029200"/>
            <a:ext cx="5303520" cy="1298448"/>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Approach 2, frozen: </a:t>
            </a:r>
            <a:pPr indent="0" marL="0">
              <a:buNone/>
            </a:pPr>
            <a:r>
              <a:rPr lang="en-US" sz="1600" dirty="0">
                <a:solidFill>
                  <a:srgbClr val="111111"/>
                </a:solidFill>
                <a:latin typeface="Arial" pitchFamily="34" charset="0"/>
                <a:ea typeface="Arial" pitchFamily="34" charset="-122"/>
                <a:cs typeface="Arial" pitchFamily="34" charset="-120"/>
              </a:rPr>
              <a:t>blue-grey layers keep their ImageNet weights; only the orange output layer learns (13,338 weights).</a:t>
            </a:r>
            <a:endParaRPr lang="en-US" sz="1600" dirty="0"/>
          </a:p>
        </p:txBody>
      </p:sp>
      <p:sp>
        <p:nvSpPr>
          <p:cNvPr id="48" name="Shape 46"/>
          <p:cNvSpPr/>
          <p:nvPr/>
        </p:nvSpPr>
        <p:spPr>
          <a:xfrm>
            <a:off x="6199632" y="5029200"/>
            <a:ext cx="5532120" cy="1298448"/>
          </a:xfrm>
          <a:prstGeom prst="roundRect">
            <a:avLst>
              <a:gd name="adj" fmla="val 5634"/>
            </a:avLst>
          </a:prstGeom>
          <a:solidFill>
            <a:srgbClr val="FBEDE5"/>
          </a:solidFill>
          <a:ln w="9525">
            <a:solidFill>
              <a:srgbClr val="FBEDE5"/>
            </a:solidFill>
            <a:prstDash val="solid"/>
          </a:ln>
        </p:spPr>
      </p:sp>
      <p:sp>
        <p:nvSpPr>
          <p:cNvPr id="49" name="Text 47"/>
          <p:cNvSpPr txBox="1"/>
          <p:nvPr/>
        </p:nvSpPr>
        <p:spPr>
          <a:xfrm>
            <a:off x="6336792" y="5029200"/>
            <a:ext cx="5303520" cy="1298448"/>
          </a:xfrm>
          <a:prstGeom prst="rect">
            <a:avLst/>
          </a:prstGeom>
          <a:noFill/>
          <a:ln/>
        </p:spPr>
        <p:txBody>
          <a:bodyPr wrap="square" lIns="0" tIns="0" rIns="0" bIns="0" rtlCol="0" anchor="ctr"/>
          <a:lstStyle/>
          <a:p>
            <a:pPr indent="0" marL="0">
              <a:buNone/>
            </a:pPr>
            <a:r>
              <a:rPr lang="en-US" sz="1600" b="1" dirty="0">
                <a:solidFill>
                  <a:srgbClr val="C75B1E"/>
                </a:solidFill>
                <a:latin typeface="Arial" pitchFamily="34" charset="0"/>
                <a:ea typeface="Arial" pitchFamily="34" charset="-122"/>
                <a:cs typeface="Arial" pitchFamily="34" charset="-120"/>
              </a:rPr>
              <a:t>Approach 3, fine-tuned (final): </a:t>
            </a:r>
            <a:pPr indent="0" marL="0">
              <a:buNone/>
            </a:pPr>
            <a:r>
              <a:rPr lang="en-US" sz="1600" dirty="0">
                <a:solidFill>
                  <a:srgbClr val="111111"/>
                </a:solidFill>
                <a:latin typeface="Arial" pitchFamily="34" charset="0"/>
                <a:ea typeface="Arial" pitchFamily="34" charset="-122"/>
                <a:cs typeface="Arial" pitchFamily="34" charset="-120"/>
              </a:rPr>
              <a:t>every layer keeps learning on our signs (11,189,850 weights).</a:t>
            </a:r>
            <a:endParaRPr lang="en-US" sz="16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Training Approach and Test Results</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Original split: same 463 test crops for every approach, each model tested once</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2697480"/>
                <a:gridCol w="1463040"/>
                <a:gridCol w="1691640"/>
                <a:gridCol w="1600200"/>
                <a:gridCol w="1234440"/>
                <a:gridCol w="1353312"/>
                <a:gridCol w="1234440"/>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Approach</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Starts from</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What is trained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Trainable weights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Training time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Test accuracy</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Macro F1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 SmallCNN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random weights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everything</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133,178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8.1 min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70.19%</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50.78%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2. ResNet-18 frozen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output layer only</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13,338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92.44%</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88.37%</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ResNet-18 fine-tuned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4.0 min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96.80%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Fine-tuned + tuned ★ FINAL</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98.70%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98.47%</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bl>
          </a:graphicData>
        </a:graphic>
      </p:graphicFrame>
      <p:sp>
        <p:nvSpPr>
          <p:cNvPr id="5" name="Text 2"/>
          <p:cNvSpPr txBox="1"/>
          <p:nvPr/>
        </p:nvSpPr>
        <p:spPr>
          <a:xfrm>
            <a:off x="457200" y="5074920"/>
            <a:ext cx="11274552" cy="1325880"/>
          </a:xfrm>
          <a:prstGeom prst="rect">
            <a:avLst/>
          </a:prstGeom>
          <a:noFill/>
          <a:ln/>
        </p:spPr>
        <p:txBody>
          <a:bodyPr wrap="square" lIns="635" tIns="635" rIns="635" bIns="635" rtlCol="0" anchor="t"/>
          <a:lstStyle/>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Same for every approach: Adam optimiser, batch 32, up to 40 epochs, stop early when validation stops improving, keep the best-validation checkpoint</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Final settings (learning rate 0.001, weight decay 0.001) were chosen on validation data only (details in backup)</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Macro F1 averages all 26 classes equally, so it shows the rare classes</a:t>
            </a:r>
            <a:endParaRPr lang="en-US" sz="15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Training vs. Validation Loss</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Real curves from the saved training history (lower = better)</a:t>
            </a:r>
            <a:endParaRPr lang="en-US" sz="1800" dirty="0"/>
          </a:p>
        </p:txBody>
      </p:sp>
      <p:pic>
        <p:nvPicPr>
          <p:cNvPr id="4" name="Image 0" descr="C:/Users/ASUSG1~1/AppData/Local/Temp/claude/C--Users-ASUS-G-16-JVR-Desktop-deepLearning-CNN/ddb4b7a1-b5ad-4432-b312-271443ec143d/scratchpad/deck_v3/assets/loss_curves.png">    </p:cNvPr>
          <p:cNvPicPr>
            <a:picLocks noChangeAspect="1"/>
          </p:cNvPicPr>
          <p:nvPr/>
        </p:nvPicPr>
        <p:blipFill>
          <a:blip r:embed="rId1"/>
          <a:stretch>
            <a:fillRect/>
          </a:stretch>
        </p:blipFill>
        <p:spPr>
          <a:xfrm>
            <a:off x="365760" y="2003323"/>
            <a:ext cx="11457432" cy="3079955"/>
          </a:xfrm>
          <a:prstGeom prst="rect">
            <a:avLst/>
          </a:prstGeom>
        </p:spPr>
      </p:pic>
      <p:sp>
        <p:nvSpPr>
          <p:cNvPr id="5" name="Text 2"/>
          <p:cNvSpPr txBox="1"/>
          <p:nvPr/>
        </p:nvSpPr>
        <p:spPr>
          <a:xfrm>
            <a:off x="457200" y="52120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Underfitting</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Both losses still high at epoch 40: a small network trained from scratch learns too little.</a:t>
            </a:r>
            <a:endParaRPr lang="en-US" sz="1900" dirty="0"/>
          </a:p>
        </p:txBody>
      </p:sp>
      <p:sp>
        <p:nvSpPr>
          <p:cNvPr id="6" name="Text 3"/>
          <p:cNvSpPr txBox="1"/>
          <p:nvPr/>
        </p:nvSpPr>
        <p:spPr>
          <a:xfrm>
            <a:off x="4279392" y="52120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Good fit</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Training and validation loss stay close; only the last layer can learn.</a:t>
            </a:r>
            <a:endParaRPr lang="en-US" sz="1900" dirty="0"/>
          </a:p>
        </p:txBody>
      </p:sp>
      <p:sp>
        <p:nvSpPr>
          <p:cNvPr id="7" name="Text 4"/>
          <p:cNvSpPr txBox="1"/>
          <p:nvPr/>
        </p:nvSpPr>
        <p:spPr>
          <a:xfrm>
            <a:off x="8101584" y="5212080"/>
            <a:ext cx="3611880" cy="1188720"/>
          </a:xfrm>
          <a:prstGeom prst="rect">
            <a:avLst/>
          </a:prstGeom>
          <a:noFill/>
          <a:ln/>
        </p:spPr>
        <p:txBody>
          <a:bodyPr wrap="square" lIns="0" tIns="0" rIns="0" bIns="0" rtlCol="0" anchor="t"/>
          <a:lstStyle/>
          <a:p>
            <a:pPr indent="0" marL="0">
              <a:buNone/>
            </a:pPr>
            <a:r>
              <a:rPr lang="en-US" sz="1900" b="1" dirty="0">
                <a:solidFill>
                  <a:srgbClr val="C75B1E"/>
                </a:solidFill>
                <a:latin typeface="Arial" pitchFamily="34" charset="0"/>
                <a:ea typeface="Arial" pitchFamily="34" charset="-122"/>
                <a:cs typeface="Arial" pitchFamily="34" charset="-120"/>
              </a:rPr>
              <a:t>Very low loss</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Validation is noisy early; the best checkpoint (epoch 14) is kept.</a:t>
            </a:r>
            <a:endParaRPr lang="en-US" sz="19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Confusion Matrix (Final Model)</a:t>
            </a:r>
            <a:endParaRPr lang="en-US" sz="3200" dirty="0"/>
          </a:p>
        </p:txBody>
      </p:sp>
      <p:pic>
        <p:nvPicPr>
          <p:cNvPr id="3" name="Image 0" descr="C:/Users/ASUSG1~1/AppData/Local/Temp/claude/C--Users-ASUS-G-16-JVR-Desktop-deepLearning-CNN/ddb4b7a1-b5ad-4432-b312-271443ec143d/scratchpad/deck_v3/assets/cm_final_pictures.png">    </p:cNvPr>
          <p:cNvPicPr>
            <a:picLocks noChangeAspect="1"/>
          </p:cNvPicPr>
          <p:nvPr/>
        </p:nvPicPr>
        <p:blipFill>
          <a:blip r:embed="rId1"/>
          <a:stretch>
            <a:fillRect/>
          </a:stretch>
        </p:blipFill>
        <p:spPr>
          <a:xfrm>
            <a:off x="274320" y="1517904"/>
            <a:ext cx="6414218" cy="4882896"/>
          </a:xfrm>
          <a:prstGeom prst="rect">
            <a:avLst/>
          </a:prstGeom>
        </p:spPr>
      </p:pic>
      <p:sp>
        <p:nvSpPr>
          <p:cNvPr id="4" name="Text 1"/>
          <p:cNvSpPr txBox="1"/>
          <p:nvPr/>
        </p:nvSpPr>
        <p:spPr>
          <a:xfrm>
            <a:off x="7223760" y="1691640"/>
            <a:ext cx="4507992" cy="658368"/>
          </a:xfrm>
          <a:prstGeom prst="rect">
            <a:avLst/>
          </a:prstGeom>
          <a:noFill/>
          <a:ln/>
        </p:spPr>
        <p:txBody>
          <a:bodyPr wrap="square" lIns="0" tIns="0" rIns="0" bIns="0" rtlCol="0" anchor="b"/>
          <a:lstStyle/>
          <a:p>
            <a:pPr algn="ctr" indent="0" marL="0">
              <a:buNone/>
            </a:pPr>
            <a:r>
              <a:rPr lang="en-US" sz="4000" b="1" dirty="0">
                <a:solidFill>
                  <a:srgbClr val="C75B1E"/>
                </a:solidFill>
                <a:latin typeface="Arial" pitchFamily="34" charset="0"/>
                <a:ea typeface="Arial" pitchFamily="34" charset="-122"/>
                <a:cs typeface="Arial" pitchFamily="34" charset="-120"/>
              </a:rPr>
              <a:t>457 / 463</a:t>
            </a:r>
            <a:endParaRPr lang="en-US" sz="4000" dirty="0"/>
          </a:p>
        </p:txBody>
      </p:sp>
      <p:sp>
        <p:nvSpPr>
          <p:cNvPr id="5" name="Text 2"/>
          <p:cNvSpPr txBox="1"/>
          <p:nvPr/>
        </p:nvSpPr>
        <p:spPr>
          <a:xfrm>
            <a:off x="7223760" y="2368296"/>
            <a:ext cx="4507992" cy="566928"/>
          </a:xfrm>
          <a:prstGeom prst="rect">
            <a:avLst/>
          </a:prstGeom>
          <a:noFill/>
          <a:ln/>
        </p:spPr>
        <p:txBody>
          <a:bodyPr wrap="square" lIns="0" tIns="0" rIns="0" bIns="0" rtlCol="0" anchor="t"/>
          <a:lstStyle/>
          <a:p>
            <a:pPr algn="ctr" indent="0" marL="0">
              <a:buNone/>
            </a:pPr>
            <a:r>
              <a:rPr lang="en-US" sz="1800" dirty="0">
                <a:solidFill>
                  <a:srgbClr val="4A4A4A"/>
                </a:solidFill>
                <a:latin typeface="Arial" pitchFamily="34" charset="0"/>
                <a:ea typeface="Arial" pitchFamily="34" charset="-122"/>
                <a:cs typeface="Arial" pitchFamily="34" charset="-120"/>
              </a:rPr>
              <a:t>test images correct</a:t>
            </a:r>
            <a:endParaRPr lang="en-US" sz="1800" dirty="0"/>
          </a:p>
        </p:txBody>
      </p:sp>
      <p:sp>
        <p:nvSpPr>
          <p:cNvPr id="6" name="Shape 3"/>
          <p:cNvSpPr/>
          <p:nvPr/>
        </p:nvSpPr>
        <p:spPr>
          <a:xfrm>
            <a:off x="7360920" y="3154680"/>
            <a:ext cx="4370832" cy="3154680"/>
          </a:xfrm>
          <a:prstGeom prst="roundRect">
            <a:avLst>
              <a:gd name="adj" fmla="val 2319"/>
            </a:avLst>
          </a:prstGeom>
          <a:solidFill>
            <a:srgbClr val="EEF5F1"/>
          </a:solidFill>
          <a:ln w="9525">
            <a:solidFill>
              <a:srgbClr val="EEF5F1"/>
            </a:solidFill>
            <a:prstDash val="solid"/>
          </a:ln>
        </p:spPr>
      </p:sp>
      <p:sp>
        <p:nvSpPr>
          <p:cNvPr id="7" name="Text 4"/>
          <p:cNvSpPr txBox="1"/>
          <p:nvPr/>
        </p:nvSpPr>
        <p:spPr>
          <a:xfrm>
            <a:off x="7498080" y="3291840"/>
            <a:ext cx="4160520" cy="2971800"/>
          </a:xfrm>
          <a:prstGeom prst="rect">
            <a:avLst/>
          </a:prstGeom>
          <a:noFill/>
          <a:ln/>
        </p:spPr>
        <p:txBody>
          <a:bodyPr wrap="square" lIns="635" tIns="635" rIns="635" bIns="635" rtlCol="0" anchor="t"/>
          <a:lstStyle/>
          <a:p>
            <a:pPr marL="279400" indent="-279400">
              <a:spcAft>
                <a:spcPts val="1000"/>
              </a:spcAft>
              <a:buSzPct val="100000"/>
              <a:buChar char="•"/>
            </a:pPr>
            <a:r>
              <a:rPr lang="en-US" sz="1800" b="1" dirty="0">
                <a:solidFill>
                  <a:srgbClr val="111111"/>
                </a:solidFill>
                <a:latin typeface="Arial" pitchFamily="34" charset="0"/>
                <a:ea typeface="Arial" pitchFamily="34" charset="-122"/>
                <a:cs typeface="Arial" pitchFamily="34" charset="-120"/>
              </a:rPr>
              <a:t>Rows: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true sign. </a:t>
            </a:r>
            <a:pPr indent="0" marL="0">
              <a:spcAft>
                <a:spcPts val="1000"/>
              </a:spcAft>
              <a:buNone/>
            </a:pPr>
            <a:r>
              <a:rPr lang="en-US" sz="1800" b="1" dirty="0">
                <a:solidFill>
                  <a:srgbClr val="111111"/>
                </a:solidFill>
                <a:latin typeface="Arial" pitchFamily="34" charset="0"/>
                <a:ea typeface="Arial" pitchFamily="34" charset="-122"/>
                <a:cs typeface="Arial" pitchFamily="34" charset="-120"/>
              </a:rPr>
              <a:t>Columns: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predicted sign</a:t>
            </a:r>
            <a:endParaRPr lang="en-US" sz="1800" dirty="0"/>
          </a:p>
          <a:p>
            <a:pPr marL="279400" indent="-279400">
              <a:spcAft>
                <a:spcPts val="1000"/>
              </a:spcAft>
              <a:buSzPct val="100000"/>
              <a:buChar char="•"/>
            </a:pPr>
            <a:r>
              <a:rPr lang="en-US" sz="1800" b="1" dirty="0">
                <a:solidFill>
                  <a:srgbClr val="0B5A3C"/>
                </a:solidFill>
                <a:latin typeface="Arial" pitchFamily="34" charset="0"/>
                <a:ea typeface="Arial" pitchFamily="34" charset="-122"/>
                <a:cs typeface="Arial" pitchFamily="34" charset="-120"/>
              </a:rPr>
              <a:t>Green diagonal: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correct</a:t>
            </a:r>
            <a:endParaRPr lang="en-US" sz="1800" dirty="0"/>
          </a:p>
          <a:p>
            <a:pPr marL="279400" indent="-279400">
              <a:spcAft>
                <a:spcPts val="1000"/>
              </a:spcAft>
              <a:buSzPct val="100000"/>
              <a:buChar char="•"/>
            </a:pPr>
            <a:r>
              <a:rPr lang="en-US" sz="1800" b="1" dirty="0">
                <a:solidFill>
                  <a:srgbClr val="C44E52"/>
                </a:solidFill>
                <a:latin typeface="Arial" pitchFamily="34" charset="0"/>
                <a:ea typeface="Arial" pitchFamily="34" charset="-122"/>
                <a:cs typeface="Arial" pitchFamily="34" charset="-120"/>
              </a:rPr>
              <a:t>Red cells: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the 6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No mistake happens twice; 16 of 26 classes are perfect</a:t>
            </a:r>
            <a:endParaRPr lang="en-US" sz="18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The 6 Mistakes, with Real Images</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True label vs. what the final model predicted</a:t>
            </a:r>
            <a:endParaRPr lang="en-US" sz="1800" dirty="0"/>
          </a:p>
        </p:txBody>
      </p:sp>
      <p:sp>
        <p:nvSpPr>
          <p:cNvPr id="4" name="Shape 2"/>
          <p:cNvSpPr/>
          <p:nvPr/>
        </p:nvSpPr>
        <p:spPr>
          <a:xfrm>
            <a:off x="457200" y="1965960"/>
            <a:ext cx="3611880" cy="1901952"/>
          </a:xfrm>
          <a:prstGeom prst="roundRect">
            <a:avLst>
              <a:gd name="adj" fmla="val 3846"/>
            </a:avLst>
          </a:prstGeom>
          <a:solidFill>
            <a:srgbClr val="F1EEF8"/>
          </a:solidFill>
          <a:ln w="9525">
            <a:solidFill>
              <a:srgbClr val="F1EEF8"/>
            </a:solidFill>
            <a:prstDash val="solid"/>
          </a:ln>
        </p:spPr>
      </p:sp>
      <p:pic>
        <p:nvPicPr>
          <p:cNvPr id="5" name="Image 0" descr="C:/Users/ASUSG1~1/AppData/Local/Temp/claude/C--Users-ASUS-G-16-JVR-Desktop-deepLearning-CNN/ddb4b7a1-b5ad-4432-b312-271443ec143d/scratchpad/deck_v3/assets/error_1.png">    </p:cNvPr>
          <p:cNvPicPr>
            <a:picLocks noChangeAspect="1"/>
          </p:cNvPicPr>
          <p:nvPr/>
        </p:nvPicPr>
        <p:blipFill>
          <a:blip r:embed="rId1"/>
          <a:stretch>
            <a:fillRect/>
          </a:stretch>
        </p:blipFill>
        <p:spPr>
          <a:xfrm>
            <a:off x="566928" y="2057400"/>
            <a:ext cx="1371600" cy="1371600"/>
          </a:xfrm>
          <a:prstGeom prst="rect">
            <a:avLst/>
          </a:prstGeom>
        </p:spPr>
      </p:pic>
      <p:sp>
        <p:nvSpPr>
          <p:cNvPr id="6" name="Text 3"/>
          <p:cNvSpPr txBox="1"/>
          <p:nvPr/>
        </p:nvSpPr>
        <p:spPr>
          <a:xfrm>
            <a:off x="2057400" y="203911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Left Bend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Right Bend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7" name="Text 4"/>
          <p:cNvSpPr txBox="1"/>
          <p:nvPr/>
        </p:nvSpPr>
        <p:spPr>
          <a:xfrm>
            <a:off x="566928" y="3474720"/>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8" name="Shape 5"/>
          <p:cNvSpPr/>
          <p:nvPr/>
        </p:nvSpPr>
        <p:spPr>
          <a:xfrm>
            <a:off x="4279392" y="1965960"/>
            <a:ext cx="3611880" cy="1901952"/>
          </a:xfrm>
          <a:prstGeom prst="roundRect">
            <a:avLst>
              <a:gd name="adj" fmla="val 3846"/>
            </a:avLst>
          </a:prstGeom>
          <a:solidFill>
            <a:srgbClr val="F1EEF8"/>
          </a:solidFill>
          <a:ln w="9525">
            <a:solidFill>
              <a:srgbClr val="F1EEF8"/>
            </a:solidFill>
            <a:prstDash val="solid"/>
          </a:ln>
        </p:spPr>
      </p:sp>
      <p:pic>
        <p:nvPicPr>
          <p:cNvPr id="9" name="Image 1" descr="C:/Users/ASUSG1~1/AppData/Local/Temp/claude/C--Users-ASUS-G-16-JVR-Desktop-deepLearning-CNN/ddb4b7a1-b5ad-4432-b312-271443ec143d/scratchpad/deck_v3/assets/error_2.png">    </p:cNvPr>
          <p:cNvPicPr>
            <a:picLocks noChangeAspect="1"/>
          </p:cNvPicPr>
          <p:nvPr/>
        </p:nvPicPr>
        <p:blipFill>
          <a:blip r:embed="rId2"/>
          <a:stretch>
            <a:fillRect/>
          </a:stretch>
        </p:blipFill>
        <p:spPr>
          <a:xfrm>
            <a:off x="4389120" y="2057400"/>
            <a:ext cx="1371600" cy="1371600"/>
          </a:xfrm>
          <a:prstGeom prst="rect">
            <a:avLst/>
          </a:prstGeom>
        </p:spPr>
      </p:pic>
      <p:sp>
        <p:nvSpPr>
          <p:cNvPr id="10" name="Text 6"/>
          <p:cNvSpPr txBox="1"/>
          <p:nvPr/>
        </p:nvSpPr>
        <p:spPr>
          <a:xfrm>
            <a:off x="5879592" y="203911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Keep Right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11" name="Text 7"/>
          <p:cNvSpPr txBox="1"/>
          <p:nvPr/>
        </p:nvSpPr>
        <p:spPr>
          <a:xfrm>
            <a:off x="4389120" y="3474720"/>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2" name="Shape 8"/>
          <p:cNvSpPr/>
          <p:nvPr/>
        </p:nvSpPr>
        <p:spPr>
          <a:xfrm>
            <a:off x="8101584" y="1965960"/>
            <a:ext cx="3611880" cy="1901952"/>
          </a:xfrm>
          <a:prstGeom prst="roundRect">
            <a:avLst>
              <a:gd name="adj" fmla="val 3846"/>
            </a:avLst>
          </a:prstGeom>
          <a:solidFill>
            <a:srgbClr val="F1EEF8"/>
          </a:solidFill>
          <a:ln w="9525">
            <a:solidFill>
              <a:srgbClr val="F1EEF8"/>
            </a:solidFill>
            <a:prstDash val="solid"/>
          </a:ln>
        </p:spPr>
      </p:sp>
      <p:pic>
        <p:nvPicPr>
          <p:cNvPr id="13" name="Image 2" descr="C:/Users/ASUSG1~1/AppData/Local/Temp/claude/C--Users-ASUS-G-16-JVR-Desktop-deepLearning-CNN/ddb4b7a1-b5ad-4432-b312-271443ec143d/scratchpad/deck_v3/assets/error_3.png">    </p:cNvPr>
          <p:cNvPicPr>
            <a:picLocks noChangeAspect="1"/>
          </p:cNvPicPr>
          <p:nvPr/>
        </p:nvPicPr>
        <p:blipFill>
          <a:blip r:embed="rId3"/>
          <a:stretch>
            <a:fillRect/>
          </a:stretch>
        </p:blipFill>
        <p:spPr>
          <a:xfrm>
            <a:off x="8211312" y="2057400"/>
            <a:ext cx="1371600" cy="1371600"/>
          </a:xfrm>
          <a:prstGeom prst="rect">
            <a:avLst/>
          </a:prstGeom>
        </p:spPr>
      </p:pic>
      <p:sp>
        <p:nvSpPr>
          <p:cNvPr id="14" name="Text 9"/>
          <p:cNvSpPr txBox="1"/>
          <p:nvPr/>
        </p:nvSpPr>
        <p:spPr>
          <a:xfrm>
            <a:off x="9701784" y="203911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Pedestrian Crossing</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Children Crossing</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96%</a:t>
            </a:r>
            <a:endParaRPr lang="en-US" sz="1500" dirty="0"/>
          </a:p>
        </p:txBody>
      </p:sp>
      <p:sp>
        <p:nvSpPr>
          <p:cNvPr id="15" name="Text 10"/>
          <p:cNvSpPr txBox="1"/>
          <p:nvPr/>
        </p:nvSpPr>
        <p:spPr>
          <a:xfrm>
            <a:off x="8211312" y="3474720"/>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6" name="Shape 11"/>
          <p:cNvSpPr/>
          <p:nvPr/>
        </p:nvSpPr>
        <p:spPr>
          <a:xfrm>
            <a:off x="457200" y="3977640"/>
            <a:ext cx="3611880" cy="1901952"/>
          </a:xfrm>
          <a:prstGeom prst="roundRect">
            <a:avLst>
              <a:gd name="adj" fmla="val 3846"/>
            </a:avLst>
          </a:prstGeom>
          <a:solidFill>
            <a:srgbClr val="FBE9EA"/>
          </a:solidFill>
          <a:ln w="9525">
            <a:solidFill>
              <a:srgbClr val="FBE9EA"/>
            </a:solidFill>
            <a:prstDash val="solid"/>
          </a:ln>
        </p:spPr>
      </p:sp>
      <p:pic>
        <p:nvPicPr>
          <p:cNvPr id="17" name="Image 3" descr="C:/Users/ASUSG1~1/AppData/Local/Temp/claude/C--Users-ASUS-G-16-JVR-Desktop-deepLearning-CNN/ddb4b7a1-b5ad-4432-b312-271443ec143d/scratchpad/deck_v3/assets/error_4.png">    </p:cNvPr>
          <p:cNvPicPr>
            <a:picLocks noChangeAspect="1"/>
          </p:cNvPicPr>
          <p:nvPr/>
        </p:nvPicPr>
        <p:blipFill>
          <a:blip r:embed="rId4"/>
          <a:stretch>
            <a:fillRect/>
          </a:stretch>
        </p:blipFill>
        <p:spPr>
          <a:xfrm>
            <a:off x="566928" y="4069080"/>
            <a:ext cx="1371600" cy="1371600"/>
          </a:xfrm>
          <a:prstGeom prst="rect">
            <a:avLst/>
          </a:prstGeom>
        </p:spPr>
      </p:pic>
      <p:sp>
        <p:nvSpPr>
          <p:cNvPr id="18" name="Text 12"/>
          <p:cNvSpPr txBox="1"/>
          <p:nvPr/>
        </p:nvSpPr>
        <p:spPr>
          <a:xfrm>
            <a:off x="2057400" y="405079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Cross Road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84%</a:t>
            </a:r>
            <a:endParaRPr lang="en-US" sz="1500" dirty="0"/>
          </a:p>
        </p:txBody>
      </p:sp>
      <p:sp>
        <p:nvSpPr>
          <p:cNvPr id="19" name="Text 13"/>
          <p:cNvSpPr txBox="1"/>
          <p:nvPr/>
        </p:nvSpPr>
        <p:spPr>
          <a:xfrm>
            <a:off x="566928" y="5486400"/>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0" name="Shape 14"/>
          <p:cNvSpPr/>
          <p:nvPr/>
        </p:nvSpPr>
        <p:spPr>
          <a:xfrm>
            <a:off x="4279392" y="3977640"/>
            <a:ext cx="3611880" cy="1901952"/>
          </a:xfrm>
          <a:prstGeom prst="roundRect">
            <a:avLst>
              <a:gd name="adj" fmla="val 3846"/>
            </a:avLst>
          </a:prstGeom>
          <a:solidFill>
            <a:srgbClr val="FBE9EA"/>
          </a:solidFill>
          <a:ln w="9525">
            <a:solidFill>
              <a:srgbClr val="FBE9EA"/>
            </a:solidFill>
            <a:prstDash val="solid"/>
          </a:ln>
        </p:spPr>
      </p:sp>
      <p:pic>
        <p:nvPicPr>
          <p:cNvPr id="21" name="Image 4" descr="C:/Users/ASUSG1~1/AppData/Local/Temp/claude/C--Users-ASUS-G-16-JVR-Desktop-deepLearning-CNN/ddb4b7a1-b5ad-4432-b312-271443ec143d/scratchpad/deck_v3/assets/error_5.png">    </p:cNvPr>
          <p:cNvPicPr>
            <a:picLocks noChangeAspect="1"/>
          </p:cNvPicPr>
          <p:nvPr/>
        </p:nvPicPr>
        <p:blipFill>
          <a:blip r:embed="rId5"/>
          <a:stretch>
            <a:fillRect/>
          </a:stretch>
        </p:blipFill>
        <p:spPr>
          <a:xfrm>
            <a:off x="4389120" y="4069080"/>
            <a:ext cx="1371600" cy="1371600"/>
          </a:xfrm>
          <a:prstGeom prst="rect">
            <a:avLst/>
          </a:prstGeom>
        </p:spPr>
      </p:pic>
      <p:sp>
        <p:nvSpPr>
          <p:cNvPr id="22" name="Text 15"/>
          <p:cNvSpPr txBox="1"/>
          <p:nvPr/>
        </p:nvSpPr>
        <p:spPr>
          <a:xfrm>
            <a:off x="5879592" y="405079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No Entry</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Slow Down</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32%</a:t>
            </a:r>
            <a:endParaRPr lang="en-US" sz="1500" dirty="0"/>
          </a:p>
        </p:txBody>
      </p:sp>
      <p:sp>
        <p:nvSpPr>
          <p:cNvPr id="23" name="Text 16"/>
          <p:cNvSpPr txBox="1"/>
          <p:nvPr/>
        </p:nvSpPr>
        <p:spPr>
          <a:xfrm>
            <a:off x="4389120" y="5486400"/>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4" name="Shape 17"/>
          <p:cNvSpPr/>
          <p:nvPr/>
        </p:nvSpPr>
        <p:spPr>
          <a:xfrm>
            <a:off x="8101584" y="3977640"/>
            <a:ext cx="3611880" cy="1901952"/>
          </a:xfrm>
          <a:prstGeom prst="roundRect">
            <a:avLst>
              <a:gd name="adj" fmla="val 3846"/>
            </a:avLst>
          </a:prstGeom>
          <a:solidFill>
            <a:srgbClr val="FBE9EA"/>
          </a:solidFill>
          <a:ln w="9525">
            <a:solidFill>
              <a:srgbClr val="FBE9EA"/>
            </a:solidFill>
            <a:prstDash val="solid"/>
          </a:ln>
        </p:spPr>
      </p:sp>
      <p:pic>
        <p:nvPicPr>
          <p:cNvPr id="25" name="Image 5" descr="C:/Users/ASUSG1~1/AppData/Local/Temp/claude/C--Users-ASUS-G-16-JVR-Desktop-deepLearning-CNN/ddb4b7a1-b5ad-4432-b312-271443ec143d/scratchpad/deck_v3/assets/error_6.png">    </p:cNvPr>
          <p:cNvPicPr>
            <a:picLocks noChangeAspect="1"/>
          </p:cNvPicPr>
          <p:nvPr/>
        </p:nvPicPr>
        <p:blipFill>
          <a:blip r:embed="rId6"/>
          <a:stretch>
            <a:fillRect/>
          </a:stretch>
        </p:blipFill>
        <p:spPr>
          <a:xfrm>
            <a:off x="8211312" y="4069080"/>
            <a:ext cx="1371600" cy="1371600"/>
          </a:xfrm>
          <a:prstGeom prst="rect">
            <a:avLst/>
          </a:prstGeom>
        </p:spPr>
      </p:pic>
      <p:sp>
        <p:nvSpPr>
          <p:cNvPr id="26" name="Text 18"/>
          <p:cNvSpPr txBox="1"/>
          <p:nvPr/>
        </p:nvSpPr>
        <p:spPr>
          <a:xfrm>
            <a:off x="9701784" y="4050792"/>
            <a:ext cx="1965960" cy="141732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25%</a:t>
            </a:r>
            <a:endParaRPr lang="en-US" sz="1500" dirty="0"/>
          </a:p>
        </p:txBody>
      </p:sp>
      <p:sp>
        <p:nvSpPr>
          <p:cNvPr id="27" name="Text 19"/>
          <p:cNvSpPr txBox="1"/>
          <p:nvPr/>
        </p:nvSpPr>
        <p:spPr>
          <a:xfrm>
            <a:off x="8211312" y="5486400"/>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8" name="Text 20"/>
          <p:cNvSpPr txBox="1"/>
          <p:nvPr/>
        </p:nvSpPr>
        <p:spPr>
          <a:xfrm>
            <a:off x="457200" y="6016752"/>
            <a:ext cx="11274552" cy="384048"/>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Purple: the model predicted the sign that is actually visible; the dataset label looks wrong. Metrics are not adjusted.</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YOLOv8 + ResNet-18 on Full Street Photos</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Detection results: a separate task from the classifier accuracy above</a:t>
            </a:r>
            <a:endParaRPr lang="en-US" sz="1800" dirty="0"/>
          </a:p>
        </p:txBody>
      </p:sp>
      <p:pic>
        <p:nvPicPr>
          <p:cNvPr id="4" name="Image 0" descr="C:/Users/ASUSG1~1/AppData/Local/Temp/claude/C--Users-ASUS-G-16-JVR-Desktop-deepLearning-CNN/ddb4b7a1-b5ad-4432-b312-271443ec143d/scratchpad/deck_v3/assets/pipeline_photo.jpg">    </p:cNvPr>
          <p:cNvPicPr>
            <a:picLocks noChangeAspect="1"/>
          </p:cNvPicPr>
          <p:nvPr/>
        </p:nvPicPr>
        <p:blipFill>
          <a:blip r:embed="rId1"/>
          <a:stretch>
            <a:fillRect/>
          </a:stretch>
        </p:blipFill>
        <p:spPr>
          <a:xfrm>
            <a:off x="457200" y="2011680"/>
            <a:ext cx="5852160" cy="3291840"/>
          </a:xfrm>
          <a:prstGeom prst="rect">
            <a:avLst/>
          </a:prstGeom>
        </p:spPr>
      </p:pic>
      <p:sp>
        <p:nvSpPr>
          <p:cNvPr id="5" name="Text 2"/>
          <p:cNvSpPr txBox="1"/>
          <p:nvPr/>
        </p:nvSpPr>
        <p:spPr>
          <a:xfrm>
            <a:off x="457200" y="5349240"/>
            <a:ext cx="5852160" cy="68580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Real test photo: 1 No U-Turn 100% · 2 Keep Right 99.8% · 3 No Horn 100% · 4 Hospital 99.2% (all correct)</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29400" y="2011680"/>
          <a:ext cx="5102352" cy="914400"/>
        </p:xfrm>
        <a:graphic>
          <a:graphicData uri="http://schemas.openxmlformats.org/drawingml/2006/table">
            <a:tbl>
              <a:tblPr/>
              <a:tblGrid>
                <a:gridCol w="3017520"/>
                <a:gridCol w="2084832"/>
              </a:tblGrid>
              <a:tr h="420624">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YOLOv8 detector</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379 test photos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Precision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95.6%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Recall</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96.3%</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mAP@50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mAP@50–95</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87.3%</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629400" y="4297680"/>
          <a:ext cx="5102352" cy="914400"/>
        </p:xfrm>
        <a:graphic>
          <a:graphicData uri="http://schemas.openxmlformats.org/drawingml/2006/table">
            <a:tbl>
              <a:tblPr/>
              <a:tblGrid>
                <a:gridCol w="3017520"/>
                <a:gridCol w="2084832"/>
              </a:tblGrid>
              <a:tr h="420624">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Full pipeline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463 test signs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Found by YOLOv8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449 (97.0%)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Found + named correctly</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445 (96.1%)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bl>
          </a:graphicData>
        </a:graphic>
      </p:graphicFrame>
      <p:sp>
        <p:nvSpPr>
          <p:cNvPr id="8" name="Text 3"/>
          <p:cNvSpPr txBox="1"/>
          <p:nvPr/>
        </p:nvSpPr>
        <p:spPr>
          <a:xfrm>
            <a:off x="6629400" y="5715000"/>
            <a:ext cx="5102352" cy="68580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Detector learns one general class, "Traffic Sign"; ResNet-18 names it. Results from this test set only, not proof for every road.</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Is 98.70% Too Optimistic? Testing on Unseen Drives</a:t>
            </a:r>
            <a:endParaRPr lang="en-US" sz="3200" dirty="0"/>
          </a:p>
        </p:txBody>
      </p:sp>
      <p:sp>
        <p:nvSpPr>
          <p:cNvPr id="3" name="Shape 1"/>
          <p:cNvSpPr/>
          <p:nvPr/>
        </p:nvSpPr>
        <p:spPr>
          <a:xfrm>
            <a:off x="457200" y="1645920"/>
            <a:ext cx="4663440" cy="4663440"/>
          </a:xfrm>
          <a:prstGeom prst="roundRect">
            <a:avLst>
              <a:gd name="adj" fmla="val 1569"/>
            </a:avLst>
          </a:prstGeom>
          <a:solidFill>
            <a:srgbClr val="EEF5F1"/>
          </a:solidFill>
          <a:ln w="9525">
            <a:solidFill>
              <a:srgbClr val="EEF5F1"/>
            </a:solidFill>
            <a:prstDash val="solid"/>
          </a:ln>
        </p:spPr>
      </p:sp>
      <p:sp>
        <p:nvSpPr>
          <p:cNvPr id="4" name="Text 2"/>
          <p:cNvSpPr txBox="1"/>
          <p:nvPr/>
        </p:nvSpPr>
        <p:spPr>
          <a:xfrm>
            <a:off x="640080" y="178308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concern</a:t>
            </a:r>
            <a:endParaRPr lang="en-US" sz="2000" dirty="0"/>
          </a:p>
        </p:txBody>
      </p:sp>
      <p:sp>
        <p:nvSpPr>
          <p:cNvPr id="5" name="Text 3"/>
          <p:cNvSpPr txBox="1"/>
          <p:nvPr/>
        </p:nvSpPr>
        <p:spPr>
          <a:xfrm>
            <a:off x="640080" y="2194560"/>
            <a:ext cx="4297680" cy="13258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Photos are video frames. 84 of 463 test crops (18%) have a training frame of the same sign ≤ 2 s away.</a:t>
            </a:r>
            <a:endParaRPr lang="en-US" sz="1700" dirty="0"/>
          </a:p>
        </p:txBody>
      </p:sp>
      <p:sp>
        <p:nvSpPr>
          <p:cNvPr id="6" name="Text 4"/>
          <p:cNvSpPr txBox="1"/>
          <p:nvPr/>
        </p:nvSpPr>
        <p:spPr>
          <a:xfrm>
            <a:off x="640080" y="356616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check</a:t>
            </a:r>
            <a:endParaRPr lang="en-US" sz="2000" dirty="0"/>
          </a:p>
        </p:txBody>
      </p:sp>
      <p:sp>
        <p:nvSpPr>
          <p:cNvPr id="7" name="Text 5"/>
          <p:cNvSpPr txBox="1"/>
          <p:nvPr/>
        </p:nvSpPr>
        <p:spPr>
          <a:xfrm>
            <a:off x="640080" y="3977640"/>
            <a:ext cx="4343400" cy="2240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Group photos into 20 drives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5 folds: always test on drives the model never saw</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3 seeds → 15 training runs, same final settings</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645920"/>
          <a:ext cx="6336792" cy="914400"/>
        </p:xfrm>
        <a:graphic>
          <a:graphicData uri="http://schemas.openxmlformats.org/drawingml/2006/table">
            <a:tbl>
              <a:tblPr/>
              <a:tblGrid>
                <a:gridCol w="1856232"/>
                <a:gridCol w="1005840"/>
                <a:gridCol w="1737360"/>
                <a:gridCol w="1737360"/>
              </a:tblGrid>
              <a:tr h="420624">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Test fold</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Crops</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Accuracy</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Macro F1</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420624">
                <a:tc>
                  <a:txBody>
                    <a:bodyPr/>
                    <a:lstStyle/>
                    <a:p>
                      <a:pPr algn="ctr" indent="0" marL="0">
                        <a:buNone/>
                      </a:pPr>
                      <a:r>
                        <a:rPr lang="en-US" sz="1600" b="1" dirty="0">
                          <a:solidFill>
                            <a:srgbClr val="111111"/>
                          </a:solidFill>
                          <a:latin typeface="Arial" pitchFamily="34" charset="0"/>
                          <a:ea typeface="Arial" pitchFamily="34" charset="-122"/>
                          <a:cs typeface="Arial" pitchFamily="34" charset="-120"/>
                        </a:rPr>
                        <a:t>All folds pooled</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600" b="1" dirty="0">
                          <a:solidFill>
                            <a:srgbClr val="111111"/>
                          </a:solidFill>
                          <a:latin typeface="Arial" pitchFamily="34" charset="0"/>
                          <a:ea typeface="Arial" pitchFamily="34" charset="-122"/>
                          <a:cs typeface="Arial" pitchFamily="34" charset="-120"/>
                        </a:rPr>
                        <a:t>3,070</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600" b="1" dirty="0">
                          <a:solidFill>
                            <a:srgbClr val="C75B1E"/>
                          </a:solidFill>
                          <a:latin typeface="Arial" pitchFamily="34" charset="0"/>
                          <a:ea typeface="Arial" pitchFamily="34" charset="-122"/>
                          <a:cs typeface="Arial" pitchFamily="34" charset="-120"/>
                        </a:rPr>
                        <a:t>98.31% ± 0.20</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600" b="1" dirty="0">
                          <a:solidFill>
                            <a:srgbClr val="C75B1E"/>
                          </a:solidFill>
                          <a:latin typeface="Arial" pitchFamily="34" charset="0"/>
                          <a:ea typeface="Arial" pitchFamily="34" charset="-122"/>
                          <a:cs typeface="Arial" pitchFamily="34" charset="-120"/>
                        </a:rPr>
                        <a:t>97.24% ± 0.68</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r h="420624">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Fold 0</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522</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99.55%</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99.38%</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Fold 1</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538</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98.39%</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96.21%</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Fold 2</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649</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97.74%</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b="1" dirty="0">
                          <a:solidFill>
                            <a:srgbClr val="C44E52"/>
                          </a:solidFill>
                          <a:latin typeface="Arial" pitchFamily="34" charset="0"/>
                          <a:ea typeface="Arial" pitchFamily="34" charset="-122"/>
                          <a:cs typeface="Arial" pitchFamily="34" charset="-120"/>
                        </a:rPr>
                        <a:t>93.03%</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Fold 3</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755</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97.70%</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96.54%</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420624">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Fold 4</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606</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98.51%</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600" dirty="0">
                          <a:solidFill>
                            <a:srgbClr val="111111"/>
                          </a:solidFill>
                          <a:latin typeface="Arial" pitchFamily="34" charset="0"/>
                          <a:ea typeface="Arial" pitchFamily="34" charset="-122"/>
                          <a:cs typeface="Arial" pitchFamily="34" charset="-120"/>
                        </a:rPr>
                        <a:t>98.19%</a:t>
                      </a:r>
                      <a:endParaRPr lang="en-US" sz="16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9" name="Text 6"/>
          <p:cNvSpPr txBox="1"/>
          <p:nvPr/>
        </p:nvSpPr>
        <p:spPr>
          <a:xfrm>
            <a:off x="5394960" y="4754880"/>
            <a:ext cx="6336792" cy="914400"/>
          </a:xfrm>
          <a:prstGeom prst="rect">
            <a:avLst/>
          </a:prstGeom>
          <a:noFill/>
          <a:ln/>
        </p:spPr>
        <p:txBody>
          <a:bodyPr wrap="square" lIns="508" tIns="508" rIns="508" bIns="508" rtlCol="0" anchor="t"/>
          <a:lstStyle/>
          <a:p>
            <a:pPr indent="0" marL="0">
              <a:buNone/>
            </a:pPr>
            <a:r>
              <a:rPr lang="en-US" sz="1500" b="1" dirty="0">
                <a:solidFill>
                  <a:srgbClr val="C75B1E"/>
                </a:solidFill>
                <a:latin typeface="Arial" pitchFamily="34" charset="0"/>
                <a:ea typeface="Arial" pitchFamily="34" charset="-122"/>
                <a:cs typeface="Arial" pitchFamily="34" charset="-120"/>
              </a:rPr>
              <a:t>± = variation over 3 seeds. Different test protocol from 98.70%, so not a before/after comparison. Independent by drive, not guaranteed by location.</a:t>
            </a:r>
            <a:endParaRPr lang="en-US" sz="1500" dirty="0"/>
          </a:p>
        </p:txBody>
      </p:sp>
      <p:sp>
        <p:nvSpPr>
          <p:cNvPr id="10" name="Text 7"/>
          <p:cNvSpPr txBox="1"/>
          <p:nvPr/>
        </p:nvSpPr>
        <p:spPr>
          <a:xfrm>
            <a:off x="5394960" y="5760720"/>
            <a:ext cx="6336792" cy="36576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Per-fold values: mean of 3 seeds.</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Hardest Pair: Cross Road vs. Priority Road</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From the grouped evaluation (all folds and seeds)</a:t>
            </a:r>
            <a:endParaRPr lang="en-US" sz="1800" dirty="0"/>
          </a:p>
        </p:txBody>
      </p:sp>
      <p:pic>
        <p:nvPicPr>
          <p:cNvPr id="4" name="Image 0" descr="C:/Users/ASUSG1~1/AppData/Local/Temp/claude/C--Users-ASUS-G-16-JVR-Desktop-deepLearning-CNN/ddb4b7a1-b5ad-4432-b312-271443ec143d/scratchpad/deck_v3/assets/cross_vs_priority.png">    </p:cNvPr>
          <p:cNvPicPr>
            <a:picLocks noChangeAspect="1"/>
          </p:cNvPicPr>
          <p:nvPr/>
        </p:nvPicPr>
        <p:blipFill>
          <a:blip r:embed="rId1"/>
          <a:stretch>
            <a:fillRect/>
          </a:stretch>
        </p:blipFill>
        <p:spPr>
          <a:xfrm>
            <a:off x="457200" y="1965960"/>
            <a:ext cx="4970920" cy="4434840"/>
          </a:xfrm>
          <a:prstGeom prst="rect">
            <a:avLst/>
          </a:prstGeom>
        </p:spPr>
      </p:pic>
      <p:sp>
        <p:nvSpPr>
          <p:cNvPr id="5" name="Text 2"/>
          <p:cNvSpPr txBox="1"/>
          <p:nvPr/>
        </p:nvSpPr>
        <p:spPr>
          <a:xfrm>
            <a:off x="6766560" y="2011680"/>
            <a:ext cx="2377440"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0.81</a:t>
            </a:r>
            <a:endParaRPr lang="en-US" sz="3800" dirty="0"/>
          </a:p>
        </p:txBody>
      </p:sp>
      <p:sp>
        <p:nvSpPr>
          <p:cNvPr id="6" name="Text 3"/>
          <p:cNvSpPr txBox="1"/>
          <p:nvPr/>
        </p:nvSpPr>
        <p:spPr>
          <a:xfrm>
            <a:off x="6766560" y="2688336"/>
            <a:ext cx="237744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Cross Road F1 (only 42 images)</a:t>
            </a:r>
            <a:endParaRPr lang="en-US" sz="1600" dirty="0"/>
          </a:p>
        </p:txBody>
      </p:sp>
      <p:sp>
        <p:nvSpPr>
          <p:cNvPr id="7" name="Text 4"/>
          <p:cNvSpPr txBox="1"/>
          <p:nvPr/>
        </p:nvSpPr>
        <p:spPr>
          <a:xfrm>
            <a:off x="9326880" y="2011680"/>
            <a:ext cx="2404872"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25</a:t>
            </a:r>
            <a:endParaRPr lang="en-US" sz="3800" dirty="0"/>
          </a:p>
        </p:txBody>
      </p:sp>
      <p:sp>
        <p:nvSpPr>
          <p:cNvPr id="8" name="Text 5"/>
          <p:cNvSpPr txBox="1"/>
          <p:nvPr/>
        </p:nvSpPr>
        <p:spPr>
          <a:xfrm>
            <a:off x="9326880" y="2688336"/>
            <a:ext cx="2404872"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times read as Priority Road (summed over 3 seeds)</a:t>
            </a:r>
            <a:endParaRPr lang="en-US" sz="1600" dirty="0"/>
          </a:p>
        </p:txBody>
      </p:sp>
      <p:sp>
        <p:nvSpPr>
          <p:cNvPr id="9" name="Text 6"/>
          <p:cNvSpPr txBox="1"/>
          <p:nvPr/>
        </p:nvSpPr>
        <p:spPr>
          <a:xfrm>
            <a:off x="6766560" y="3520440"/>
            <a:ext cx="4965192" cy="283464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Both are yellow diamonds with a black cross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Priority Road: thicker vertical bar with a pointed top</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Tilted or blurred Cross Road signs are misread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Some errors look like Priority Road: possible label errors (not verified)</a:t>
            </a:r>
            <a:endParaRPr lang="en-US" sz="18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Live Demo: Local Web App (Gradio)</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Runs on this laptop at http://127.0.0.1:7860 · not deployed online</a:t>
            </a:r>
            <a:endParaRPr lang="en-US" sz="1800" dirty="0"/>
          </a:p>
        </p:txBody>
      </p:sp>
      <p:sp>
        <p:nvSpPr>
          <p:cNvPr id="4" name="Shape 2"/>
          <p:cNvSpPr/>
          <p:nvPr/>
        </p:nvSpPr>
        <p:spPr>
          <a:xfrm>
            <a:off x="457200" y="2103120"/>
            <a:ext cx="5486400" cy="3383280"/>
          </a:xfrm>
          <a:prstGeom prst="roundRect">
            <a:avLst>
              <a:gd name="adj" fmla="val 2162"/>
            </a:avLst>
          </a:prstGeom>
          <a:solidFill>
            <a:srgbClr val="EEF5F1"/>
          </a:solidFill>
          <a:ln w="9525">
            <a:solidFill>
              <a:srgbClr val="EEF5F1"/>
            </a:solidFill>
            <a:prstDash val="solid"/>
          </a:ln>
        </p:spPr>
      </p:sp>
      <p:sp>
        <p:nvSpPr>
          <p:cNvPr id="5" name="Text 3"/>
          <p:cNvSpPr txBox="1"/>
          <p:nvPr/>
        </p:nvSpPr>
        <p:spPr>
          <a:xfrm>
            <a:off x="640080" y="2240280"/>
            <a:ext cx="512064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Tab 1 · Classify a cropped sign</a:t>
            </a:r>
            <a:endParaRPr lang="en-US" sz="2000" dirty="0"/>
          </a:p>
        </p:txBody>
      </p:sp>
      <p:sp>
        <p:nvSpPr>
          <p:cNvPr id="6" name="Text 4"/>
          <p:cNvSpPr txBox="1"/>
          <p:nvPr/>
        </p:nvSpPr>
        <p:spPr>
          <a:xfrm>
            <a:off x="640080" y="2743200"/>
            <a:ext cx="5166360" cy="265176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a real test street scene, e.g. Left Bend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Classify → Left Bend, 99.66%, marked correct</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Try the whole uncropped photo → wrong, low confidence: this is why we crop</a:t>
            </a:r>
            <a:endParaRPr lang="en-US" sz="1800" dirty="0"/>
          </a:p>
        </p:txBody>
      </p:sp>
      <p:sp>
        <p:nvSpPr>
          <p:cNvPr id="7" name="Shape 5"/>
          <p:cNvSpPr/>
          <p:nvPr/>
        </p:nvSpPr>
        <p:spPr>
          <a:xfrm>
            <a:off x="6245352" y="2103120"/>
            <a:ext cx="5486400" cy="3383280"/>
          </a:xfrm>
          <a:prstGeom prst="roundRect">
            <a:avLst>
              <a:gd name="adj" fmla="val 2162"/>
            </a:avLst>
          </a:prstGeom>
          <a:solidFill>
            <a:srgbClr val="FBEDE5"/>
          </a:solidFill>
          <a:ln w="9525">
            <a:solidFill>
              <a:srgbClr val="FBEDE5"/>
            </a:solidFill>
            <a:prstDash val="solid"/>
          </a:ln>
        </p:spPr>
      </p:sp>
      <p:sp>
        <p:nvSpPr>
          <p:cNvPr id="8" name="Text 6"/>
          <p:cNvSpPr txBox="1"/>
          <p:nvPr/>
        </p:nvSpPr>
        <p:spPr>
          <a:xfrm>
            <a:off x="6428232" y="2240280"/>
            <a:ext cx="5120640" cy="411480"/>
          </a:xfrm>
          <a:prstGeom prst="rect">
            <a:avLst/>
          </a:prstGeom>
          <a:noFill/>
          <a:ln/>
        </p:spPr>
        <p:txBody>
          <a:bodyPr wrap="square" lIns="508" tIns="508" rIns="508" bIns="508" rtlCol="0" anchor="t"/>
          <a:lstStyle/>
          <a:p>
            <a:pPr indent="0" marL="0">
              <a:buNone/>
            </a:pPr>
            <a:r>
              <a:rPr lang="en-US" sz="2000" b="1" dirty="0">
                <a:solidFill>
                  <a:srgbClr val="C75B1E"/>
                </a:solidFill>
                <a:latin typeface="Arial" pitchFamily="34" charset="0"/>
                <a:ea typeface="Arial" pitchFamily="34" charset="-122"/>
                <a:cs typeface="Arial" pitchFamily="34" charset="-120"/>
              </a:rPr>
              <a:t>Tab 2 · Detect all signs in a street photo</a:t>
            </a:r>
            <a:endParaRPr lang="en-US" sz="2000" dirty="0"/>
          </a:p>
        </p:txBody>
      </p:sp>
      <p:sp>
        <p:nvSpPr>
          <p:cNvPr id="9" name="Text 7"/>
          <p:cNvSpPr txBox="1"/>
          <p:nvPr/>
        </p:nvSpPr>
        <p:spPr>
          <a:xfrm>
            <a:off x="6428232" y="2743200"/>
            <a:ext cx="5166360" cy="265176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the test photo from slide 1</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Detect &amp; Classify → 4 boxes: No U-Turn, Keep Right, No Horn, Hospital</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 results table lists every sign with its confidence</a:t>
            </a:r>
            <a:endParaRPr lang="en-US" sz="1800" dirty="0"/>
          </a:p>
        </p:txBody>
      </p:sp>
      <p:sp>
        <p:nvSpPr>
          <p:cNvPr id="10" name="Text 8"/>
          <p:cNvSpPr txBox="1"/>
          <p:nvPr/>
        </p:nvSpPr>
        <p:spPr>
          <a:xfrm>
            <a:off x="457200" y="5669280"/>
            <a:ext cx="11274552" cy="640080"/>
          </a:xfrm>
          <a:prstGeom prst="rect">
            <a:avLst/>
          </a:prstGeom>
          <a:noFill/>
          <a:ln/>
        </p:spPr>
        <p:txBody>
          <a:bodyPr wrap="square" lIns="508" tIns="508" rIns="508" bIns="508" rtlCol="0" anchor="t"/>
          <a:lstStyle/>
          <a:p>
            <a:pPr indent="0" marL="0">
              <a:buNone/>
            </a:pPr>
            <a:r>
              <a:rPr lang="en-US" sz="1600" dirty="0">
                <a:solidFill>
                  <a:srgbClr val="4A4A4A"/>
                </a:solidFill>
                <a:latin typeface="Arial" pitchFamily="34" charset="0"/>
                <a:ea typeface="Arial" pitchFamily="34" charset="-122"/>
                <a:cs typeface="Arial" pitchFamily="34" charset="-120"/>
              </a:rPr>
              <a:t>Before presenting: start the app, check the banner says "Checkpoint verified". Backup: notebooks/07_demo.ipynb.</a:t>
            </a:r>
            <a:endParaRPr lang="en-US" sz="16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Limitations and Future Work</a:t>
            </a:r>
            <a:endParaRPr lang="en-US" sz="3200" dirty="0"/>
          </a:p>
        </p:txBody>
      </p:sp>
      <p:sp>
        <p:nvSpPr>
          <p:cNvPr id="3" name="Shape 1"/>
          <p:cNvSpPr/>
          <p:nvPr/>
        </p:nvSpPr>
        <p:spPr>
          <a:xfrm>
            <a:off x="457200" y="1691640"/>
            <a:ext cx="5486400" cy="4617720"/>
          </a:xfrm>
          <a:prstGeom prst="roundRect">
            <a:avLst>
              <a:gd name="adj" fmla="val 1584"/>
            </a:avLst>
          </a:prstGeom>
          <a:solidFill>
            <a:srgbClr val="EEF5F1"/>
          </a:solidFill>
          <a:ln w="9525">
            <a:solidFill>
              <a:srgbClr val="EEF5F1"/>
            </a:solidFill>
            <a:prstDash val="solid"/>
          </a:ln>
        </p:spPr>
      </p:sp>
      <p:sp>
        <p:nvSpPr>
          <p:cNvPr id="4" name="Text 2"/>
          <p:cNvSpPr txBox="1"/>
          <p:nvPr/>
        </p:nvSpPr>
        <p:spPr>
          <a:xfrm>
            <a:off x="685800" y="18288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Limitations</a:t>
            </a:r>
            <a:endParaRPr lang="en-US" sz="2200" dirty="0"/>
          </a:p>
        </p:txBody>
      </p:sp>
      <p:sp>
        <p:nvSpPr>
          <p:cNvPr id="5" name="Text 3"/>
          <p:cNvSpPr txBox="1"/>
          <p:nvPr/>
        </p:nvSpPr>
        <p:spPr>
          <a:xfrm>
            <a:off x="685800" y="23774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Original split has near-duplicate video frames (18% of test crops)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Grouped test separates drives, but the same sign can appear on another trip</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Few images for some signs (Cross Road: 42)</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Only 26 classes: other signs (e.g. STOP) get the closest label</a:t>
            </a:r>
            <a:endParaRPr lang="en-US" sz="1800" dirty="0"/>
          </a:p>
        </p:txBody>
      </p:sp>
      <p:sp>
        <p:nvSpPr>
          <p:cNvPr id="6" name="Shape 4"/>
          <p:cNvSpPr/>
          <p:nvPr/>
        </p:nvSpPr>
        <p:spPr>
          <a:xfrm>
            <a:off x="6245352" y="1691640"/>
            <a:ext cx="5486400" cy="4617720"/>
          </a:xfrm>
          <a:prstGeom prst="roundRect">
            <a:avLst>
              <a:gd name="adj" fmla="val 1584"/>
            </a:avLst>
          </a:prstGeom>
          <a:solidFill>
            <a:srgbClr val="EEF5F1"/>
          </a:solidFill>
          <a:ln w="9525">
            <a:solidFill>
              <a:srgbClr val="EEF5F1"/>
            </a:solidFill>
            <a:prstDash val="solid"/>
          </a:ln>
        </p:spPr>
      </p:sp>
      <p:sp>
        <p:nvSpPr>
          <p:cNvPr id="7" name="Text 5"/>
          <p:cNvSpPr txBox="1"/>
          <p:nvPr/>
        </p:nvSpPr>
        <p:spPr>
          <a:xfrm>
            <a:off x="6473952" y="18288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Future work</a:t>
            </a:r>
            <a:endParaRPr lang="en-US" sz="2200" dirty="0"/>
          </a:p>
        </p:txBody>
      </p:sp>
      <p:sp>
        <p:nvSpPr>
          <p:cNvPr id="8" name="Text 6"/>
          <p:cNvSpPr txBox="1"/>
          <p:nvPr/>
        </p:nvSpPr>
        <p:spPr>
          <a:xfrm>
            <a:off x="6473952" y="23774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Split by location (needs GPS data)</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More images of rare and look-alike signs; fix label errors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Add an "other sign" class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Grouped evaluation for the detector too</a:t>
            </a:r>
            <a:endParaRPr lang="en-US" sz="18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Conclusion</a:t>
            </a:r>
            <a:endParaRPr lang="en-US" sz="3200" dirty="0"/>
          </a:p>
        </p:txBody>
      </p:sp>
      <p:sp>
        <p:nvSpPr>
          <p:cNvPr id="3" name="Shape 1"/>
          <p:cNvSpPr/>
          <p:nvPr/>
        </p:nvSpPr>
        <p:spPr>
          <a:xfrm>
            <a:off x="457200" y="1691640"/>
            <a:ext cx="3611880" cy="2148840"/>
          </a:xfrm>
          <a:prstGeom prst="roundRect">
            <a:avLst>
              <a:gd name="adj" fmla="val 3404"/>
            </a:avLst>
          </a:prstGeom>
          <a:solidFill>
            <a:srgbClr val="EEF5F1"/>
          </a:solidFill>
          <a:ln w="9525">
            <a:solidFill>
              <a:srgbClr val="EEF5F1"/>
            </a:solidFill>
            <a:prstDash val="solid"/>
          </a:ln>
        </p:spPr>
      </p:sp>
      <p:sp>
        <p:nvSpPr>
          <p:cNvPr id="4" name="Text 2"/>
          <p:cNvSpPr txBox="1"/>
          <p:nvPr/>
        </p:nvSpPr>
        <p:spPr>
          <a:xfrm>
            <a:off x="594360" y="1783080"/>
            <a:ext cx="3337560" cy="868680"/>
          </a:xfrm>
          <a:prstGeom prst="rect">
            <a:avLst/>
          </a:prstGeom>
          <a:noFill/>
          <a:ln/>
        </p:spPr>
        <p:txBody>
          <a:bodyPr wrap="square" lIns="0" tIns="0" rIns="0" bIns="0" rtlCol="0" anchor="ctr"/>
          <a:lstStyle/>
          <a:p>
            <a:pPr algn="ctr" indent="0" marL="0">
              <a:buNone/>
            </a:pPr>
            <a:r>
              <a:rPr lang="en-US" sz="4000" b="1" dirty="0">
                <a:solidFill>
                  <a:srgbClr val="C75B1E"/>
                </a:solidFill>
                <a:latin typeface="Arial" pitchFamily="34" charset="0"/>
                <a:ea typeface="Arial" pitchFamily="34" charset="-122"/>
                <a:cs typeface="Arial" pitchFamily="34" charset="-120"/>
              </a:rPr>
              <a:t>98.70%</a:t>
            </a:r>
            <a:endParaRPr lang="en-US" sz="4000" dirty="0"/>
          </a:p>
        </p:txBody>
      </p:sp>
      <p:sp>
        <p:nvSpPr>
          <p:cNvPr id="5" name="Text 3"/>
          <p:cNvSpPr txBox="1"/>
          <p:nvPr/>
        </p:nvSpPr>
        <p:spPr>
          <a:xfrm>
            <a:off x="640080" y="26974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classifier on the original test set (98.47% macro F1)</a:t>
            </a:r>
            <a:endParaRPr lang="en-US" sz="1600" dirty="0"/>
          </a:p>
        </p:txBody>
      </p:sp>
      <p:sp>
        <p:nvSpPr>
          <p:cNvPr id="6" name="Shape 4"/>
          <p:cNvSpPr/>
          <p:nvPr/>
        </p:nvSpPr>
        <p:spPr>
          <a:xfrm>
            <a:off x="4279392" y="1691640"/>
            <a:ext cx="3611880" cy="2148840"/>
          </a:xfrm>
          <a:prstGeom prst="roundRect">
            <a:avLst>
              <a:gd name="adj" fmla="val 3404"/>
            </a:avLst>
          </a:prstGeom>
          <a:solidFill>
            <a:srgbClr val="EEF5F1"/>
          </a:solidFill>
          <a:ln w="9525">
            <a:solidFill>
              <a:srgbClr val="EEF5F1"/>
            </a:solidFill>
            <a:prstDash val="solid"/>
          </a:ln>
        </p:spPr>
      </p:sp>
      <p:sp>
        <p:nvSpPr>
          <p:cNvPr id="7" name="Text 5"/>
          <p:cNvSpPr txBox="1"/>
          <p:nvPr/>
        </p:nvSpPr>
        <p:spPr>
          <a:xfrm>
            <a:off x="4416552" y="17830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98.31%</a:t>
            </a:r>
            <a:endParaRPr lang="en-US" sz="4000" dirty="0"/>
          </a:p>
        </p:txBody>
      </p:sp>
      <p:sp>
        <p:nvSpPr>
          <p:cNvPr id="8" name="Text 6"/>
          <p:cNvSpPr txBox="1"/>
          <p:nvPr/>
        </p:nvSpPr>
        <p:spPr>
          <a:xfrm>
            <a:off x="4462272" y="26974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same classifier recipe, tested on unseen drives (15 runs)</a:t>
            </a:r>
            <a:endParaRPr lang="en-US" sz="1600" dirty="0"/>
          </a:p>
        </p:txBody>
      </p:sp>
      <p:sp>
        <p:nvSpPr>
          <p:cNvPr id="9" name="Shape 7"/>
          <p:cNvSpPr/>
          <p:nvPr/>
        </p:nvSpPr>
        <p:spPr>
          <a:xfrm>
            <a:off x="8101584" y="1691640"/>
            <a:ext cx="3611880" cy="2148840"/>
          </a:xfrm>
          <a:prstGeom prst="roundRect">
            <a:avLst>
              <a:gd name="adj" fmla="val 3404"/>
            </a:avLst>
          </a:prstGeom>
          <a:solidFill>
            <a:srgbClr val="EEF5F1"/>
          </a:solidFill>
          <a:ln w="9525">
            <a:solidFill>
              <a:srgbClr val="EEF5F1"/>
            </a:solidFill>
            <a:prstDash val="solid"/>
          </a:ln>
        </p:spPr>
      </p:sp>
      <p:sp>
        <p:nvSpPr>
          <p:cNvPr id="10" name="Text 8"/>
          <p:cNvSpPr txBox="1"/>
          <p:nvPr/>
        </p:nvSpPr>
        <p:spPr>
          <a:xfrm>
            <a:off x="8238744" y="17830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96.1%</a:t>
            </a:r>
            <a:endParaRPr lang="en-US" sz="4000" dirty="0"/>
          </a:p>
        </p:txBody>
      </p:sp>
      <p:sp>
        <p:nvSpPr>
          <p:cNvPr id="11" name="Text 9"/>
          <p:cNvSpPr txBox="1"/>
          <p:nvPr/>
        </p:nvSpPr>
        <p:spPr>
          <a:xfrm>
            <a:off x="8284464" y="26974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full photos: signs found AND correctly named (YOLOv8 + ResNet-18)</a:t>
            </a:r>
            <a:endParaRPr lang="en-US" sz="1600" dirty="0"/>
          </a:p>
        </p:txBody>
      </p:sp>
      <p:sp>
        <p:nvSpPr>
          <p:cNvPr id="12" name="Text 10"/>
          <p:cNvSpPr txBox="1"/>
          <p:nvPr/>
        </p:nvSpPr>
        <p:spPr>
          <a:xfrm>
            <a:off x="457200" y="4069080"/>
            <a:ext cx="11274552" cy="457200"/>
          </a:xfrm>
          <a:prstGeom prst="rect">
            <a:avLst/>
          </a:prstGeom>
          <a:noFill/>
          <a:ln/>
        </p:spPr>
        <p:txBody>
          <a:bodyPr wrap="square" lIns="508" tIns="508" rIns="508" bIns="508" rtlCol="0" anchor="t"/>
          <a:lstStyle/>
          <a:p>
            <a:pPr algn="ctr" indent="0" marL="0">
              <a:buNone/>
            </a:pPr>
            <a:r>
              <a:rPr lang="en-US" sz="2000" b="1" dirty="0">
                <a:solidFill>
                  <a:srgbClr val="0B5A3C"/>
                </a:solidFill>
                <a:latin typeface="Arial" pitchFamily="34" charset="0"/>
                <a:ea typeface="Arial" pitchFamily="34" charset="-122"/>
                <a:cs typeface="Arial" pitchFamily="34" charset="-120"/>
              </a:rPr>
              <a:t>Transfer learning was the biggest gain: 70.19% → 92.44% → 98.70% test accuracy.</a:t>
            </a:r>
            <a:endParaRPr lang="en-US" sz="2000" dirty="0"/>
          </a:p>
        </p:txBody>
      </p:sp>
      <p:sp>
        <p:nvSpPr>
          <p:cNvPr id="13" name="Text 11"/>
          <p:cNvSpPr txBox="1"/>
          <p:nvPr/>
        </p:nvSpPr>
        <p:spPr>
          <a:xfrm>
            <a:off x="457200" y="4617720"/>
            <a:ext cx="11274552" cy="731520"/>
          </a:xfrm>
          <a:prstGeom prst="rect">
            <a:avLst/>
          </a:prstGeom>
          <a:noFill/>
          <a:ln/>
        </p:spPr>
        <p:txBody>
          <a:bodyPr wrap="square" lIns="0" tIns="0" rIns="0" bIns="0" rtlCol="0" anchor="ctr"/>
          <a:lstStyle/>
          <a:p>
            <a:pPr algn="ctr" indent="0" marL="0">
              <a:buNone/>
            </a:pPr>
            <a:r>
              <a:rPr lang="en-US" sz="3400" b="1" dirty="0">
                <a:solidFill>
                  <a:srgbClr val="0B5A3C"/>
                </a:solidFill>
                <a:latin typeface="Arial" pitchFamily="34" charset="0"/>
                <a:ea typeface="Arial" pitchFamily="34" charset="-122"/>
                <a:cs typeface="Arial" pitchFamily="34" charset="-120"/>
              </a:rPr>
              <a:t>Thank you! Questions?</a:t>
            </a:r>
            <a:endParaRPr lang="en-US" sz="3400" dirty="0"/>
          </a:p>
        </p:txBody>
      </p:sp>
      <p:sp>
        <p:nvSpPr>
          <p:cNvPr id="14" name="Text 12"/>
          <p:cNvSpPr txBox="1"/>
          <p:nvPr/>
        </p:nvSpPr>
        <p:spPr>
          <a:xfrm>
            <a:off x="457200" y="5394960"/>
            <a:ext cx="11274552" cy="868680"/>
          </a:xfrm>
          <a:prstGeom prst="rect">
            <a:avLst/>
          </a:prstGeom>
          <a:noFill/>
          <a:ln/>
        </p:spPr>
        <p:txBody>
          <a:bodyPr wrap="square" lIns="0" tIns="0" rIns="0" bIns="0" rtlCol="0" anchor="t"/>
          <a:lstStyle/>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1" invalidUrl="" action="" tgtFrame="" tooltip="https://github.com/RothRothRoth/DeepLearning_CNN" history="1" highlightClick="0" endSnd="0">
                  <a:extLst>
                    <a:ext uri="{A12FA001-AC4F-418D-AE19-62706E023703}">
                      <ahyp:hlinkClr xmlns:ahyp="http://schemas.microsoft.com/office/drawing/2018/hyperlinkcolor" val="tx"/>
                    </a:ext>
                  </a:extLst>
                </a:hlinkClick>
              </a:rPr>
              <a:t>Code and README: github.com/RothRothRoth/DeepLearning_CNN</a:t>
            </a:r>
            <a:endParaRPr lang="en-US" sz="1700" dirty="0"/>
          </a:p>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Dataset: Cambodia Traffic Signs Dataset on Kaggle</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Hyperparameter Tuning (Approach 3)</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Chosen on validation data only; the test set was not used</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1828800"/>
                <a:gridCol w="1600200"/>
                <a:gridCol w="1600200"/>
                <a:gridCol w="1965960"/>
                <a:gridCol w="1371600"/>
                <a:gridCol w="1371600"/>
                <a:gridCol w="1536192"/>
              </a:tblGrid>
              <a:tr h="566928">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Config</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Learning rate</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Weight decay</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Best val. accuracy</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Val. loss</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Best epoch</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Time</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66928">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A</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99.78%</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0.0290</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8</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3.9 min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B ★ chosen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99.78%</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C75B1E"/>
                          </a:solidFill>
                          <a:latin typeface="Arial" pitchFamily="34" charset="0"/>
                          <a:ea typeface="Arial" pitchFamily="34" charset="-122"/>
                          <a:cs typeface="Arial" pitchFamily="34" charset="-120"/>
                        </a:rPr>
                        <a:t>0.0280</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14</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5.5 min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r h="566928">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C</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99.78%</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0.0330</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2.9 min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D</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0.001</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99.78%</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0.0324</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3.0 min</a:t>
                      </a:r>
                      <a:endParaRPr lang="en-US" sz="18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5" name="Text 2"/>
          <p:cNvSpPr txBox="1"/>
          <p:nvPr/>
        </p:nvSpPr>
        <p:spPr>
          <a:xfrm>
            <a:off x="457200" y="5120640"/>
            <a:ext cx="11274552" cy="10972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All four tied on validation accuracy (453 / 454); B won the pre-set tie-break (lowest validation loss). On test it was 3 images better than the untuned baseline (98.06% → 98.70%), a single-seed difference.</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Training vs. Validation Accuracy</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Same runs as the loss curves</a:t>
            </a:r>
            <a:endParaRPr lang="en-US" sz="1800" dirty="0"/>
          </a:p>
        </p:txBody>
      </p:sp>
      <p:pic>
        <p:nvPicPr>
          <p:cNvPr id="4" name="Image 0" descr="C:/Users/ASUSG1~1/AppData/Local/Temp/claude/C--Users-ASUS-G-16-JVR-Desktop-deepLearning-CNN/ddb4b7a1-b5ad-4432-b312-271443ec143d/scratchpad/deck_v3/assets/acc_curves.png">    </p:cNvPr>
          <p:cNvPicPr>
            <a:picLocks noChangeAspect="1"/>
          </p:cNvPicPr>
          <p:nvPr/>
        </p:nvPicPr>
        <p:blipFill>
          <a:blip r:embed="rId1"/>
          <a:stretch>
            <a:fillRect/>
          </a:stretch>
        </p:blipFill>
        <p:spPr>
          <a:xfrm>
            <a:off x="365760" y="2574823"/>
            <a:ext cx="11457432" cy="3079955"/>
          </a:xfrm>
          <a:prstGeom prst="rect">
            <a:avLst/>
          </a:prstGeom>
        </p:spPr>
      </p:pic>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Fine-Tuned Baseline vs. Final Model (Loss)</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Weight decay 0.0001 (baseline) vs. 0.001 (final)</a:t>
            </a:r>
            <a:endParaRPr lang="en-US" sz="1800" dirty="0"/>
          </a:p>
        </p:txBody>
      </p:sp>
      <p:pic>
        <p:nvPicPr>
          <p:cNvPr id="4" name="Image 0" descr="C:/Users/ASUSG1~1/AppData/Local/Temp/claude/C--Users-ASUS-G-16-JVR-Desktop-deepLearning-CNN/ddb4b7a1-b5ad-4432-b312-271443ec143d/scratchpad/deck_v3/assets/loss_finetuned_baseline_vs_final.png">    </p:cNvPr>
          <p:cNvPicPr>
            <a:picLocks noChangeAspect="1"/>
          </p:cNvPicPr>
          <p:nvPr/>
        </p:nvPicPr>
        <p:blipFill>
          <a:blip r:embed="rId1"/>
          <a:stretch>
            <a:fillRect/>
          </a:stretch>
        </p:blipFill>
        <p:spPr>
          <a:xfrm>
            <a:off x="878738" y="2011680"/>
            <a:ext cx="10431475" cy="4206240"/>
          </a:xfrm>
          <a:prstGeom prst="rect">
            <a:avLst/>
          </a:prstGeom>
        </p:spPr>
      </p:pic>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Grouped Evaluation Confusion Matrix</a:t>
            </a:r>
            <a:endParaRPr lang="en-US" sz="3200" dirty="0"/>
          </a:p>
        </p:txBody>
      </p:sp>
      <p:pic>
        <p:nvPicPr>
          <p:cNvPr id="3" name="Image 0" descr="C:/Users/ASUSG1~1/AppData/Local/Temp/claude/C--Users-ASUS-G-16-JVR-Desktop-deepLearning-CNN/ddb4b7a1-b5ad-4432-b312-271443ec143d/scratchpad/deck_v3/assets/cm_grouped_pictures.png">    </p:cNvPr>
          <p:cNvPicPr>
            <a:picLocks noChangeAspect="1"/>
          </p:cNvPicPr>
          <p:nvPr/>
        </p:nvPicPr>
        <p:blipFill>
          <a:blip r:embed="rId1"/>
          <a:stretch>
            <a:fillRect/>
          </a:stretch>
        </p:blipFill>
        <p:spPr>
          <a:xfrm>
            <a:off x="274320" y="1517904"/>
            <a:ext cx="6414218" cy="4882896"/>
          </a:xfrm>
          <a:prstGeom prst="rect">
            <a:avLst/>
          </a:prstGeom>
        </p:spPr>
      </p:pic>
      <p:sp>
        <p:nvSpPr>
          <p:cNvPr id="4" name="Text 1"/>
          <p:cNvSpPr txBox="1"/>
          <p:nvPr/>
        </p:nvSpPr>
        <p:spPr>
          <a:xfrm>
            <a:off x="7543800" y="1828800"/>
            <a:ext cx="4206240" cy="411480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All 3,070 crops, summed over 3 seeds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Rows: true sign; columns: predicted sign</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Green: correct · red: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Biggest: Cross Road → Priority Road (25)</a:t>
            </a:r>
            <a:endParaRPr lang="en-US" sz="18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Weakest Classes in the Grouped Evaluation</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Pooled over folds; mean over 3 seeds</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7040880" cy="914400"/>
        </p:xfrm>
        <a:graphic>
          <a:graphicData uri="http://schemas.openxmlformats.org/drawingml/2006/table">
            <a:tbl>
              <a:tblPr/>
              <a:tblGrid>
                <a:gridCol w="2377440"/>
                <a:gridCol w="1417320"/>
                <a:gridCol w="1005840"/>
                <a:gridCol w="1234440"/>
                <a:gridCol w="1005840"/>
              </a:tblGrid>
              <a:tr h="54864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Class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Recall</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Precision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Images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48640">
                <a:tc>
                  <a:txBody>
                    <a:bodyPr/>
                    <a:lstStyle/>
                    <a:p>
                      <a:pPr algn="ctr" indent="0" marL="0">
                        <a:buNone/>
                      </a:pPr>
                      <a:r>
                        <a:rPr lang="en-US" sz="1700" b="1" dirty="0">
                          <a:solidFill>
                            <a:srgbClr val="C44E52"/>
                          </a:solidFill>
                          <a:latin typeface="Arial" pitchFamily="34" charset="0"/>
                          <a:ea typeface="Arial" pitchFamily="34" charset="-122"/>
                          <a:cs typeface="Arial" pitchFamily="34" charset="-120"/>
                        </a:rPr>
                        <a:t>Cross Road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C44E52"/>
                          </a:solidFill>
                          <a:latin typeface="Arial" pitchFamily="34" charset="0"/>
                          <a:ea typeface="Arial" pitchFamily="34" charset="-122"/>
                          <a:cs typeface="Arial" pitchFamily="34" charset="-120"/>
                        </a:rPr>
                        <a:t>0.81 ± 0.15</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0.72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Hospital</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0.93 ± 0.02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53</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Priority Road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 ± 0.04</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0.97</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109</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Right Bend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 ± 0.02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47</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Pedestrian Crossing</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 ± 0.02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5" name="Text 2"/>
          <p:cNvSpPr txBox="1"/>
          <p:nvPr/>
        </p:nvSpPr>
        <p:spPr>
          <a:xfrm>
            <a:off x="7818120" y="2103120"/>
            <a:ext cx="3931920" cy="457200"/>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Top confusions (3 seeds)</a:t>
            </a:r>
            <a:endParaRPr lang="en-US" sz="1900" dirty="0"/>
          </a:p>
        </p:txBody>
      </p:sp>
      <p:sp>
        <p:nvSpPr>
          <p:cNvPr id="6" name="Text 3"/>
          <p:cNvSpPr txBox="1"/>
          <p:nvPr/>
        </p:nvSpPr>
        <p:spPr>
          <a:xfrm>
            <a:off x="7818120" y="2606040"/>
            <a:ext cx="3931920" cy="320040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Priority Road: 25</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Priority Road → Pedestrian Crossing: 10</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Junction Right: 9</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Pedestrian → Children Crossing: 7</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Detector Threshold and Image-Size Check</a:t>
            </a:r>
            <a:endParaRPr lang="en-US" sz="3200" dirty="0"/>
          </a:p>
        </p:txBody>
      </p:sp>
      <p:sp>
        <p:nvSpPr>
          <p:cNvPr id="3" name="Text 1"/>
          <p:cNvSpPr txBox="1"/>
          <p:nvPr/>
        </p:nvSpPr>
        <p:spPr>
          <a:xfrm>
            <a:off x="457200" y="1536192"/>
            <a:ext cx="11274552" cy="384048"/>
          </a:xfrm>
          <a:prstGeom prst="rect">
            <a:avLst/>
          </a:prstGeom>
          <a:noFill/>
          <a:ln/>
        </p:spPr>
        <p:txBody>
          <a:bodyPr wrap="square" lIns="0" tIns="0" rIns="0" bIns="0" rtlCol="0" anchor="t"/>
          <a:lstStyle/>
          <a:p>
            <a:pPr indent="0" marL="0">
              <a:buNone/>
            </a:pPr>
            <a:r>
              <a:rPr lang="en-US" sz="1800" dirty="0">
                <a:solidFill>
                  <a:srgbClr val="0B5A3C"/>
                </a:solidFill>
                <a:latin typeface="Arial" pitchFamily="34" charset="0"/>
                <a:ea typeface="Arial" pitchFamily="34" charset="-122"/>
                <a:cs typeface="Arial" pitchFamily="34" charset="-120"/>
              </a:rPr>
              <a:t>Setting chosen by a fixed rule on validation photos; test used once</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4023360"/>
                <a:gridCol w="1463040"/>
                <a:gridCol w="2514600"/>
                <a:gridCol w="1554480"/>
                <a:gridCol w="171907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Photos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Found and correctly named</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Missed signs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Extra boxes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1280 px, conf 0.25 (default)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97.36%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 (rule's choice)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1280 px, conf 0.25 (default) ★ kept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96.11%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43</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FBEDE5"/>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95.46%</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5" name="Text 2"/>
          <p:cNvSpPr txBox="1"/>
          <p:nvPr/>
        </p:nvSpPr>
        <p:spPr>
          <a:xfrm>
            <a:off x="457200" y="5120640"/>
            <a:ext cx="11274552" cy="10972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The validation gain did not carry over to test, so the default was kept. Most "extra boxes" are real signs that the dataset did not label (visual check), so precision is probably underestimated.</a:t>
            </a:r>
            <a:endParaRPr lang="en-US" sz="17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5" type="title" hasCustomPrompt="1"/>
          </p:nvPr>
        </p:nvSpPr>
        <p:spPr>
          <a:xfrm>
            <a:off x="457200" y="914400"/>
            <a:ext cx="11274552" cy="621792"/>
          </a:xfrm>
          <a:prstGeom prst="rect">
            <a:avLst/>
          </a:prstGeom>
          <a:noFill/>
          <a:ln/>
        </p:spPr>
        <p:txBody>
          <a:bodyPr wrap="square" lIns="0" tIns="0" rIns="0" bIns="0" rtlCol="0" anchor="ctr"/>
          <a:lstStyle/>
          <a:p>
            <a:pPr algn="l" indent="0" marL="0">
              <a:buNone/>
            </a:pPr>
            <a:r>
              <a:rPr lang="en-US" sz="3200" b="1" dirty="0">
                <a:solidFill>
                  <a:srgbClr val="0B5A3C"/>
                </a:solidFill>
                <a:latin typeface="Arial" pitchFamily="34" charset="0"/>
                <a:ea typeface="Arial" pitchFamily="34" charset="-122"/>
                <a:cs typeface="Arial" pitchFamily="34" charset="-120"/>
              </a:rPr>
              <a:t>Backup: Shared Training Settings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4552" cy="914400"/>
        </p:xfrm>
        <a:graphic>
          <a:graphicData uri="http://schemas.openxmlformats.org/drawingml/2006/table">
            <a:tbl>
              <a:tblPr/>
              <a:tblGrid>
                <a:gridCol w="3291840"/>
                <a:gridCol w="798271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Value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solidFill>
                      <a:srgbClr val="0B5A3C"/>
                    </a:solidFill>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Optimiser / loss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Adam · cross-entropy</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Batch size / max epochs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32 · 40</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Learning rate schedule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ReduceLROnPlateau (×0.5 after 3 epochs without improvement)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Model selection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early stopping (patience 10), best-validation checkpoint</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Reproducibility</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seed 42 for Python, NumPy, PyTorch; deterministic cuDNN</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Hardware</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Google Colab, NVIDIA Tesla T4 (classifiers); RTX 4060 laptop (YOLOv8, grouped runs)</a:t>
                      </a:r>
                      <a:endParaRPr lang="en-US" sz="1700" dirty="0">
                        <a:latin typeface="Arial" charset="0"/>
                        <a:ea typeface="Arial" charset="0"/>
                        <a:cs typeface="Arial" charset="0"/>
                      </a:endParaRPr>
                    </a:p>
                  </a:txBody>
                  <a:tcPr marL="91440" marR="91440" marT="45720" marB="45720" anchor="ctr">
                    <a:lnL w="12700" cap="flat" cmpd="sng" algn="ctr">
                      <a:solidFill>
                        <a:srgbClr val="C9DDD2"/>
                      </a:solidFill>
                      <a:prstDash val="solid"/>
                      <a:round/>
                      <a:headEnd type="none" w="med" len="med"/>
                      <a:tailEnd type="none" w="med" len="med"/>
                    </a:lnL>
                    <a:lnR w="12700" cap="flat" cmpd="sng" algn="ctr">
                      <a:solidFill>
                        <a:srgbClr val="C9DDD2"/>
                      </a:solidFill>
                      <a:prstDash val="solid"/>
                      <a:round/>
                      <a:headEnd type="none" w="med" len="med"/>
                      <a:tailEnd type="none" w="med" len="med"/>
                    </a:lnR>
                    <a:lnT w="12700" cap="flat" cmpd="sng" algn="ctr">
                      <a:solidFill>
                        <a:srgbClr val="C9DDD2"/>
                      </a:solidFill>
                      <a:prstDash val="solid"/>
                      <a:round/>
                      <a:headEnd type="none" w="med" len="med"/>
                      <a:tailEnd type="none" w="med" len="med"/>
                    </a:lnT>
                    <a:lnB w="12700" cap="flat" cmpd="sng" algn="ctr">
                      <a:solidFill>
                        <a:srgbClr val="C9DD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FFFFF"/>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Cambodian Traffic Sign Recognition (v3)</dc:title>
  <dc:subject>PptxGenJS Presentation</dc:subject>
  <dc:creator>Tes Sothyroth</dc:creator>
  <cp:lastModifiedBy>Tes Sothyroth</cp:lastModifiedBy>
  <cp:revision>1</cp:revision>
  <dcterms:created xsi:type="dcterms:W3CDTF">2026-10-17T10:08:45Z</dcterms:created>
  <dcterms:modified xsi:type="dcterms:W3CDTF">2026-10-17T10:08:45Z</dcterms:modified>
</cp:coreProperties>
</file>