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e40c401-e115-85cf-ade2-029f7982ccdd}">
          <p14:sldIdLst>
            <p14:sldId id="256"/>
            <p14:sldId id="257"/>
          </p14:sldIdLst>
        </p14:section>
        <p14:section name="Data" id="{50da60bd-adb1-6bd8-559d-7efac0d481a9}">
          <p14:sldIdLst>
            <p14:sldId id="258"/>
            <p14:sldId id="259"/>
          </p14:sldIdLst>
        </p14:section>
        <p14:section name="Method" id="{1888cbea-d09c-b20f-bd6b-2c141f8dfa31}">
          <p14:sldIdLst>
            <p14:sldId id="260"/>
            <p14:sldId id="261"/>
            <p14:sldId id="262"/>
          </p14:sldIdLst>
        </p14:section>
        <p14:section name="Results" id="{291b6482-b674-3ce8-63c0-0b3892d6437a}">
          <p14:sldIdLst>
            <p14:sldId id="263"/>
            <p14:sldId id="264"/>
            <p14:sldId id="265"/>
            <p14:sldId id="266"/>
            <p14:sldId id="267"/>
          </p14:sldIdLst>
        </p14:section>
        <p14:section name="Detection" id="{c265dccc-5304-0868-fcf6-a98131475601}">
          <p14:sldIdLst>
            <p14:sldId id="268"/>
          </p14:sldIdLst>
        </p14:section>
        <p14:section name="Evaluation" id="{60be202c-190b-4e17-a63c-cd0994abd28d}">
          <p14:sldIdLst>
            <p14:sldId id="269"/>
            <p14:sldId id="270"/>
          </p14:sldIdLst>
        </p14:section>
        <p14:section name="Conclusion" id="{2469ff8e-3756-d58e-a895-03f6d635b814}">
          <p14:sldIdLst>
            <p14:sldId id="271"/>
            <p14:sldId id="272"/>
            <p14:sldId id="273"/>
          </p14:sldIdLst>
        </p14:section>
        <p14:section name="Backup" id="{6cc65e41-7d18-31e3-3197-0676ddd285fe}">
          <p14:sldIdLst>
            <p14:sldId id="274"/>
            <p14:sldId id="275"/>
            <p14:sldId id="276"/>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I am Tes Sothyroth. My project recognises Cambodian traffic signs. A classifier names a cropped sign as one of 26 types; I compared three deep-learning approaches for it. I then added a YOLOv8 detector so the system also works on full street photos, like this real test photo where all four signs are found and named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is image classification: one picture of a sign in, one of 26 sign types out. It is hard because several signs look almost the same, the classes are very unbalanced, some signs are specific to Cambodia, and real road photos are often small or blurry.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images from the dataset: one example per class with its number of crops. 2,766 street photos, 3,070 cropped signs in 26 classes. Notice the imbalance: KM posts have 738 crops, carriage-way-narrows only 29. The dataset is public on Kaggle under Apache 2.0; the link is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split by photo, not by crop, so two signs from the same photo cannot be in training and test. The test set is used only once. All images are resized to 224 by 224; training images get small rotations and colour changes. I do not flip images, because a flipped left bend looks like a right bend.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Path A, for a full street photo: YOLOv8 finds where the signs are, each sign is cropped at full resolution, ResNet-18 decides which of the 26 signs it is, and the web app shows boxes and a results table. Path B: if the user already has a cropped sign, it goes straight to ResNet-18. So YOLO answers where, ResNet-18 answers which.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Classification and detection are different jobs. The classifier answers what sign this is; the detector answers where the signs are. My detector only learns the general class traffic sign, and the classifier names the sign. YOLO can also be trained to classify all 26 classes directly, and the dataset author's own paper did detection with YOLOv8, but I did not test a 26-class YOLO, so I do not claim my two-stage design is better. My reason is that the course task compares classifiers, and the detector extends it to full photos.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Approach 1 is a small CNN I built: three convolution blocks, a pooling layer and two dense layers, trained from random weights. Approaches 2 and 3 use ResNet-18, which already learned edges, shapes and colours on 1.2 million ImageNet photos; that is transfer learning. In approach 2 the pretrained layers are frozen and only the new output layer learns. In approach 3, fine-tuning, every layer keeps learning on the traffic signs.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main result. Every approach used the same data and settings and was tested once on the same 463 test crops. Transfer learning gives the biggest jump: 70 to 92 percent. Fine-tuning all layers raises it to 98 percent, and tuning the learning rate and weight decay on validation data gives the final model: 98.70 percent accuracy and 98.47 percent macro F1. Times are on one Tesla T4 GPU in Colab.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tune the fine-tuned ResNet-18, I tried 4 combinations of learning rate and weight decay and compared them only on validation data. All four reached the same validation accuracy, 453 of 454, so a rule fixed in advance chose the one with the lowest validation loss: config B. On the test set it was 3 images better than the untuned baseline, which is a small, single-seed difference, so I do not over-claim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real training and validation loss curves from my saved runs. SmallCNN underfits: both losses are still high after 40 epochs. The frozen ResNet fits well: the two curves stay close. The fine-tuned final model reaches a very low loss; its validation loss is noisy in early epochs, so training keeps the checkpoint with the best validation result, epoch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confusion matrix of the final model, with a picture of each sign. Rows are the true sign, columns the prediction. Green numbers on the diagonal are correct; red cells are mistakes. 457 of 463 test images are correct, there are only 6 mistakes, and no mistake repeats.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all six mistakes as real images. In the purple ones the model predicts the sign that is really visible, so the dataset label looks wrong; I did not change the metrics for that. The red ones are real model errors: a priority road confused with a cross road, a tiny blurred no-entry sign, and a priority road hidden by branches. The last two have low confidence.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extension. The YOLOv8 detector learns one general class, traffic sign. On the 379 test photos it has 95.6 percent precision and 96.3 percent recall, and mAP at 50 of 97.8 percent. In the full pipeline, 445 of the 463 test signs are both found and correctly named, 96.1 percent. These numbers are from this test set only; they are not a guarantee for every road.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most photos are video frames, some test crops are almost copies of training frames. To check this, I grouped the photos into 20 drives and tested five times, each time on drives the model never saw, with three seeds: 15 runs. Pooled accuracy is 98.31 percent and macro F1 97.24 percent. It is a different test from the 98.70 percent, so it is not a before-and-after comparison. Separating drives does not guarantee separate locations, because some roads were driven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hardest pair is Cross Road versus Priority Road. Both are yellow diamonds with a black cross; Priority Road has a thicker, pointed vertical bar. Cross Road has only 42 images and an F1 of 0.81; 25 times it was predicted as Priority Road. Some of those images look like Priority Road, so label errors may play a role, but I have not verified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a live demo of the local web app. In tab 1 I pick a real test scene, classify the cropped sign, and then show that the whole uncropped photo fails, which is why cropping matters. In tab 2 I run the detector on the street photo from slide 1 and all four signs are found and named. If the app fails, the backup is the demo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Limitations: the original split contains near-duplicate video frames; the grouped test separates drives but not necessarily locations; some signs have very few images; and the model only knows 26 classes, so a STOP sign gets the closest label. Future work answers each of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fine-tuned ResNet-18 reaches 98.70 percent on the original test set; tested on unseen drives, the same recipe reaches 98.31 percent; and with the YOLOv8 detector, 96.1 percent of signs in full street photos are found and named correctly. Transfer learning was the biggest gain. Thank you;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accuracy curves for the three approaches.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the baseline's validation loss rises after epoch 7, while the final model's stays lower, consistent with stronger weight decay (single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all confusions of the grouped evaluation, summed over the three seeds.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per-class results of the grouped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detector settings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training settings shared by all approaches.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ITH">
    <p:bg>
      <p:bgPr>
        <a:solidFill>
          <a:srgbClr val="FFFFFF"/>
        </a:solidFill>
      </p:bgPr>
    </p:bg>
    <p:spTree>
      <p:nvGrpSpPr>
        <p:cNvPr id="1" name=""/>
        <p:cNvGrpSpPr/>
        <p:nvPr/>
      </p:nvGrpSpPr>
      <p:grpSpPr>
        <a:xfrm>
          <a:off x="0" y="0"/>
          <a:ext cx="0" cy="0"/>
          <a:chOff x="0" y="0"/>
          <a:chExt cx="0" cy="0"/>
        </a:xfrm>
      </p:grpSpPr>
      <p:pic>
        <p:nvPicPr>
          <p:cNvPr id="2" name="Image 0" descr="C:/Users/ASUSG1~1/AppData/Local/Temp/claude/C--Users-ASUS-G-16-JVR-Desktop-deepLearning-CNN/ddb4b7a1-b5ad-4432-b312-271443ec143d/scratchpad/deck_v3/assets/kith_logo.png">    </p:cNvPr>
          <p:cNvPicPr>
            <a:picLocks noChangeAspect="1"/>
          </p:cNvPicPr>
          <p:nvPr/>
        </p:nvPicPr>
        <p:blipFill>
          <a:blip r:embed="rId1"/>
          <a:stretch>
            <a:fillRect/>
          </a:stretch>
        </p:blipFill>
        <p:spPr>
          <a:xfrm>
            <a:off x="457200" y="182880"/>
            <a:ext cx="822960" cy="548640"/>
          </a:xfrm>
          <a:prstGeom prst="rect">
            <a:avLst/>
          </a:prstGeom>
        </p:spPr>
      </p:pic>
      <p:sp>
        <p:nvSpPr>
          <p:cNvPr id="3" name="Shape 0"/>
          <p:cNvSpPr/>
          <p:nvPr/>
        </p:nvSpPr>
        <p:spPr>
          <a:xfrm>
            <a:off x="457200" y="886968"/>
            <a:ext cx="11274552" cy="0"/>
          </a:xfrm>
          <a:prstGeom prst="line">
            <a:avLst/>
          </a:prstGeom>
          <a:noFill/>
          <a:ln w="12700">
            <a:solidFill>
              <a:srgbClr val="0B5A3C"/>
            </a:solidFill>
            <a:prstDash val="solid"/>
          </a:ln>
        </p:spPr>
      </p:sp>
      <p:sp>
        <p:nvSpPr>
          <p:cNvPr id="4" name="Shape 1"/>
          <p:cNvSpPr/>
          <p:nvPr/>
        </p:nvSpPr>
        <p:spPr>
          <a:xfrm>
            <a:off x="0" y="6528816"/>
            <a:ext cx="12191695" cy="329184"/>
          </a:xfrm>
          <a:prstGeom prst="rect">
            <a:avLst/>
          </a:prstGeom>
          <a:solidFill>
            <a:srgbClr val="084C32"/>
          </a:solidFill>
          <a:ln w="12700">
            <a:solidFill>
              <a:srgbClr val="084C32"/>
            </a:solidFill>
            <a:prstDash val="solid"/>
          </a:ln>
        </p:spPr>
      </p:sp>
      <p:sp>
        <p:nvSpPr>
          <p:cNvPr id="5" name="Text 2"/>
          <p:cNvSpPr/>
          <p:nvPr/>
        </p:nvSpPr>
        <p:spPr>
          <a:xfrm>
            <a:off x="365760" y="6528816"/>
            <a:ext cx="5486400" cy="329184"/>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Tes Sothyroth · Deep Learning final project</a:t>
            </a:r>
            <a:endParaRPr lang="en-US" sz="1100" dirty="0"/>
          </a:p>
        </p:txBody>
      </p:sp>
      <p:sp>
        <p:nvSpPr>
          <p:cNvPr id="6" name="Text 3"/>
          <p:cNvSpPr/>
          <p:nvPr/>
        </p:nvSpPr>
        <p:spPr>
          <a:xfrm>
            <a:off x="6858000" y="6528816"/>
            <a:ext cx="4965192" cy="329184"/>
          </a:xfrm>
          <a:prstGeom prst="rect">
            <a:avLst/>
          </a:prstGeom>
          <a:noFill/>
          <a:ln/>
        </p:spPr>
        <p:txBody>
          <a:bodyPr wrap="square" lIns="0" tIns="0" rIns="0" bIns="0" rtlCol="0" anchor="ctr"/>
          <a:lstStyle/>
          <a:p>
            <a:pPr algn="r" indent="0" marL="0">
              <a:buNone/>
            </a:pPr>
            <a:r>
              <a:rPr lang="en-US" sz="1100" dirty="0">
                <a:solidFill>
                  <a:srgbClr val="FFFFFF"/>
                </a:solidFill>
                <a:latin typeface="Arial" pitchFamily="34" charset="0"/>
                <a:ea typeface="Arial" pitchFamily="34" charset="-122"/>
                <a:cs typeface="Arial" pitchFamily="34" charset="-120"/>
              </a:rPr>
              <a:t>Kirirom Institute of Technology</a:t>
            </a:r>
            <a:endParaRPr lang="en-US" sz="1100" dirty="0"/>
          </a:p>
        </p:txBody>
      </p:sp>
      <p:sp>
        <p:nvSpPr>
          <p:cNvPr id="7" name="Text 4"/>
          <p:cNvSpPr/>
          <p:nvPr>
            <p:ph idx="105" type="title" hasCustomPrompt="1"/>
          </p:nvPr>
        </p:nvSpPr>
        <p:spPr>
          <a:xfrm>
            <a:off x="1463040" y="155448"/>
            <a:ext cx="9262872" cy="621792"/>
          </a:xfrm>
          <a:prstGeom prst="rect">
            <a:avLst/>
          </a:prstGeom>
          <a:noFill/>
          <a:ln/>
        </p:spPr>
        <p:txBody>
          <a:bodyPr wrap="square" rtlCol="0"/>
          <a:lstStyle>
            <a:lvl1pPr algn="ctr" indent="0" marL="0">
              <a:buNone/>
              <a:defRPr lang="en-US" sz="3000" b="1" dirty="0">
                <a:solidFill>
                  <a:srgbClr val="0B5A3C"/>
                </a:solidFill>
                <a:latin typeface="Arial" pitchFamily="34" charset="0"/>
                <a:ea typeface="Arial" pitchFamily="34" charset="-122"/>
                <a:cs typeface="Arial" pitchFamily="34" charset="-120"/>
              </a:defRPr>
            </a:lvl1pPr>
          </a:lstStyle>
          <a:p>
            <a:pPr algn="ctr" indent="0" marL="0">
              <a:buNone/>
            </a:pPr>
            <a:endParaRPr lang="en-US" sz="3000" dirty="0"/>
          </a:p>
        </p:txBody>
      </p:sp>
      <p:sp>
        <p:nvSpPr>
          <p:cNvPr id="25" name="Slide Number Placeholder 0"/>
          <p:cNvSpPr>
            <a:spLocks noGrp="1"/>
          </p:cNvSpPr>
          <p:nvPr>
            <p:ph type="sldNum" sz="quarter" idx="4294967295"/>
          </p:nvPr>
        </p:nvSpPr>
        <p:spPr>
          <a:xfrm>
            <a:off x="5733288" y="65562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733288" y="65562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hyperlink" Target="https://www.kaggle.com/datasets/sophalratitya/cambodia-traffic-signs-dataset" TargetMode="External"/><Relationship Id="rId1" Type="http://schemas.openxmlformats.org/officeDocument/2006/relationships/image" Target="../media/image-3-1.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2.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github.com/RothRothRoth/DeepLearning_CNN" TargetMode="External"/><Relationship Id="rId2" Type="http://schemas.openxmlformats.org/officeDocument/2006/relationships/hyperlink" Target="https://www.kaggle.com/datasets/sophalratitya/cambodia-traffic-signs-dataset" TargetMode="External"/><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1097280"/>
            <a:ext cx="5852160" cy="1371600"/>
          </a:xfrm>
          <a:prstGeom prst="rect">
            <a:avLst/>
          </a:prstGeom>
          <a:noFill/>
          <a:ln/>
        </p:spPr>
        <p:txBody>
          <a:bodyPr wrap="square" lIns="0" tIns="0" rIns="0" bIns="0" rtlCol="0" anchor="t"/>
          <a:lstStyle/>
          <a:p>
            <a:pPr indent="0" marL="0">
              <a:buNone/>
            </a:pPr>
            <a:r>
              <a:rPr lang="en-US" sz="3800" b="1" dirty="0">
                <a:solidFill>
                  <a:srgbClr val="0B5A3C"/>
                </a:solidFill>
                <a:latin typeface="Arial" pitchFamily="34" charset="0"/>
                <a:ea typeface="Arial" pitchFamily="34" charset="-122"/>
                <a:cs typeface="Arial" pitchFamily="34" charset="-120"/>
              </a:rPr>
              <a:t>Cambodian Traffic Sign Recognition</a:t>
            </a:r>
            <a:endParaRPr lang="en-US" sz="3800" dirty="0"/>
          </a:p>
        </p:txBody>
      </p:sp>
      <p:sp>
        <p:nvSpPr>
          <p:cNvPr id="3" name="Text 1"/>
          <p:cNvSpPr txBox="1"/>
          <p:nvPr/>
        </p:nvSpPr>
        <p:spPr>
          <a:xfrm>
            <a:off x="457200" y="2514600"/>
            <a:ext cx="5669280" cy="868680"/>
          </a:xfrm>
          <a:prstGeom prst="rect">
            <a:avLst/>
          </a:prstGeom>
          <a:noFill/>
          <a:ln/>
        </p:spPr>
        <p:txBody>
          <a:bodyPr wrap="square" lIns="0" tIns="0" rIns="0" bIns="0" rtlCol="0" anchor="t"/>
          <a:lstStyle/>
          <a:p>
            <a:pPr indent="0" marL="0">
              <a:buNone/>
            </a:pPr>
            <a:r>
              <a:rPr lang="en-US" sz="1900" dirty="0">
                <a:solidFill>
                  <a:srgbClr val="0B5A3C"/>
                </a:solidFill>
                <a:latin typeface="Arial" pitchFamily="34" charset="0"/>
                <a:ea typeface="Arial" pitchFamily="34" charset="-122"/>
                <a:cs typeface="Arial" pitchFamily="34" charset="-120"/>
              </a:rPr>
              <a:t>Deep learning with CNN and ResNet-18, plus YOLOv8 to find signs in street photos</a:t>
            </a:r>
            <a:endParaRPr lang="en-US" sz="1900" dirty="0"/>
          </a:p>
        </p:txBody>
      </p:sp>
      <p:sp>
        <p:nvSpPr>
          <p:cNvPr id="4" name="Text 2"/>
          <p:cNvSpPr txBox="1"/>
          <p:nvPr/>
        </p:nvSpPr>
        <p:spPr>
          <a:xfrm>
            <a:off x="457200" y="3703320"/>
            <a:ext cx="5669280" cy="2377440"/>
          </a:xfrm>
          <a:prstGeom prst="rect">
            <a:avLst/>
          </a:prstGeom>
          <a:noFill/>
          <a:ln/>
        </p:spPr>
        <p:txBody>
          <a:bodyPr wrap="square" lIns="0" tIns="0" rIns="0" bIns="0" rtlCol="0" anchor="t"/>
          <a:lstStyle/>
          <a:p>
            <a:pPr indent="0" marL="0">
              <a:spcAft>
                <a:spcPts val="600"/>
              </a:spcAft>
              <a:buNone/>
            </a:pPr>
            <a:r>
              <a:rPr lang="en-US" sz="1800" dirty="0">
                <a:solidFill>
                  <a:srgbClr val="111111"/>
                </a:solidFill>
                <a:latin typeface="Arial" pitchFamily="34" charset="0"/>
                <a:ea typeface="Arial" pitchFamily="34" charset="-122"/>
                <a:cs typeface="Arial" pitchFamily="34" charset="-120"/>
              </a:rPr>
              <a:t>Presenter: Tes Sothyroth</a:t>
            </a:r>
            <a:endParaRPr lang="en-US" sz="1800" dirty="0"/>
          </a:p>
          <a:p>
            <a:pPr indent="0" marL="0">
              <a:spcAft>
                <a:spcPts val="600"/>
              </a:spcAft>
              <a:buNone/>
            </a:pPr>
            <a:r>
              <a:rPr lang="en-US" sz="1800" dirty="0">
                <a:solidFill>
                  <a:srgbClr val="111111"/>
                </a:solidFill>
                <a:latin typeface="Arial" pitchFamily="34" charset="0"/>
                <a:ea typeface="Arial" pitchFamily="34" charset="-122"/>
                <a:cs typeface="Arial" pitchFamily="34" charset="-120"/>
              </a:rPr>
              <a:t>Student ID: 1702250028</a:t>
            </a:r>
            <a:endParaRPr lang="en-US" sz="1800" dirty="0"/>
          </a:p>
          <a:p>
            <a:pPr indent="0" marL="0">
              <a:spcAft>
                <a:spcPts val="600"/>
              </a:spcAft>
              <a:buNone/>
            </a:pPr>
            <a:r>
              <a:rPr lang="en-US" sz="1800" dirty="0">
                <a:solidFill>
                  <a:srgbClr val="111111"/>
                </a:solidFill>
                <a:latin typeface="Arial" pitchFamily="34" charset="0"/>
                <a:ea typeface="Arial" pitchFamily="34" charset="-122"/>
                <a:cs typeface="Arial" pitchFamily="34" charset="-120"/>
              </a:rPr>
              <a:t>Course: Deep Learning · Lecturer: Him Soklong</a:t>
            </a:r>
            <a:endParaRPr lang="en-US" sz="1800" dirty="0"/>
          </a:p>
          <a:p>
            <a:pPr indent="0" marL="0">
              <a:spcAft>
                <a:spcPts val="600"/>
              </a:spcAft>
              <a:buNone/>
            </a:pPr>
            <a:r>
              <a:rPr lang="en-US" sz="1800" dirty="0">
                <a:solidFill>
                  <a:srgbClr val="111111"/>
                </a:solidFill>
                <a:latin typeface="Arial" pitchFamily="34" charset="0"/>
                <a:ea typeface="Arial" pitchFamily="34" charset="-122"/>
                <a:cs typeface="Arial" pitchFamily="34" charset="-120"/>
              </a:rPr>
              <a:t>Kirirom Institute of Technology</a:t>
            </a:r>
            <a:endParaRPr lang="en-US" sz="1800" dirty="0"/>
          </a:p>
          <a:p>
            <a:pPr indent="0" marL="0">
              <a:spcAft>
                <a:spcPts val="600"/>
              </a:spcAft>
              <a:buNone/>
            </a:pPr>
            <a:r>
              <a:rPr lang="en-US" sz="1800" dirty="0">
                <a:solidFill>
                  <a:srgbClr val="111111"/>
                </a:solidFill>
                <a:latin typeface="Arial" pitchFamily="34" charset="0"/>
                <a:ea typeface="Arial" pitchFamily="34" charset="-122"/>
                <a:cs typeface="Arial" pitchFamily="34" charset="-120"/>
              </a:rPr>
              <a:t>Date: [presentation date]</a:t>
            </a:r>
            <a:endParaRPr lang="en-US" sz="1800" dirty="0"/>
          </a:p>
        </p:txBody>
      </p:sp>
      <p:pic>
        <p:nvPicPr>
          <p:cNvPr id="5" name="Image 0" descr="C:/Users/ASUSG1~1/AppData/Local/Temp/claude/C--Users-ASUS-G-16-JVR-Desktop-deepLearning-CNN/ddb4b7a1-b5ad-4432-b312-271443ec143d/scratchpad/deck_v3/assets/pipeline_photo.jpg">    </p:cNvPr>
          <p:cNvPicPr>
            <a:picLocks noChangeAspect="1"/>
          </p:cNvPicPr>
          <p:nvPr/>
        </p:nvPicPr>
        <p:blipFill>
          <a:blip r:embed="rId1"/>
          <a:stretch>
            <a:fillRect/>
          </a:stretch>
        </p:blipFill>
        <p:spPr>
          <a:xfrm>
            <a:off x="6446520" y="1759648"/>
            <a:ext cx="5285232" cy="2972943"/>
          </a:xfrm>
          <a:prstGeom prst="rect">
            <a:avLst/>
          </a:prstGeom>
        </p:spPr>
      </p:pic>
      <p:sp>
        <p:nvSpPr>
          <p:cNvPr id="6" name="Text 3"/>
          <p:cNvSpPr txBox="1"/>
          <p:nvPr/>
        </p:nvSpPr>
        <p:spPr>
          <a:xfrm>
            <a:off x="6446520" y="4709160"/>
            <a:ext cx="5285232" cy="685800"/>
          </a:xfrm>
          <a:prstGeom prst="rect">
            <a:avLst/>
          </a:prstGeom>
          <a:noFill/>
          <a:ln/>
        </p:spPr>
        <p:txBody>
          <a:bodyPr wrap="square" lIns="0" tIns="0" rIns="0" bIns="0" rtlCol="0" anchor="t"/>
          <a:lstStyle/>
          <a:p>
            <a:pPr algn="ctr" indent="0" marL="0">
              <a:buNone/>
            </a:pPr>
            <a:r>
              <a:rPr lang="en-US" sz="1500" dirty="0">
                <a:solidFill>
                  <a:srgbClr val="4A4A4A"/>
                </a:solidFill>
                <a:latin typeface="Arial" pitchFamily="34" charset="0"/>
                <a:ea typeface="Arial" pitchFamily="34" charset="-122"/>
                <a:cs typeface="Arial" pitchFamily="34" charset="-120"/>
              </a:rPr>
              <a:t>A real test photo: YOLOv8 finds 4 signs (yellow boxes), ResNet-18 names all 4 correctly.</a:t>
            </a:r>
            <a:endParaRPr lang="en-US" sz="1500" dirty="0"/>
          </a:p>
        </p:txBody>
      </p:sp>
      <p:sp>
        <p:nvSpPr>
          <p:cNvPr id="8" name="Text 4"/>
          <p:cNvSpPr/>
          <p:nvPr>
            <p:ph idx="105" type="title" hasCustomPrompt="1"/>
          </p:nvPr>
        </p:nvSpPr>
        <p:spPr>
          <a:xfrm>
            <a:off x="1463040" y="155448"/>
            <a:ext cx="9262872" cy="621792"/>
          </a:xfrm>
          <a:prstGeom prst="rect">
            <a:avLst/>
          </a:prstGeom>
          <a:noFill/>
          <a:ln/>
        </p:spPr>
        <p:txBody>
          <a:bodyPr wrap="square" lIns="0" tIns="0" rIns="0" bIns="0" rtlCol="0" anchor="ctr"/>
          <a:lstStyle/>
          <a:p>
            <a:pPr algn="ctr" indent="0" marL="0">
              <a:buNone/>
            </a:pPr>
            <a:endParaRPr lang="en-US" sz="3000" dirty="0"/>
          </a:p>
        </p:txBody>
      </p:sp>
      <p:sp>
        <p:nvSpPr>
          <p:cNvPr id="25" name="Slide Number Placeholder 0"/>
          <p:cNvSpPr>
            <a:spLocks noGrp="1"/>
          </p:cNvSpPr>
          <p:nvPr>
            <p:ph type="sldNum" sz="quarter" idx="4294967295"/>
          </p:nvPr>
        </p:nvSpPr>
        <p:spPr>
          <a:xfrm>
            <a:off x="5733288" y="65562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4"/>
          <p:cNvSpPr/>
          <p:nvPr>
            <p:ph idx="105" type="title" hasCustomPrompt="1"/>
          </p:nvPr>
        </p:nvSpPr>
        <p:spPr>
          <a:xfrm>
            <a:off x="1463040" y="155448"/>
            <a:ext cx="9262872" cy="621792"/>
          </a:xfrm>
          <a:prstGeom prst="rect">
            <a:avLst/>
          </a:prstGeom>
          <a:noFill/>
          <a:ln/>
        </p:spPr>
        <p:txBody>
          <a:bodyPr wrap="square" lIns="0" tIns="0" rIns="0" bIns="0" rtlCol="0" anchor="ctr"/>
          <a:lstStyle/>
          <a:p>
            <a:pPr algn="ctr" indent="0" marL="0">
              <a:buNone/>
            </a:pPr>
            <a:r>
              <a:rPr lang="en-US" sz="3000" b="1" dirty="0">
                <a:solidFill>
                  <a:srgbClr val="0B5A3C"/>
                </a:solidFill>
                <a:latin typeface="Arial" pitchFamily="34" charset="0"/>
                <a:ea typeface="Arial" pitchFamily="34" charset="-122"/>
                <a:cs typeface="Arial" pitchFamily="34" charset="-120"/>
              </a:rPr>
              <a:t>The Problem</a:t>
            </a:r>
            <a:endParaRPr lang="en-US" sz="3000" dirty="0"/>
          </a:p>
        </p:txBody>
      </p:sp>
      <p:sp>
        <p:nvSpPr>
          <p:cNvPr id="3" name="Text 1"/>
          <p:cNvSpPr txBox="1"/>
          <p:nvPr/>
        </p:nvSpPr>
        <p:spPr>
          <a:xfrm>
            <a:off x="457200" y="1005840"/>
            <a:ext cx="11274552" cy="365760"/>
          </a:xfrm>
          <a:prstGeom prst="rect">
            <a:avLst/>
          </a:prstGeom>
          <a:noFill/>
          <a:ln/>
        </p:spPr>
        <p:txBody>
          <a:bodyPr wrap="square" lIns="0" tIns="0" rIns="0" bIns="0" rtlCol="0" anchor="t"/>
          <a:lstStyle/>
          <a:p>
            <a:pPr indent="0" marL="0">
              <a:buNone/>
            </a:pPr>
            <a:r>
              <a:rPr lang="en-US" sz="1700" dirty="0">
                <a:solidFill>
                  <a:srgbClr val="4A4A4A"/>
                </a:solidFill>
                <a:latin typeface="Arial" pitchFamily="34" charset="0"/>
                <a:ea typeface="Arial" pitchFamily="34" charset="-122"/>
                <a:cs typeface="Arial" pitchFamily="34" charset="-120"/>
              </a:rPr>
              <a:t>Given an image of a traffic sign, which of 26 Cambodian sign types is it?</a:t>
            </a:r>
            <a:endParaRPr lang="en-US" sz="1700" dirty="0"/>
          </a:p>
        </p:txBody>
      </p:sp>
      <p:sp>
        <p:nvSpPr>
          <p:cNvPr id="4" name="Shape 2"/>
          <p:cNvSpPr/>
          <p:nvPr/>
        </p:nvSpPr>
        <p:spPr>
          <a:xfrm>
            <a:off x="457200" y="1645920"/>
            <a:ext cx="5120640" cy="4069080"/>
          </a:xfrm>
          <a:prstGeom prst="roundRect">
            <a:avLst>
              <a:gd name="adj" fmla="val 1798"/>
            </a:avLst>
          </a:prstGeom>
          <a:solidFill>
            <a:srgbClr val="F2F7F4"/>
          </a:solidFill>
          <a:ln w="9525">
            <a:solidFill>
              <a:srgbClr val="F2F7F4"/>
            </a:solidFill>
            <a:prstDash val="solid"/>
          </a:ln>
        </p:spPr>
      </p:sp>
      <p:pic>
        <p:nvPicPr>
          <p:cNvPr id="5" name="Image 0" descr="C:/Users/ASUSG1~1/AppData/Local/Temp/claude/C--Users-ASUS-G-16-JVR-Desktop-deepLearning-CNN/ddb4b7a1-b5ad-4432-b312-271443ec143d/scratchpad/deck_v3/assets/pipeline_crop_2.png">    </p:cNvPr>
          <p:cNvPicPr>
            <a:picLocks noChangeAspect="1"/>
          </p:cNvPicPr>
          <p:nvPr/>
        </p:nvPicPr>
        <p:blipFill>
          <a:blip r:embed="rId1"/>
          <a:stretch>
            <a:fillRect/>
          </a:stretch>
        </p:blipFill>
        <p:spPr>
          <a:xfrm>
            <a:off x="731520" y="1874520"/>
            <a:ext cx="1828800" cy="1828800"/>
          </a:xfrm>
          <a:prstGeom prst="rect">
            <a:avLst/>
          </a:prstGeom>
        </p:spPr>
      </p:pic>
      <p:sp>
        <p:nvSpPr>
          <p:cNvPr id="6" name="Shape 3"/>
          <p:cNvSpPr/>
          <p:nvPr/>
        </p:nvSpPr>
        <p:spPr>
          <a:xfrm>
            <a:off x="2697480" y="2788920"/>
            <a:ext cx="594360" cy="914"/>
          </a:xfrm>
          <a:prstGeom prst="line">
            <a:avLst/>
          </a:prstGeom>
          <a:noFill/>
          <a:ln w="31750">
            <a:solidFill>
              <a:srgbClr val="0B5A3C"/>
            </a:solidFill>
            <a:prstDash val="solid"/>
            <a:tailEnd type="triangle"/>
          </a:ln>
        </p:spPr>
      </p:sp>
      <p:sp>
        <p:nvSpPr>
          <p:cNvPr id="7" name="Shape 4"/>
          <p:cNvSpPr/>
          <p:nvPr/>
        </p:nvSpPr>
        <p:spPr>
          <a:xfrm>
            <a:off x="3383280" y="2286000"/>
            <a:ext cx="1965960" cy="1005840"/>
          </a:xfrm>
          <a:prstGeom prst="roundRect">
            <a:avLst>
              <a:gd name="adj" fmla="val 7273"/>
            </a:avLst>
          </a:prstGeom>
          <a:solidFill>
            <a:srgbClr val="0B5A3C"/>
          </a:solidFill>
          <a:ln w="15875">
            <a:solidFill>
              <a:srgbClr val="0B5A3C"/>
            </a:solidFill>
            <a:prstDash val="solid"/>
          </a:ln>
        </p:spPr>
      </p:sp>
      <p:sp>
        <p:nvSpPr>
          <p:cNvPr id="8" name="Text 5"/>
          <p:cNvSpPr txBox="1"/>
          <p:nvPr/>
        </p:nvSpPr>
        <p:spPr>
          <a:xfrm>
            <a:off x="3429000" y="2286000"/>
            <a:ext cx="1874520" cy="100584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Classifier</a:t>
            </a:r>
            <a:endParaRPr lang="en-US" sz="1700" dirty="0"/>
          </a:p>
          <a:p>
            <a:pPr algn="ctr" indent="0" marL="0">
              <a:buNone/>
            </a:pPr>
            <a:r>
              <a:rPr lang="en-US" sz="1400" dirty="0">
                <a:solidFill>
                  <a:srgbClr val="FFFFFF"/>
                </a:solidFill>
                <a:latin typeface="Arial" pitchFamily="34" charset="0"/>
                <a:ea typeface="Arial" pitchFamily="34" charset="-122"/>
                <a:cs typeface="Arial" pitchFamily="34" charset="-120"/>
              </a:rPr>
              <a:t>deep neural network</a:t>
            </a:r>
            <a:endParaRPr lang="en-US" sz="1700" dirty="0"/>
          </a:p>
        </p:txBody>
      </p:sp>
      <p:sp>
        <p:nvSpPr>
          <p:cNvPr id="9" name="Text 6"/>
          <p:cNvSpPr txBox="1"/>
          <p:nvPr/>
        </p:nvSpPr>
        <p:spPr>
          <a:xfrm>
            <a:off x="731520" y="4069080"/>
            <a:ext cx="4572000" cy="1005840"/>
          </a:xfrm>
          <a:prstGeom prst="rect">
            <a:avLst/>
          </a:prstGeom>
          <a:noFill/>
          <a:ln/>
        </p:spPr>
        <p:txBody>
          <a:bodyPr wrap="square" lIns="0" tIns="0" rIns="0" bIns="0" rtlCol="0" anchor="ctr"/>
          <a:lstStyle/>
          <a:p>
            <a:pPr algn="ctr" indent="0" marL="0">
              <a:buNone/>
            </a:pPr>
            <a:r>
              <a:rPr lang="en-US" sz="2600" b="1" dirty="0">
                <a:solidFill>
                  <a:srgbClr val="0B5A3C"/>
                </a:solidFill>
                <a:latin typeface="Arial" pitchFamily="34" charset="0"/>
                <a:ea typeface="Arial" pitchFamily="34" charset="-122"/>
                <a:cs typeface="Arial" pitchFamily="34" charset="-120"/>
              </a:rPr>
              <a:t>Keep Right</a:t>
            </a:r>
            <a:endParaRPr lang="en-US" sz="2600" dirty="0"/>
          </a:p>
          <a:p>
            <a:pPr algn="ctr" indent="0" marL="0">
              <a:buNone/>
            </a:pPr>
            <a:r>
              <a:rPr lang="en-US" sz="1800" dirty="0">
                <a:solidFill>
                  <a:srgbClr val="4A4A4A"/>
                </a:solidFill>
                <a:latin typeface="Arial" pitchFamily="34" charset="0"/>
                <a:ea typeface="Arial" pitchFamily="34" charset="-122"/>
                <a:cs typeface="Arial" pitchFamily="34" charset="-120"/>
              </a:rPr>
              <a:t>confidence 99.8%</a:t>
            </a:r>
            <a:endParaRPr lang="en-US" sz="2600" dirty="0"/>
          </a:p>
        </p:txBody>
      </p:sp>
      <p:sp>
        <p:nvSpPr>
          <p:cNvPr id="10" name="Text 7"/>
          <p:cNvSpPr txBox="1"/>
          <p:nvPr/>
        </p:nvSpPr>
        <p:spPr>
          <a:xfrm>
            <a:off x="5989320" y="1645920"/>
            <a:ext cx="5669280" cy="457200"/>
          </a:xfrm>
          <a:prstGeom prst="rect">
            <a:avLst/>
          </a:prstGeom>
          <a:noFill/>
          <a:ln/>
        </p:spPr>
        <p:txBody>
          <a:bodyPr wrap="square" lIns="508" tIns="508" rIns="508" bIns="508" rtlCol="0" anchor="t"/>
          <a:lstStyle/>
          <a:p>
            <a:pPr indent="0" marL="0">
              <a:buNone/>
            </a:pPr>
            <a:r>
              <a:rPr lang="en-US" sz="2400" b="1" dirty="0">
                <a:solidFill>
                  <a:srgbClr val="0B5A3C"/>
                </a:solidFill>
                <a:latin typeface="Arial" pitchFamily="34" charset="0"/>
                <a:ea typeface="Arial" pitchFamily="34" charset="-122"/>
                <a:cs typeface="Arial" pitchFamily="34" charset="-120"/>
              </a:rPr>
              <a:t>Why it is hard</a:t>
            </a:r>
            <a:endParaRPr lang="en-US" sz="2400" dirty="0"/>
          </a:p>
        </p:txBody>
      </p:sp>
      <p:sp>
        <p:nvSpPr>
          <p:cNvPr id="11" name="Text 8"/>
          <p:cNvSpPr txBox="1"/>
          <p:nvPr/>
        </p:nvSpPr>
        <p:spPr>
          <a:xfrm>
            <a:off x="5989320" y="2194560"/>
            <a:ext cx="5715000" cy="3566160"/>
          </a:xfrm>
          <a:prstGeom prst="rect">
            <a:avLst/>
          </a:prstGeom>
          <a:noFill/>
          <a:ln/>
        </p:spPr>
        <p:txBody>
          <a:bodyPr wrap="square" lIns="635" tIns="635" rIns="635" bIns="635" rtlCol="0" anchor="t"/>
          <a:lstStyle/>
          <a:p>
            <a:pPr marL="279400" indent="-279400">
              <a:spcAft>
                <a:spcPts val="1000"/>
              </a:spcAft>
              <a:buSzPct val="100000"/>
              <a:buChar char="•"/>
            </a:pPr>
            <a:r>
              <a:rPr lang="en-US" sz="2000" b="1" dirty="0">
                <a:solidFill>
                  <a:srgbClr val="111111"/>
                </a:solidFill>
                <a:latin typeface="Arial" pitchFamily="34" charset="0"/>
                <a:ea typeface="Arial" pitchFamily="34" charset="-122"/>
                <a:cs typeface="Arial" pitchFamily="34" charset="-120"/>
              </a:rPr>
              <a:t>26 classes, many look alike: </a:t>
            </a:r>
            <a:pPr indent="0" marL="0">
              <a:spcAft>
                <a:spcPts val="1000"/>
              </a:spcAft>
              <a:buNone/>
            </a:pPr>
            <a:r>
              <a:rPr lang="en-US" sz="2000" dirty="0">
                <a:solidFill>
                  <a:srgbClr val="111111"/>
                </a:solidFill>
                <a:latin typeface="Arial" pitchFamily="34" charset="0"/>
                <a:ea typeface="Arial" pitchFamily="34" charset="-122"/>
                <a:cs typeface="Arial" pitchFamily="34" charset="-120"/>
              </a:rPr>
              <a:t>left vs. right bend, 30 / 40 / 60 / 80 speed limits</a:t>
            </a:r>
            <a:endParaRPr lang="en-US" sz="2000" dirty="0"/>
          </a:p>
          <a:p>
            <a:pPr marL="279400" indent="-279400">
              <a:spcAft>
                <a:spcPts val="1000"/>
              </a:spcAft>
              <a:buSzPct val="100000"/>
              <a:buChar char="•"/>
            </a:pPr>
            <a:r>
              <a:rPr lang="en-US" sz="2000" b="1" dirty="0">
                <a:solidFill>
                  <a:srgbClr val="111111"/>
                </a:solidFill>
                <a:latin typeface="Arial" pitchFamily="34" charset="0"/>
                <a:ea typeface="Arial" pitchFamily="34" charset="-122"/>
                <a:cs typeface="Arial" pitchFamily="34" charset="-120"/>
              </a:rPr>
              <a:t>Unbalanced data: </a:t>
            </a:r>
            <a:pPr indent="0" marL="0">
              <a:spcAft>
                <a:spcPts val="1000"/>
              </a:spcAft>
              <a:buNone/>
            </a:pPr>
            <a:r>
              <a:rPr lang="en-US" sz="2000" dirty="0">
                <a:solidFill>
                  <a:srgbClr val="111111"/>
                </a:solidFill>
                <a:latin typeface="Arial" pitchFamily="34" charset="0"/>
                <a:ea typeface="Arial" pitchFamily="34" charset="-122"/>
                <a:cs typeface="Arial" pitchFamily="34" charset="-120"/>
              </a:rPr>
              <a:t>from 29 to 738 images per class</a:t>
            </a:r>
            <a:endParaRPr lang="en-US" sz="2000" dirty="0"/>
          </a:p>
          <a:p>
            <a:pPr marL="279400" indent="-279400">
              <a:spcAft>
                <a:spcPts val="1000"/>
              </a:spcAft>
              <a:buSzPct val="100000"/>
              <a:buChar char="•"/>
            </a:pPr>
            <a:r>
              <a:rPr lang="en-US" sz="2000" b="1" dirty="0">
                <a:solidFill>
                  <a:srgbClr val="111111"/>
                </a:solidFill>
                <a:latin typeface="Arial" pitchFamily="34" charset="0"/>
                <a:ea typeface="Arial" pitchFamily="34" charset="-122"/>
                <a:cs typeface="Arial" pitchFamily="34" charset="-120"/>
              </a:rPr>
              <a:t>Cambodia-specific signs, </a:t>
            </a:r>
            <a:pPr indent="0" marL="0">
              <a:spcAft>
                <a:spcPts val="1000"/>
              </a:spcAft>
              <a:buNone/>
            </a:pPr>
            <a:r>
              <a:rPr lang="en-US" sz="2000" dirty="0">
                <a:solidFill>
                  <a:srgbClr val="111111"/>
                </a:solidFill>
                <a:latin typeface="Arial" pitchFamily="34" charset="0"/>
                <a:ea typeface="Arial" pitchFamily="34" charset="-122"/>
                <a:cs typeface="Arial" pitchFamily="34" charset="-120"/>
              </a:rPr>
              <a:t>e.g. kilometre posts with Khmer text</a:t>
            </a:r>
            <a:endParaRPr lang="en-US" sz="2000" dirty="0"/>
          </a:p>
          <a:p>
            <a:pPr marL="279400" indent="-279400">
              <a:spcAft>
                <a:spcPts val="1000"/>
              </a:spcAft>
              <a:buSzPct val="100000"/>
              <a:buChar char="•"/>
            </a:pPr>
            <a:r>
              <a:rPr lang="en-US" sz="2000" b="1" dirty="0">
                <a:solidFill>
                  <a:srgbClr val="111111"/>
                </a:solidFill>
                <a:latin typeface="Arial" pitchFamily="34" charset="0"/>
                <a:ea typeface="Arial" pitchFamily="34" charset="-122"/>
                <a:cs typeface="Arial" pitchFamily="34" charset="-120"/>
              </a:rPr>
              <a:t>Real roads: </a:t>
            </a:r>
            <a:pPr indent="0" marL="0">
              <a:spcAft>
                <a:spcPts val="1000"/>
              </a:spcAft>
              <a:buNone/>
            </a:pPr>
            <a:r>
              <a:rPr lang="en-US" sz="2000" dirty="0">
                <a:solidFill>
                  <a:srgbClr val="111111"/>
                </a:solidFill>
                <a:latin typeface="Arial" pitchFamily="34" charset="0"/>
                <a:ea typeface="Arial" pitchFamily="34" charset="-122"/>
                <a:cs typeface="Arial" pitchFamily="34" charset="-120"/>
              </a:rPr>
              <a:t>small, blurred or partly hidden signs</a:t>
            </a:r>
            <a:endParaRPr lang="en-US" sz="2000" dirty="0"/>
          </a:p>
        </p:txBody>
      </p:sp>
      <p:sp>
        <p:nvSpPr>
          <p:cNvPr id="25" name="Slide Number Placeholder 0"/>
          <p:cNvSpPr>
            <a:spLocks noGrp="1"/>
          </p:cNvSpPr>
          <p:nvPr>
            <p:ph type="sldNum" sz="quarter" idx="4294967295"/>
          </p:nvPr>
        </p:nvSpPr>
        <p:spPr>
          <a:xfrm>
            <a:off x="5733288" y="65562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4"/>
          <p:cNvSpPr/>
          <p:nvPr>
            <p:ph idx="105" type="title" hasCustomPrompt="1"/>
          </p:nvPr>
        </p:nvSpPr>
        <p:spPr>
          <a:xfrm>
            <a:off x="1463040" y="155448"/>
            <a:ext cx="9262872" cy="621792"/>
          </a:xfrm>
          <a:prstGeom prst="rect">
            <a:avLst/>
          </a:prstGeom>
          <a:noFill/>
          <a:ln/>
        </p:spPr>
        <p:txBody>
          <a:bodyPr wrap="square" lIns="0" tIns="0" rIns="0" bIns="0" rtlCol="0" anchor="ctr"/>
          <a:lstStyle/>
          <a:p>
            <a:pPr algn="ctr" indent="0" marL="0">
              <a:buNone/>
            </a:pPr>
            <a:r>
              <a:rPr lang="en-US" sz="3000" b="1" dirty="0">
                <a:solidFill>
                  <a:srgbClr val="0B5A3C"/>
                </a:solidFill>
                <a:latin typeface="Arial" pitchFamily="34" charset="0"/>
                <a:ea typeface="Arial" pitchFamily="34" charset="-122"/>
                <a:cs typeface="Arial" pitchFamily="34" charset="-120"/>
              </a:rPr>
              <a:t>Dataset: 26 Real Cambodian Sign Classes</a:t>
            </a:r>
            <a:endParaRPr lang="en-US" sz="3000" dirty="0"/>
          </a:p>
        </p:txBody>
      </p:sp>
      <p:pic>
        <p:nvPicPr>
          <p:cNvPr id="3" name="Image 0" descr="C:/Users/ASUSG1~1/AppData/Local/Temp/claude/C--Users-ASUS-G-16-JVR-Desktop-deepLearning-CNN/ddb4b7a1-b5ad-4432-b312-271443ec143d/scratchpad/deck_v3/assets/class_gallery.png">    </p:cNvPr>
          <p:cNvPicPr>
            <a:picLocks noChangeAspect="1"/>
          </p:cNvPicPr>
          <p:nvPr/>
        </p:nvPicPr>
        <p:blipFill>
          <a:blip r:embed="rId1"/>
          <a:stretch>
            <a:fillRect/>
          </a:stretch>
        </p:blipFill>
        <p:spPr>
          <a:xfrm>
            <a:off x="320040" y="1024128"/>
            <a:ext cx="6737769" cy="5376672"/>
          </a:xfrm>
          <a:prstGeom prst="rect">
            <a:avLst/>
          </a:prstGeom>
        </p:spPr>
      </p:pic>
      <p:sp>
        <p:nvSpPr>
          <p:cNvPr id="4" name="Text 1"/>
          <p:cNvSpPr txBox="1"/>
          <p:nvPr/>
        </p:nvSpPr>
        <p:spPr>
          <a:xfrm>
            <a:off x="7223760" y="1188720"/>
            <a:ext cx="4526280" cy="658368"/>
          </a:xfrm>
          <a:prstGeom prst="rect">
            <a:avLst/>
          </a:prstGeom>
          <a:noFill/>
          <a:ln/>
        </p:spPr>
        <p:txBody>
          <a:bodyPr wrap="square" lIns="0" tIns="0" rIns="0" bIns="0" rtlCol="0" anchor="b"/>
          <a:lstStyle/>
          <a:p>
            <a:pPr algn="ctr" indent="0" marL="0">
              <a:buNone/>
            </a:pPr>
            <a:r>
              <a:rPr lang="en-US" sz="3600" b="1" dirty="0">
                <a:solidFill>
                  <a:srgbClr val="0B5A3C"/>
                </a:solidFill>
                <a:latin typeface="Arial" pitchFamily="34" charset="0"/>
                <a:ea typeface="Arial" pitchFamily="34" charset="-122"/>
                <a:cs typeface="Arial" pitchFamily="34" charset="-120"/>
              </a:rPr>
              <a:t>2,766</a:t>
            </a:r>
            <a:endParaRPr lang="en-US" sz="3600" dirty="0"/>
          </a:p>
        </p:txBody>
      </p:sp>
      <p:sp>
        <p:nvSpPr>
          <p:cNvPr id="5" name="Text 2"/>
          <p:cNvSpPr txBox="1"/>
          <p:nvPr/>
        </p:nvSpPr>
        <p:spPr>
          <a:xfrm>
            <a:off x="7223760" y="1865376"/>
            <a:ext cx="4526280" cy="566928"/>
          </a:xfrm>
          <a:prstGeom prst="rect">
            <a:avLst/>
          </a:prstGeom>
          <a:noFill/>
          <a:ln/>
        </p:spPr>
        <p:txBody>
          <a:bodyPr wrap="square" lIns="0" tIns="0" rIns="0" bIns="0" rtlCol="0" anchor="t"/>
          <a:lstStyle/>
          <a:p>
            <a:pPr algn="ctr" indent="0" marL="0">
              <a:buNone/>
            </a:pPr>
            <a:r>
              <a:rPr lang="en-US" sz="1600" dirty="0">
                <a:solidFill>
                  <a:srgbClr val="4A4A4A"/>
                </a:solidFill>
                <a:latin typeface="Arial" pitchFamily="34" charset="0"/>
                <a:ea typeface="Arial" pitchFamily="34" charset="-122"/>
                <a:cs typeface="Arial" pitchFamily="34" charset="-120"/>
              </a:rPr>
              <a:t>street photos from car-mounted cameras</a:t>
            </a:r>
            <a:endParaRPr lang="en-US" sz="1600" dirty="0"/>
          </a:p>
        </p:txBody>
      </p:sp>
      <p:sp>
        <p:nvSpPr>
          <p:cNvPr id="6" name="Text 3"/>
          <p:cNvSpPr txBox="1"/>
          <p:nvPr/>
        </p:nvSpPr>
        <p:spPr>
          <a:xfrm>
            <a:off x="7223760" y="2423160"/>
            <a:ext cx="4526280" cy="658368"/>
          </a:xfrm>
          <a:prstGeom prst="rect">
            <a:avLst/>
          </a:prstGeom>
          <a:noFill/>
          <a:ln/>
        </p:spPr>
        <p:txBody>
          <a:bodyPr wrap="square" lIns="0" tIns="0" rIns="0" bIns="0" rtlCol="0" anchor="b"/>
          <a:lstStyle/>
          <a:p>
            <a:pPr algn="ctr" indent="0" marL="0">
              <a:buNone/>
            </a:pPr>
            <a:r>
              <a:rPr lang="en-US" sz="3600" b="1" dirty="0">
                <a:solidFill>
                  <a:srgbClr val="0B5A3C"/>
                </a:solidFill>
                <a:latin typeface="Arial" pitchFamily="34" charset="0"/>
                <a:ea typeface="Arial" pitchFamily="34" charset="-122"/>
                <a:cs typeface="Arial" pitchFamily="34" charset="-120"/>
              </a:rPr>
              <a:t>3,070</a:t>
            </a:r>
            <a:endParaRPr lang="en-US" sz="3600" dirty="0"/>
          </a:p>
        </p:txBody>
      </p:sp>
      <p:sp>
        <p:nvSpPr>
          <p:cNvPr id="7" name="Text 4"/>
          <p:cNvSpPr txBox="1"/>
          <p:nvPr/>
        </p:nvSpPr>
        <p:spPr>
          <a:xfrm>
            <a:off x="7223760" y="3099816"/>
            <a:ext cx="4526280" cy="566928"/>
          </a:xfrm>
          <a:prstGeom prst="rect">
            <a:avLst/>
          </a:prstGeom>
          <a:noFill/>
          <a:ln/>
        </p:spPr>
        <p:txBody>
          <a:bodyPr wrap="square" lIns="0" tIns="0" rIns="0" bIns="0" rtlCol="0" anchor="t"/>
          <a:lstStyle/>
          <a:p>
            <a:pPr algn="ctr" indent="0" marL="0">
              <a:buNone/>
            </a:pPr>
            <a:r>
              <a:rPr lang="en-US" sz="1600" dirty="0">
                <a:solidFill>
                  <a:srgbClr val="4A4A4A"/>
                </a:solidFill>
                <a:latin typeface="Arial" pitchFamily="34" charset="0"/>
                <a:ea typeface="Arial" pitchFamily="34" charset="-122"/>
                <a:cs typeface="Arial" pitchFamily="34" charset="-120"/>
              </a:rPr>
              <a:t>cropped signs used (26 classes)</a:t>
            </a:r>
            <a:endParaRPr lang="en-US" sz="1600" dirty="0"/>
          </a:p>
        </p:txBody>
      </p:sp>
      <p:sp>
        <p:nvSpPr>
          <p:cNvPr id="8" name="Shape 5"/>
          <p:cNvSpPr/>
          <p:nvPr/>
        </p:nvSpPr>
        <p:spPr>
          <a:xfrm>
            <a:off x="7406640" y="3749040"/>
            <a:ext cx="4325112" cy="2103120"/>
          </a:xfrm>
          <a:prstGeom prst="roundRect">
            <a:avLst>
              <a:gd name="adj" fmla="val 3478"/>
            </a:avLst>
          </a:prstGeom>
          <a:solidFill>
            <a:srgbClr val="F2F7F4"/>
          </a:solidFill>
          <a:ln w="9525">
            <a:solidFill>
              <a:srgbClr val="F2F7F4"/>
            </a:solidFill>
            <a:prstDash val="solid"/>
          </a:ln>
        </p:spPr>
      </p:sp>
      <p:sp>
        <p:nvSpPr>
          <p:cNvPr id="9" name="Text 6"/>
          <p:cNvSpPr txBox="1"/>
          <p:nvPr/>
        </p:nvSpPr>
        <p:spPr>
          <a:xfrm>
            <a:off x="7589520" y="3840480"/>
            <a:ext cx="4023360" cy="1920240"/>
          </a:xfrm>
          <a:prstGeom prst="rect">
            <a:avLst/>
          </a:prstGeom>
          <a:noFill/>
          <a:ln/>
        </p:spPr>
        <p:txBody>
          <a:bodyPr wrap="square" lIns="0" tIns="0" rIns="0" bIns="0" rtlCol="0" anchor="t"/>
          <a:lstStyle/>
          <a:p>
            <a:pPr indent="0" marL="0">
              <a:spcAft>
                <a:spcPts val="600"/>
              </a:spcAft>
              <a:buNone/>
            </a:pPr>
            <a:r>
              <a:rPr lang="en-US" sz="1700" b="1" dirty="0">
                <a:solidFill>
                  <a:srgbClr val="0B5A3C"/>
                </a:solidFill>
                <a:latin typeface="Arial" pitchFamily="34" charset="0"/>
                <a:ea typeface="Arial" pitchFamily="34" charset="-122"/>
                <a:cs typeface="Arial" pitchFamily="34" charset="-120"/>
              </a:rPr>
              <a:t>Source</a:t>
            </a:r>
            <a:endParaRPr lang="en-US" sz="1700" dirty="0"/>
          </a:p>
          <a:p>
            <a:pPr indent="0" marL="0">
              <a:spcAft>
                <a:spcPts val="600"/>
              </a:spcAft>
              <a:buNone/>
            </a:pPr>
            <a:r>
              <a:rPr lang="en-US" sz="1700" dirty="0">
                <a:solidFill>
                  <a:srgbClr val="111111"/>
                </a:solidFill>
                <a:latin typeface="Arial" pitchFamily="34" charset="0"/>
                <a:ea typeface="Arial" pitchFamily="34" charset="-122"/>
                <a:cs typeface="Arial" pitchFamily="34" charset="-120"/>
              </a:rPr>
              <a:t>Cambodia Traffic Signs Dataset (Kaggle)</a:t>
            </a:r>
            <a:endParaRPr lang="en-US" sz="1700" dirty="0"/>
          </a:p>
          <a:p>
            <a:pPr indent="0" marL="0">
              <a:spcAft>
                <a:spcPts val="600"/>
              </a:spcAft>
              <a:buNone/>
            </a:pPr>
            <a:r>
              <a:rPr lang="en-US" sz="1700" u="sng" dirty="0">
                <a:solidFill>
                  <a:srgbClr val="1155CC"/>
                </a:solidFill>
                <a:latin typeface="Arial" pitchFamily="34" charset="0"/>
                <a:ea typeface="Arial" pitchFamily="34" charset="-122"/>
                <a:cs typeface="Arial" pitchFamily="34" charset="-120"/>
                <a:hlinkClick r:id="rId2" invalidUrl="" action="" tgtFrame="" tooltip="https://www.kaggle.com/datasets/sophalratitya/cambodia-traffic-signs-dataset" history="1" highlightClick="0" endSnd="0">
                  <a:extLst>
                    <a:ext uri="{A12FA001-AC4F-418D-AE19-62706E023703}">
                      <ahyp:hlinkClr xmlns:ahyp="http://schemas.microsoft.com/office/drawing/2018/hyperlinkcolor" val="tx"/>
                    </a:ext>
                  </a:extLst>
                </a:hlinkClick>
              </a:rPr>
              <a:t>Open the dataset on Kaggle</a:t>
            </a:r>
            <a:endParaRPr lang="en-US" sz="1700" dirty="0"/>
          </a:p>
          <a:p>
            <a:pPr indent="0" marL="0">
              <a:spcAft>
                <a:spcPts val="600"/>
              </a:spcAft>
              <a:buNone/>
            </a:pPr>
            <a:r>
              <a:rPr lang="en-US" sz="1500" dirty="0">
                <a:solidFill>
                  <a:srgbClr val="4A4A4A"/>
                </a:solidFill>
                <a:latin typeface="Arial" pitchFamily="34" charset="0"/>
                <a:ea typeface="Arial" pitchFamily="34" charset="-122"/>
                <a:cs typeface="Arial" pitchFamily="34" charset="-120"/>
              </a:rPr>
              <a:t>Author: Sophal Ratitya · License: Apache 2.0</a:t>
            </a:r>
            <a:endParaRPr lang="en-US" sz="1700" dirty="0"/>
          </a:p>
        </p:txBody>
      </p:sp>
      <p:sp>
        <p:nvSpPr>
          <p:cNvPr id="25" name="Slide Number Placeholder 0"/>
          <p:cNvSpPr>
            <a:spLocks noGrp="1"/>
          </p:cNvSpPr>
          <p:nvPr>
            <p:ph type="sldNum" sz="quarter" idx="4294967295"/>
          </p:nvPr>
        </p:nvSpPr>
        <p:spPr>
          <a:xfrm>
            <a:off x="5733288" y="65562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4"/>
          <p:cNvSpPr/>
          <p:nvPr>
            <p:ph idx="105" type="title" hasCustomPrompt="1"/>
          </p:nvPr>
        </p:nvSpPr>
        <p:spPr>
          <a:xfrm>
            <a:off x="1463040" y="155448"/>
            <a:ext cx="9262872" cy="621792"/>
          </a:xfrm>
          <a:prstGeom prst="rect">
            <a:avLst/>
          </a:prstGeom>
          <a:noFill/>
          <a:ln/>
        </p:spPr>
        <p:txBody>
          <a:bodyPr wrap="square" lIns="0" tIns="0" rIns="0" bIns="0" rtlCol="0" anchor="ctr"/>
          <a:lstStyle/>
          <a:p>
            <a:pPr algn="ctr" indent="0" marL="0">
              <a:buNone/>
            </a:pPr>
            <a:r>
              <a:rPr lang="en-US" sz="3000" b="1" dirty="0">
                <a:solidFill>
                  <a:srgbClr val="0B5A3C"/>
                </a:solidFill>
                <a:latin typeface="Arial" pitchFamily="34" charset="0"/>
                <a:ea typeface="Arial" pitchFamily="34" charset="-122"/>
                <a:cs typeface="Arial" pitchFamily="34" charset="-120"/>
              </a:rPr>
              <a:t>Data Split and Preprocessing</a:t>
            </a:r>
            <a:endParaRPr lang="en-US" sz="3000" dirty="0"/>
          </a:p>
        </p:txBody>
      </p:sp>
      <p:sp>
        <p:nvSpPr>
          <p:cNvPr id="3" name="Text 1"/>
          <p:cNvSpPr txBox="1"/>
          <p:nvPr/>
        </p:nvSpPr>
        <p:spPr>
          <a:xfrm>
            <a:off x="457200" y="1005840"/>
            <a:ext cx="11274552" cy="365760"/>
          </a:xfrm>
          <a:prstGeom prst="rect">
            <a:avLst/>
          </a:prstGeom>
          <a:noFill/>
          <a:ln/>
        </p:spPr>
        <p:txBody>
          <a:bodyPr wrap="square" lIns="0" tIns="0" rIns="0" bIns="0" rtlCol="0" anchor="t"/>
          <a:lstStyle/>
          <a:p>
            <a:pPr indent="0" marL="0">
              <a:buNone/>
            </a:pPr>
            <a:r>
              <a:rPr lang="en-US" sz="1700" dirty="0">
                <a:solidFill>
                  <a:srgbClr val="4A4A4A"/>
                </a:solidFill>
                <a:latin typeface="Arial" pitchFamily="34" charset="0"/>
                <a:ea typeface="Arial" pitchFamily="34" charset="-122"/>
                <a:cs typeface="Arial" pitchFamily="34" charset="-120"/>
              </a:rPr>
              <a:t>Split by photo (seed 42): signs from one photo never appear in two splits</a:t>
            </a:r>
            <a:endParaRPr lang="en-US" sz="17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5120640" cy="914400"/>
        </p:xfrm>
        <a:graphic>
          <a:graphicData uri="http://schemas.openxmlformats.org/drawingml/2006/table">
            <a:tbl>
              <a:tblPr/>
              <a:tblGrid>
                <a:gridCol w="1828800"/>
                <a:gridCol w="1463040"/>
                <a:gridCol w="1828800"/>
              </a:tblGrid>
              <a:tr h="566928">
                <a:tc>
                  <a:txBody>
                    <a:bodyPr/>
                    <a:lstStyle/>
                    <a:p>
                      <a:pPr algn="ctr" indent="0" marL="0">
                        <a:buNone/>
                      </a:pPr>
                      <a:r>
                        <a:rPr lang="en-US" sz="2000" b="1" dirty="0">
                          <a:solidFill>
                            <a:srgbClr val="FFFFFF"/>
                          </a:solidFill>
                          <a:latin typeface="Arial" pitchFamily="34" charset="0"/>
                          <a:ea typeface="Arial" pitchFamily="34" charset="-122"/>
                          <a:cs typeface="Arial" pitchFamily="34" charset="-120"/>
                        </a:rPr>
                        <a:t>Split</a:t>
                      </a:r>
                      <a:endParaRPr lang="en-US" sz="20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c>
                  <a:txBody>
                    <a:bodyPr/>
                    <a:lstStyle/>
                    <a:p>
                      <a:pPr algn="ctr" indent="0" marL="0">
                        <a:buNone/>
                      </a:pPr>
                      <a:r>
                        <a:rPr lang="en-US" sz="2000" b="1" dirty="0">
                          <a:solidFill>
                            <a:srgbClr val="FFFFFF"/>
                          </a:solidFill>
                          <a:latin typeface="Arial" pitchFamily="34" charset="0"/>
                          <a:ea typeface="Arial" pitchFamily="34" charset="-122"/>
                          <a:cs typeface="Arial" pitchFamily="34" charset="-120"/>
                        </a:rPr>
                        <a:t>Photos</a:t>
                      </a:r>
                      <a:endParaRPr lang="en-US" sz="20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c>
                  <a:txBody>
                    <a:bodyPr/>
                    <a:lstStyle/>
                    <a:p>
                      <a:pPr algn="ctr" indent="0" marL="0">
                        <a:buNone/>
                      </a:pPr>
                      <a:r>
                        <a:rPr lang="en-US" sz="2000" b="1" dirty="0">
                          <a:solidFill>
                            <a:srgbClr val="FFFFFF"/>
                          </a:solidFill>
                          <a:latin typeface="Arial" pitchFamily="34" charset="0"/>
                          <a:ea typeface="Arial" pitchFamily="34" charset="-122"/>
                          <a:cs typeface="Arial" pitchFamily="34" charset="-120"/>
                        </a:rPr>
                        <a:t>Cropped signs</a:t>
                      </a:r>
                      <a:endParaRPr lang="en-US" sz="20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r>
              <a:tr h="566928">
                <a:tc>
                  <a:txBody>
                    <a:bodyPr/>
                    <a:lstStyle/>
                    <a:p>
                      <a:pPr algn="ctr" indent="0" marL="0">
                        <a:buNone/>
                      </a:pPr>
                      <a:r>
                        <a:rPr lang="en-US" sz="2000" b="1" dirty="0">
                          <a:solidFill>
                            <a:srgbClr val="111111"/>
                          </a:solidFill>
                          <a:latin typeface="Arial" pitchFamily="34" charset="0"/>
                          <a:ea typeface="Arial" pitchFamily="34" charset="-122"/>
                          <a:cs typeface="Arial" pitchFamily="34" charset="-120"/>
                        </a:rPr>
                        <a:t>Train</a:t>
                      </a:r>
                      <a:endParaRPr lang="en-US" sz="20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2000" dirty="0">
                          <a:solidFill>
                            <a:srgbClr val="111111"/>
                          </a:solidFill>
                          <a:latin typeface="Arial" pitchFamily="34" charset="0"/>
                          <a:ea typeface="Arial" pitchFamily="34" charset="-122"/>
                          <a:cs typeface="Arial" pitchFamily="34" charset="-120"/>
                        </a:rPr>
                        <a:t>1,766</a:t>
                      </a:r>
                      <a:endParaRPr lang="en-US" sz="20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2000" dirty="0">
                          <a:solidFill>
                            <a:srgbClr val="111111"/>
                          </a:solidFill>
                          <a:latin typeface="Arial" pitchFamily="34" charset="0"/>
                          <a:ea typeface="Arial" pitchFamily="34" charset="-122"/>
                          <a:cs typeface="Arial" pitchFamily="34" charset="-120"/>
                        </a:rPr>
                        <a:t>2,153</a:t>
                      </a:r>
                      <a:endParaRPr lang="en-US" sz="20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r h="566928">
                <a:tc>
                  <a:txBody>
                    <a:bodyPr/>
                    <a:lstStyle/>
                    <a:p>
                      <a:pPr algn="ctr" indent="0" marL="0">
                        <a:buNone/>
                      </a:pPr>
                      <a:r>
                        <a:rPr lang="en-US" sz="2000" b="1" dirty="0">
                          <a:solidFill>
                            <a:srgbClr val="111111"/>
                          </a:solidFill>
                          <a:latin typeface="Arial" pitchFamily="34" charset="0"/>
                          <a:ea typeface="Arial" pitchFamily="34" charset="-122"/>
                          <a:cs typeface="Arial" pitchFamily="34" charset="-120"/>
                        </a:rPr>
                        <a:t>Validation</a:t>
                      </a:r>
                      <a:endParaRPr lang="en-US" sz="20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2000" dirty="0">
                          <a:solidFill>
                            <a:srgbClr val="111111"/>
                          </a:solidFill>
                          <a:latin typeface="Arial" pitchFamily="34" charset="0"/>
                          <a:ea typeface="Arial" pitchFamily="34" charset="-122"/>
                          <a:cs typeface="Arial" pitchFamily="34" charset="-120"/>
                        </a:rPr>
                        <a:t>378</a:t>
                      </a:r>
                      <a:endParaRPr lang="en-US" sz="20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2000" dirty="0">
                          <a:solidFill>
                            <a:srgbClr val="111111"/>
                          </a:solidFill>
                          <a:latin typeface="Arial" pitchFamily="34" charset="0"/>
                          <a:ea typeface="Arial" pitchFamily="34" charset="-122"/>
                          <a:cs typeface="Arial" pitchFamily="34" charset="-120"/>
                        </a:rPr>
                        <a:t>454</a:t>
                      </a:r>
                      <a:endParaRPr lang="en-US" sz="20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r h="566928">
                <a:tc>
                  <a:txBody>
                    <a:bodyPr/>
                    <a:lstStyle/>
                    <a:p>
                      <a:pPr algn="ctr" indent="0" marL="0">
                        <a:buNone/>
                      </a:pPr>
                      <a:r>
                        <a:rPr lang="en-US" sz="2000" b="1" dirty="0">
                          <a:solidFill>
                            <a:srgbClr val="111111"/>
                          </a:solidFill>
                          <a:latin typeface="Arial" pitchFamily="34" charset="0"/>
                          <a:ea typeface="Arial" pitchFamily="34" charset="-122"/>
                          <a:cs typeface="Arial" pitchFamily="34" charset="-120"/>
                        </a:rPr>
                        <a:t>Test</a:t>
                      </a:r>
                      <a:endParaRPr lang="en-US" sz="20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FBEDE5"/>
                    </a:solidFill>
                  </a:tcPr>
                </a:tc>
                <a:tc>
                  <a:txBody>
                    <a:bodyPr/>
                    <a:lstStyle/>
                    <a:p>
                      <a:pPr algn="ctr" indent="0" marL="0">
                        <a:buNone/>
                      </a:pPr>
                      <a:r>
                        <a:rPr lang="en-US" sz="2000" b="1" dirty="0">
                          <a:solidFill>
                            <a:srgbClr val="111111"/>
                          </a:solidFill>
                          <a:latin typeface="Arial" pitchFamily="34" charset="0"/>
                          <a:ea typeface="Arial" pitchFamily="34" charset="-122"/>
                          <a:cs typeface="Arial" pitchFamily="34" charset="-120"/>
                        </a:rPr>
                        <a:t>379</a:t>
                      </a:r>
                      <a:endParaRPr lang="en-US" sz="20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FBEDE5"/>
                    </a:solidFill>
                  </a:tcPr>
                </a:tc>
                <a:tc>
                  <a:txBody>
                    <a:bodyPr/>
                    <a:lstStyle/>
                    <a:p>
                      <a:pPr algn="ctr" indent="0" marL="0">
                        <a:buNone/>
                      </a:pPr>
                      <a:r>
                        <a:rPr lang="en-US" sz="2000" b="1" dirty="0">
                          <a:solidFill>
                            <a:srgbClr val="111111"/>
                          </a:solidFill>
                          <a:latin typeface="Arial" pitchFamily="34" charset="0"/>
                          <a:ea typeface="Arial" pitchFamily="34" charset="-122"/>
                          <a:cs typeface="Arial" pitchFamily="34" charset="-120"/>
                        </a:rPr>
                        <a:t>463</a:t>
                      </a:r>
                      <a:endParaRPr lang="en-US" sz="20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FBEDE5"/>
                    </a:solidFill>
                  </a:tcPr>
                </a:tc>
              </a:tr>
              <a:tr h="566928">
                <a:tc>
                  <a:txBody>
                    <a:bodyPr/>
                    <a:lstStyle/>
                    <a:p>
                      <a:pPr algn="ctr" indent="0" marL="0">
                        <a:buNone/>
                      </a:pPr>
                      <a:r>
                        <a:rPr lang="en-US" sz="2000" b="1" dirty="0">
                          <a:solidFill>
                            <a:srgbClr val="111111"/>
                          </a:solidFill>
                          <a:latin typeface="Arial" pitchFamily="34" charset="0"/>
                          <a:ea typeface="Arial" pitchFamily="34" charset="-122"/>
                          <a:cs typeface="Arial" pitchFamily="34" charset="-120"/>
                        </a:rPr>
                        <a:t>Total</a:t>
                      </a:r>
                      <a:endParaRPr lang="en-US" sz="20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2000" dirty="0">
                          <a:solidFill>
                            <a:srgbClr val="111111"/>
                          </a:solidFill>
                          <a:latin typeface="Arial" pitchFamily="34" charset="0"/>
                          <a:ea typeface="Arial" pitchFamily="34" charset="-122"/>
                          <a:cs typeface="Arial" pitchFamily="34" charset="-120"/>
                        </a:rPr>
                        <a:t>2,523</a:t>
                      </a:r>
                      <a:endParaRPr lang="en-US" sz="20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2000" dirty="0">
                          <a:solidFill>
                            <a:srgbClr val="111111"/>
                          </a:solidFill>
                          <a:latin typeface="Arial" pitchFamily="34" charset="0"/>
                          <a:ea typeface="Arial" pitchFamily="34" charset="-122"/>
                          <a:cs typeface="Arial" pitchFamily="34" charset="-120"/>
                        </a:rPr>
                        <a:t>3,070</a:t>
                      </a:r>
                      <a:endParaRPr lang="en-US" sz="20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bl>
          </a:graphicData>
        </a:graphic>
      </p:graphicFrame>
      <p:sp>
        <p:nvSpPr>
          <p:cNvPr id="5" name="Text 2"/>
          <p:cNvSpPr txBox="1"/>
          <p:nvPr/>
        </p:nvSpPr>
        <p:spPr>
          <a:xfrm>
            <a:off x="457200" y="4663440"/>
            <a:ext cx="5120640" cy="822960"/>
          </a:xfrm>
          <a:prstGeom prst="rect">
            <a:avLst/>
          </a:prstGeom>
          <a:noFill/>
          <a:ln/>
        </p:spPr>
        <p:txBody>
          <a:bodyPr wrap="square" lIns="508" tIns="508" rIns="508" bIns="508" rtlCol="0" anchor="t"/>
          <a:lstStyle/>
          <a:p>
            <a:pPr indent="0" marL="0">
              <a:buNone/>
            </a:pPr>
            <a:r>
              <a:rPr lang="en-US" sz="1700" dirty="0">
                <a:solidFill>
                  <a:srgbClr val="4A4A4A"/>
                </a:solidFill>
                <a:latin typeface="Arial" pitchFamily="34" charset="0"/>
                <a:ea typeface="Arial" pitchFamily="34" charset="-122"/>
                <a:cs typeface="Arial" pitchFamily="34" charset="-120"/>
              </a:rPr>
              <a:t>Test set: used only once, at the very end.</a:t>
            </a:r>
            <a:endParaRPr lang="en-US" sz="1700" dirty="0"/>
          </a:p>
        </p:txBody>
      </p:sp>
      <p:sp>
        <p:nvSpPr>
          <p:cNvPr id="6" name="Text 3"/>
          <p:cNvSpPr txBox="1"/>
          <p:nvPr/>
        </p:nvSpPr>
        <p:spPr>
          <a:xfrm>
            <a:off x="6035040" y="1645920"/>
            <a:ext cx="5669280" cy="457200"/>
          </a:xfrm>
          <a:prstGeom prst="rect">
            <a:avLst/>
          </a:prstGeom>
          <a:noFill/>
          <a:ln/>
        </p:spPr>
        <p:txBody>
          <a:bodyPr wrap="square" lIns="508" tIns="508" rIns="508" bIns="508" rtlCol="0" anchor="t"/>
          <a:lstStyle/>
          <a:p>
            <a:pPr indent="0" marL="0">
              <a:buNone/>
            </a:pPr>
            <a:r>
              <a:rPr lang="en-US" sz="2400" b="1" dirty="0">
                <a:solidFill>
                  <a:srgbClr val="0B5A3C"/>
                </a:solidFill>
                <a:latin typeface="Arial" pitchFamily="34" charset="0"/>
                <a:ea typeface="Arial" pitchFamily="34" charset="-122"/>
                <a:cs typeface="Arial" pitchFamily="34" charset="-120"/>
              </a:rPr>
              <a:t>Preprocessing</a:t>
            </a:r>
            <a:endParaRPr lang="en-US" sz="2400" dirty="0"/>
          </a:p>
        </p:txBody>
      </p:sp>
      <p:sp>
        <p:nvSpPr>
          <p:cNvPr id="7" name="Text 4"/>
          <p:cNvSpPr txBox="1"/>
          <p:nvPr/>
        </p:nvSpPr>
        <p:spPr>
          <a:xfrm>
            <a:off x="6035040" y="2148840"/>
            <a:ext cx="5669280" cy="1463040"/>
          </a:xfrm>
          <a:prstGeom prst="rect">
            <a:avLst/>
          </a:prstGeom>
          <a:noFill/>
          <a:ln/>
        </p:spPr>
        <p:txBody>
          <a:bodyPr wrap="square" lIns="635" tIns="635" rIns="635" bIns="635" rtlCol="0" anchor="t"/>
          <a:lstStyle/>
          <a:p>
            <a:pPr marL="279400" indent="-279400">
              <a:spcAft>
                <a:spcPts val="1000"/>
              </a:spcAft>
              <a:buSzPct val="100000"/>
              <a:buChar char="•"/>
            </a:pPr>
            <a:r>
              <a:rPr lang="en-US" sz="1900" dirty="0">
                <a:solidFill>
                  <a:srgbClr val="111111"/>
                </a:solidFill>
                <a:latin typeface="Arial" pitchFamily="34" charset="0"/>
                <a:ea typeface="Arial" pitchFamily="34" charset="-122"/>
                <a:cs typeface="Arial" pitchFamily="34" charset="-120"/>
              </a:rPr>
              <a:t>All images: resize to 224 × 224, ImageNet normalisation</a:t>
            </a:r>
            <a:endParaRPr lang="en-US" sz="1900" dirty="0"/>
          </a:p>
          <a:p>
            <a:pPr marL="279400" indent="-279400">
              <a:spcAft>
                <a:spcPts val="1000"/>
              </a:spcAft>
              <a:buSzPct val="100000"/>
              <a:buChar char="•"/>
            </a:pPr>
            <a:r>
              <a:rPr lang="en-US" sz="1900" dirty="0">
                <a:solidFill>
                  <a:srgbClr val="111111"/>
                </a:solidFill>
                <a:latin typeface="Arial" pitchFamily="34" charset="0"/>
                <a:ea typeface="Arial" pitchFamily="34" charset="-122"/>
                <a:cs typeface="Arial" pitchFamily="34" charset="-120"/>
              </a:rPr>
              <a:t>Training only: small rotation (±10°) and colour changes</a:t>
            </a:r>
            <a:endParaRPr lang="en-US" sz="1900" dirty="0"/>
          </a:p>
        </p:txBody>
      </p:sp>
      <p:sp>
        <p:nvSpPr>
          <p:cNvPr id="8" name="Text 5"/>
          <p:cNvSpPr txBox="1"/>
          <p:nvPr/>
        </p:nvSpPr>
        <p:spPr>
          <a:xfrm>
            <a:off x="6035040" y="3703320"/>
            <a:ext cx="5669280" cy="411480"/>
          </a:xfrm>
          <a:prstGeom prst="rect">
            <a:avLst/>
          </a:prstGeom>
          <a:noFill/>
          <a:ln/>
        </p:spPr>
        <p:txBody>
          <a:bodyPr wrap="square" lIns="508" tIns="508" rIns="508" bIns="508" rtlCol="0" anchor="t"/>
          <a:lstStyle/>
          <a:p>
            <a:pPr indent="0" marL="0">
              <a:buNone/>
            </a:pPr>
            <a:r>
              <a:rPr lang="en-US" sz="1900" b="1" dirty="0">
                <a:solidFill>
                  <a:srgbClr val="C44E52"/>
                </a:solidFill>
                <a:latin typeface="Arial" pitchFamily="34" charset="0"/>
                <a:ea typeface="Arial" pitchFamily="34" charset="-122"/>
                <a:cs typeface="Arial" pitchFamily="34" charset="-120"/>
              </a:rPr>
              <a:t>No horizontal flip: it changes the meaning</a:t>
            </a:r>
            <a:endParaRPr lang="en-US" sz="1900" dirty="0"/>
          </a:p>
        </p:txBody>
      </p:sp>
      <p:pic>
        <p:nvPicPr>
          <p:cNvPr id="9" name="Image 0" descr="C:/Users/ASUSG1~1/AppData/Local/Temp/claude/C--Users-ASUS-G-16-JVR-Desktop-deepLearning-CNN/ddb4b7a1-b5ad-4432-b312-271443ec143d/scratchpad/deck_v3/assets/left_bend.png">    </p:cNvPr>
          <p:cNvPicPr>
            <a:picLocks noChangeAspect="1"/>
          </p:cNvPicPr>
          <p:nvPr/>
        </p:nvPicPr>
        <p:blipFill>
          <a:blip r:embed="rId1"/>
          <a:stretch>
            <a:fillRect/>
          </a:stretch>
        </p:blipFill>
        <p:spPr>
          <a:xfrm>
            <a:off x="6309360" y="4160520"/>
            <a:ext cx="1280160" cy="1280160"/>
          </a:xfrm>
          <a:prstGeom prst="rect">
            <a:avLst/>
          </a:prstGeom>
        </p:spPr>
      </p:pic>
      <p:sp>
        <p:nvSpPr>
          <p:cNvPr id="10" name="Shape 6"/>
          <p:cNvSpPr/>
          <p:nvPr/>
        </p:nvSpPr>
        <p:spPr>
          <a:xfrm>
            <a:off x="7726680" y="4800600"/>
            <a:ext cx="548640" cy="914"/>
          </a:xfrm>
          <a:prstGeom prst="line">
            <a:avLst/>
          </a:prstGeom>
          <a:noFill/>
          <a:ln w="31750">
            <a:solidFill>
              <a:srgbClr val="C44E52"/>
            </a:solidFill>
            <a:prstDash val="solid"/>
            <a:tailEnd type="triangle"/>
          </a:ln>
        </p:spPr>
      </p:sp>
      <p:pic>
        <p:nvPicPr>
          <p:cNvPr id="11" name="Image 1" descr="C:/Users/ASUSG1~1/AppData/Local/Temp/claude/C--Users-ASUS-G-16-JVR-Desktop-deepLearning-CNN/ddb4b7a1-b5ad-4432-b312-271443ec143d/scratchpad/deck_v3/assets/left_bend_flipped.png">    </p:cNvPr>
          <p:cNvPicPr>
            <a:picLocks noChangeAspect="1"/>
          </p:cNvPicPr>
          <p:nvPr/>
        </p:nvPicPr>
        <p:blipFill>
          <a:blip r:embed="rId2"/>
          <a:stretch>
            <a:fillRect/>
          </a:stretch>
        </p:blipFill>
        <p:spPr>
          <a:xfrm>
            <a:off x="8412480" y="4160520"/>
            <a:ext cx="1280160" cy="1280160"/>
          </a:xfrm>
          <a:prstGeom prst="rect">
            <a:avLst/>
          </a:prstGeom>
        </p:spPr>
      </p:pic>
      <p:sp>
        <p:nvSpPr>
          <p:cNvPr id="12" name="Text 7"/>
          <p:cNvSpPr txBox="1"/>
          <p:nvPr/>
        </p:nvSpPr>
        <p:spPr>
          <a:xfrm>
            <a:off x="6035040" y="5486400"/>
            <a:ext cx="1828800" cy="365760"/>
          </a:xfrm>
          <a:prstGeom prst="rect">
            <a:avLst/>
          </a:prstGeom>
          <a:noFill/>
          <a:ln/>
        </p:spPr>
        <p:txBody>
          <a:bodyPr wrap="square" lIns="508" tIns="508" rIns="508" bIns="508" rtlCol="0" anchor="t"/>
          <a:lstStyle/>
          <a:p>
            <a:pPr algn="ctr" indent="0" marL="0">
              <a:buNone/>
            </a:pPr>
            <a:r>
              <a:rPr lang="en-US" sz="1500" dirty="0">
                <a:solidFill>
                  <a:srgbClr val="4A4A4A"/>
                </a:solidFill>
                <a:latin typeface="Arial" pitchFamily="34" charset="0"/>
                <a:ea typeface="Arial" pitchFamily="34" charset="-122"/>
                <a:cs typeface="Arial" pitchFamily="34" charset="-120"/>
              </a:rPr>
              <a:t>Left Bend</a:t>
            </a:r>
            <a:endParaRPr lang="en-US" sz="1500" dirty="0"/>
          </a:p>
        </p:txBody>
      </p:sp>
      <p:sp>
        <p:nvSpPr>
          <p:cNvPr id="13" name="Text 8"/>
          <p:cNvSpPr txBox="1"/>
          <p:nvPr/>
        </p:nvSpPr>
        <p:spPr>
          <a:xfrm>
            <a:off x="8138160" y="5486400"/>
            <a:ext cx="3566160" cy="365760"/>
          </a:xfrm>
          <a:prstGeom prst="rect">
            <a:avLst/>
          </a:prstGeom>
          <a:noFill/>
          <a:ln/>
        </p:spPr>
        <p:txBody>
          <a:bodyPr wrap="square" lIns="508" tIns="508" rIns="508" bIns="508" rtlCol="0" anchor="t"/>
          <a:lstStyle/>
          <a:p>
            <a:pPr indent="0" marL="0">
              <a:buNone/>
            </a:pPr>
            <a:r>
              <a:rPr lang="en-US" sz="1500" dirty="0">
                <a:solidFill>
                  <a:srgbClr val="C44E52"/>
                </a:solidFill>
                <a:latin typeface="Arial" pitchFamily="34" charset="0"/>
                <a:ea typeface="Arial" pitchFamily="34" charset="-122"/>
                <a:cs typeface="Arial" pitchFamily="34" charset="-120"/>
              </a:rPr>
              <a:t>flipped = looks like Right Bend</a:t>
            </a:r>
            <a:endParaRPr lang="en-US" sz="1500" dirty="0"/>
          </a:p>
        </p:txBody>
      </p:sp>
      <p:sp>
        <p:nvSpPr>
          <p:cNvPr id="25" name="Slide Number Placeholder 0"/>
          <p:cNvSpPr>
            <a:spLocks noGrp="1"/>
          </p:cNvSpPr>
          <p:nvPr>
            <p:ph type="sldNum" sz="quarter" idx="4294967295"/>
          </p:nvPr>
        </p:nvSpPr>
        <p:spPr>
          <a:xfrm>
            <a:off x="5733288" y="65562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4"/>
          <p:cNvSpPr/>
          <p:nvPr>
            <p:ph idx="105" type="title" hasCustomPrompt="1"/>
          </p:nvPr>
        </p:nvSpPr>
        <p:spPr>
          <a:xfrm>
            <a:off x="1463040" y="155448"/>
            <a:ext cx="9262872" cy="621792"/>
          </a:xfrm>
          <a:prstGeom prst="rect">
            <a:avLst/>
          </a:prstGeom>
          <a:noFill/>
          <a:ln/>
        </p:spPr>
        <p:txBody>
          <a:bodyPr wrap="square" lIns="0" tIns="0" rIns="0" bIns="0" rtlCol="0" anchor="ctr"/>
          <a:lstStyle/>
          <a:p>
            <a:pPr algn="ctr" indent="0" marL="0">
              <a:buNone/>
            </a:pPr>
            <a:r>
              <a:rPr lang="en-US" sz="3000" b="1" dirty="0">
                <a:solidFill>
                  <a:srgbClr val="0B5A3C"/>
                </a:solidFill>
                <a:latin typeface="Arial" pitchFamily="34" charset="0"/>
                <a:ea typeface="Arial" pitchFamily="34" charset="-122"/>
                <a:cs typeface="Arial" pitchFamily="34" charset="-120"/>
              </a:rPr>
              <a:t>System Flow</a:t>
            </a:r>
            <a:endParaRPr lang="en-US" sz="3000" dirty="0"/>
          </a:p>
        </p:txBody>
      </p:sp>
      <p:sp>
        <p:nvSpPr>
          <p:cNvPr id="3" name="Text 1"/>
          <p:cNvSpPr txBox="1"/>
          <p:nvPr/>
        </p:nvSpPr>
        <p:spPr>
          <a:xfrm>
            <a:off x="457200" y="1005840"/>
            <a:ext cx="11274552" cy="365760"/>
          </a:xfrm>
          <a:prstGeom prst="rect">
            <a:avLst/>
          </a:prstGeom>
          <a:noFill/>
          <a:ln/>
        </p:spPr>
        <p:txBody>
          <a:bodyPr wrap="square" lIns="0" tIns="0" rIns="0" bIns="0" rtlCol="0" anchor="t"/>
          <a:lstStyle/>
          <a:p>
            <a:pPr indent="0" marL="0">
              <a:buNone/>
            </a:pPr>
            <a:r>
              <a:rPr lang="en-US" sz="1700" dirty="0">
                <a:solidFill>
                  <a:srgbClr val="4A4A4A"/>
                </a:solidFill>
                <a:latin typeface="Arial" pitchFamily="34" charset="0"/>
                <a:ea typeface="Arial" pitchFamily="34" charset="-122"/>
                <a:cs typeface="Arial" pitchFamily="34" charset="-120"/>
              </a:rPr>
              <a:t>Two ways to use the system: a full street photo, or one cropped sign</a:t>
            </a:r>
            <a:endParaRPr lang="en-US" sz="1700" dirty="0"/>
          </a:p>
        </p:txBody>
      </p:sp>
      <p:sp>
        <p:nvSpPr>
          <p:cNvPr id="4" name="Shape 2"/>
          <p:cNvSpPr/>
          <p:nvPr/>
        </p:nvSpPr>
        <p:spPr>
          <a:xfrm>
            <a:off x="457200" y="1783080"/>
            <a:ext cx="1664208" cy="1234440"/>
          </a:xfrm>
          <a:prstGeom prst="roundRect">
            <a:avLst>
              <a:gd name="adj" fmla="val 5926"/>
            </a:avLst>
          </a:prstGeom>
          <a:solidFill>
            <a:srgbClr val="F2F7F4"/>
          </a:solidFill>
          <a:ln w="15875">
            <a:solidFill>
              <a:srgbClr val="F2F7F4"/>
            </a:solidFill>
            <a:prstDash val="solid"/>
          </a:ln>
        </p:spPr>
      </p:sp>
      <p:sp>
        <p:nvSpPr>
          <p:cNvPr id="5" name="Text 3"/>
          <p:cNvSpPr txBox="1"/>
          <p:nvPr/>
        </p:nvSpPr>
        <p:spPr>
          <a:xfrm>
            <a:off x="502920" y="1783080"/>
            <a:ext cx="1572768" cy="1234440"/>
          </a:xfrm>
          <a:prstGeom prst="rect">
            <a:avLst/>
          </a:prstGeom>
          <a:noFill/>
          <a:ln/>
        </p:spPr>
        <p:txBody>
          <a:bodyPr wrap="square" lIns="0" tIns="0" rIns="0" bIns="0" rtlCol="0" anchor="ctr"/>
          <a:lstStyle/>
          <a:p>
            <a:pPr algn="ctr" indent="0" marL="0">
              <a:buNone/>
            </a:pPr>
            <a:r>
              <a:rPr lang="en-US" sz="1700" b="1" dirty="0">
                <a:solidFill>
                  <a:srgbClr val="111111"/>
                </a:solidFill>
                <a:latin typeface="Arial" pitchFamily="34" charset="0"/>
                <a:ea typeface="Arial" pitchFamily="34" charset="-122"/>
                <a:cs typeface="Arial" pitchFamily="34" charset="-120"/>
              </a:rPr>
              <a:t>Full street photo</a:t>
            </a:r>
            <a:endParaRPr lang="en-US" sz="1700" dirty="0"/>
          </a:p>
          <a:p>
            <a:pPr algn="ctr" indent="0" marL="0">
              <a:buNone/>
            </a:pPr>
            <a:r>
              <a:rPr lang="en-US" sz="1400" dirty="0">
                <a:solidFill>
                  <a:srgbClr val="111111"/>
                </a:solidFill>
                <a:latin typeface="Arial" pitchFamily="34" charset="0"/>
                <a:ea typeface="Arial" pitchFamily="34" charset="-122"/>
                <a:cs typeface="Arial" pitchFamily="34" charset="-120"/>
              </a:rPr>
              <a:t>4K road image</a:t>
            </a:r>
            <a:endParaRPr lang="en-US" sz="1700" dirty="0"/>
          </a:p>
        </p:txBody>
      </p:sp>
      <p:sp>
        <p:nvSpPr>
          <p:cNvPr id="6" name="Shape 4"/>
          <p:cNvSpPr/>
          <p:nvPr/>
        </p:nvSpPr>
        <p:spPr>
          <a:xfrm>
            <a:off x="2139696" y="2400300"/>
            <a:ext cx="210312" cy="914"/>
          </a:xfrm>
          <a:prstGeom prst="line">
            <a:avLst/>
          </a:prstGeom>
          <a:noFill/>
          <a:ln w="31750">
            <a:solidFill>
              <a:srgbClr val="0B5A3C"/>
            </a:solidFill>
            <a:prstDash val="solid"/>
            <a:tailEnd type="triangle"/>
          </a:ln>
        </p:spPr>
      </p:sp>
      <p:sp>
        <p:nvSpPr>
          <p:cNvPr id="7" name="Shape 5"/>
          <p:cNvSpPr/>
          <p:nvPr/>
        </p:nvSpPr>
        <p:spPr>
          <a:xfrm>
            <a:off x="2368296" y="1783080"/>
            <a:ext cx="1664208" cy="1234440"/>
          </a:xfrm>
          <a:prstGeom prst="roundRect">
            <a:avLst>
              <a:gd name="adj" fmla="val 5926"/>
            </a:avLst>
          </a:prstGeom>
          <a:solidFill>
            <a:srgbClr val="0B5A3C"/>
          </a:solidFill>
          <a:ln w="15875">
            <a:solidFill>
              <a:srgbClr val="0B5A3C"/>
            </a:solidFill>
            <a:prstDash val="solid"/>
          </a:ln>
        </p:spPr>
      </p:sp>
      <p:sp>
        <p:nvSpPr>
          <p:cNvPr id="8" name="Text 6"/>
          <p:cNvSpPr txBox="1"/>
          <p:nvPr/>
        </p:nvSpPr>
        <p:spPr>
          <a:xfrm>
            <a:off x="2414016" y="1783080"/>
            <a:ext cx="1572768" cy="123444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YOLOv8 detector</a:t>
            </a:r>
            <a:endParaRPr lang="en-US" sz="1700" dirty="0"/>
          </a:p>
          <a:p>
            <a:pPr algn="ctr" indent="0" marL="0">
              <a:buNone/>
            </a:pPr>
            <a:r>
              <a:rPr lang="en-US" sz="1400" dirty="0">
                <a:solidFill>
                  <a:srgbClr val="FFFFFF"/>
                </a:solidFill>
                <a:latin typeface="Arial" pitchFamily="34" charset="0"/>
                <a:ea typeface="Arial" pitchFamily="34" charset="-122"/>
                <a:cs typeface="Arial" pitchFamily="34" charset="-120"/>
              </a:rPr>
              <a:t>WHERE are the signs?</a:t>
            </a:r>
            <a:endParaRPr lang="en-US" sz="1700" dirty="0"/>
          </a:p>
        </p:txBody>
      </p:sp>
      <p:sp>
        <p:nvSpPr>
          <p:cNvPr id="9" name="Shape 7"/>
          <p:cNvSpPr/>
          <p:nvPr/>
        </p:nvSpPr>
        <p:spPr>
          <a:xfrm>
            <a:off x="4050792" y="2400300"/>
            <a:ext cx="210312" cy="914"/>
          </a:xfrm>
          <a:prstGeom prst="line">
            <a:avLst/>
          </a:prstGeom>
          <a:noFill/>
          <a:ln w="31750">
            <a:solidFill>
              <a:srgbClr val="0B5A3C"/>
            </a:solidFill>
            <a:prstDash val="solid"/>
            <a:tailEnd type="triangle"/>
          </a:ln>
        </p:spPr>
      </p:sp>
      <p:sp>
        <p:nvSpPr>
          <p:cNvPr id="10" name="Shape 8"/>
          <p:cNvSpPr/>
          <p:nvPr/>
        </p:nvSpPr>
        <p:spPr>
          <a:xfrm>
            <a:off x="4279392" y="1783080"/>
            <a:ext cx="1664208" cy="1234440"/>
          </a:xfrm>
          <a:prstGeom prst="roundRect">
            <a:avLst>
              <a:gd name="adj" fmla="val 5926"/>
            </a:avLst>
          </a:prstGeom>
          <a:solidFill>
            <a:srgbClr val="F2F7F4"/>
          </a:solidFill>
          <a:ln w="15875">
            <a:solidFill>
              <a:srgbClr val="F2F7F4"/>
            </a:solidFill>
            <a:prstDash val="solid"/>
          </a:ln>
        </p:spPr>
      </p:sp>
      <p:sp>
        <p:nvSpPr>
          <p:cNvPr id="11" name="Text 9"/>
          <p:cNvSpPr txBox="1"/>
          <p:nvPr/>
        </p:nvSpPr>
        <p:spPr>
          <a:xfrm>
            <a:off x="4325112" y="1783080"/>
            <a:ext cx="1572768" cy="1234440"/>
          </a:xfrm>
          <a:prstGeom prst="rect">
            <a:avLst/>
          </a:prstGeom>
          <a:noFill/>
          <a:ln/>
        </p:spPr>
        <p:txBody>
          <a:bodyPr wrap="square" lIns="0" tIns="0" rIns="0" bIns="0" rtlCol="0" anchor="ctr"/>
          <a:lstStyle/>
          <a:p>
            <a:pPr algn="ctr" indent="0" marL="0">
              <a:buNone/>
            </a:pPr>
            <a:r>
              <a:rPr lang="en-US" sz="1700" b="1" dirty="0">
                <a:solidFill>
                  <a:srgbClr val="111111"/>
                </a:solidFill>
                <a:latin typeface="Arial" pitchFamily="34" charset="0"/>
                <a:ea typeface="Arial" pitchFamily="34" charset="-122"/>
                <a:cs typeface="Arial" pitchFamily="34" charset="-120"/>
              </a:rPr>
              <a:t>Crop each sign</a:t>
            </a:r>
            <a:endParaRPr lang="en-US" sz="1700" dirty="0"/>
          </a:p>
          <a:p>
            <a:pPr algn="ctr" indent="0" marL="0">
              <a:buNone/>
            </a:pPr>
            <a:r>
              <a:rPr lang="en-US" sz="1400" dirty="0">
                <a:solidFill>
                  <a:srgbClr val="111111"/>
                </a:solidFill>
                <a:latin typeface="Arial" pitchFamily="34" charset="0"/>
                <a:ea typeface="Arial" pitchFamily="34" charset="-122"/>
                <a:cs typeface="Arial" pitchFamily="34" charset="-120"/>
              </a:rPr>
              <a:t>full resolution</a:t>
            </a:r>
            <a:endParaRPr lang="en-US" sz="1700" dirty="0"/>
          </a:p>
        </p:txBody>
      </p:sp>
      <p:sp>
        <p:nvSpPr>
          <p:cNvPr id="12" name="Shape 10"/>
          <p:cNvSpPr/>
          <p:nvPr/>
        </p:nvSpPr>
        <p:spPr>
          <a:xfrm>
            <a:off x="5961888" y="2400300"/>
            <a:ext cx="210312" cy="914"/>
          </a:xfrm>
          <a:prstGeom prst="line">
            <a:avLst/>
          </a:prstGeom>
          <a:noFill/>
          <a:ln w="31750">
            <a:solidFill>
              <a:srgbClr val="0B5A3C"/>
            </a:solidFill>
            <a:prstDash val="solid"/>
            <a:tailEnd type="triangle"/>
          </a:ln>
        </p:spPr>
      </p:sp>
      <p:sp>
        <p:nvSpPr>
          <p:cNvPr id="13" name="Shape 11"/>
          <p:cNvSpPr/>
          <p:nvPr/>
        </p:nvSpPr>
        <p:spPr>
          <a:xfrm>
            <a:off x="6190488" y="1783080"/>
            <a:ext cx="1664208" cy="1234440"/>
          </a:xfrm>
          <a:prstGeom prst="roundRect">
            <a:avLst>
              <a:gd name="adj" fmla="val 5926"/>
            </a:avLst>
          </a:prstGeom>
          <a:solidFill>
            <a:srgbClr val="0B5A3C"/>
          </a:solidFill>
          <a:ln w="15875">
            <a:solidFill>
              <a:srgbClr val="0B5A3C"/>
            </a:solidFill>
            <a:prstDash val="solid"/>
          </a:ln>
        </p:spPr>
      </p:sp>
      <p:sp>
        <p:nvSpPr>
          <p:cNvPr id="14" name="Text 12"/>
          <p:cNvSpPr txBox="1"/>
          <p:nvPr/>
        </p:nvSpPr>
        <p:spPr>
          <a:xfrm>
            <a:off x="6236208" y="1783080"/>
            <a:ext cx="1572768" cy="123444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ResNet-18 classifier</a:t>
            </a:r>
            <a:endParaRPr lang="en-US" sz="1700" dirty="0"/>
          </a:p>
          <a:p>
            <a:pPr algn="ctr" indent="0" marL="0">
              <a:buNone/>
            </a:pPr>
            <a:r>
              <a:rPr lang="en-US" sz="1400" dirty="0">
                <a:solidFill>
                  <a:srgbClr val="FFFFFF"/>
                </a:solidFill>
                <a:latin typeface="Arial" pitchFamily="34" charset="0"/>
                <a:ea typeface="Arial" pitchFamily="34" charset="-122"/>
                <a:cs typeface="Arial" pitchFamily="34" charset="-120"/>
              </a:rPr>
              <a:t>WHICH of 26 signs?</a:t>
            </a:r>
            <a:endParaRPr lang="en-US" sz="1700" dirty="0"/>
          </a:p>
        </p:txBody>
      </p:sp>
      <p:sp>
        <p:nvSpPr>
          <p:cNvPr id="15" name="Shape 13"/>
          <p:cNvSpPr/>
          <p:nvPr/>
        </p:nvSpPr>
        <p:spPr>
          <a:xfrm>
            <a:off x="7872984" y="2400300"/>
            <a:ext cx="210312" cy="914"/>
          </a:xfrm>
          <a:prstGeom prst="line">
            <a:avLst/>
          </a:prstGeom>
          <a:noFill/>
          <a:ln w="31750">
            <a:solidFill>
              <a:srgbClr val="0B5A3C"/>
            </a:solidFill>
            <a:prstDash val="solid"/>
            <a:tailEnd type="triangle"/>
          </a:ln>
        </p:spPr>
      </p:sp>
      <p:sp>
        <p:nvSpPr>
          <p:cNvPr id="16" name="Shape 14"/>
          <p:cNvSpPr/>
          <p:nvPr/>
        </p:nvSpPr>
        <p:spPr>
          <a:xfrm>
            <a:off x="8101584" y="1783080"/>
            <a:ext cx="1664208" cy="1234440"/>
          </a:xfrm>
          <a:prstGeom prst="roundRect">
            <a:avLst>
              <a:gd name="adj" fmla="val 5926"/>
            </a:avLst>
          </a:prstGeom>
          <a:solidFill>
            <a:srgbClr val="F2F7F4"/>
          </a:solidFill>
          <a:ln w="15875">
            <a:solidFill>
              <a:srgbClr val="F2F7F4"/>
            </a:solidFill>
            <a:prstDash val="solid"/>
          </a:ln>
        </p:spPr>
      </p:sp>
      <p:sp>
        <p:nvSpPr>
          <p:cNvPr id="17" name="Text 15"/>
          <p:cNvSpPr txBox="1"/>
          <p:nvPr/>
        </p:nvSpPr>
        <p:spPr>
          <a:xfrm>
            <a:off x="8147304" y="1783080"/>
            <a:ext cx="1572768" cy="1234440"/>
          </a:xfrm>
          <a:prstGeom prst="rect">
            <a:avLst/>
          </a:prstGeom>
          <a:noFill/>
          <a:ln/>
        </p:spPr>
        <p:txBody>
          <a:bodyPr wrap="square" lIns="0" tIns="0" rIns="0" bIns="0" rtlCol="0" anchor="ctr"/>
          <a:lstStyle/>
          <a:p>
            <a:pPr algn="ctr" indent="0" marL="0">
              <a:buNone/>
            </a:pPr>
            <a:r>
              <a:rPr lang="en-US" sz="1700" b="1" dirty="0">
                <a:solidFill>
                  <a:srgbClr val="111111"/>
                </a:solidFill>
                <a:latin typeface="Arial" pitchFamily="34" charset="0"/>
                <a:ea typeface="Arial" pitchFamily="34" charset="-122"/>
                <a:cs typeface="Arial" pitchFamily="34" charset="-120"/>
              </a:rPr>
              <a:t>Label + confidence</a:t>
            </a:r>
            <a:endParaRPr lang="en-US" sz="1700" dirty="0"/>
          </a:p>
          <a:p>
            <a:pPr algn="ctr" indent="0" marL="0">
              <a:buNone/>
            </a:pPr>
            <a:r>
              <a:rPr lang="en-US" sz="1400" dirty="0">
                <a:solidFill>
                  <a:srgbClr val="111111"/>
                </a:solidFill>
                <a:latin typeface="Arial" pitchFamily="34" charset="0"/>
                <a:ea typeface="Arial" pitchFamily="34" charset="-122"/>
                <a:cs typeface="Arial" pitchFamily="34" charset="-120"/>
              </a:rPr>
              <a:t>e.g. Keep Right 99.8%</a:t>
            </a:r>
            <a:endParaRPr lang="en-US" sz="1700" dirty="0"/>
          </a:p>
        </p:txBody>
      </p:sp>
      <p:sp>
        <p:nvSpPr>
          <p:cNvPr id="18" name="Shape 16"/>
          <p:cNvSpPr/>
          <p:nvPr/>
        </p:nvSpPr>
        <p:spPr>
          <a:xfrm>
            <a:off x="9784080" y="2400300"/>
            <a:ext cx="210312" cy="914"/>
          </a:xfrm>
          <a:prstGeom prst="line">
            <a:avLst/>
          </a:prstGeom>
          <a:noFill/>
          <a:ln w="31750">
            <a:solidFill>
              <a:srgbClr val="0B5A3C"/>
            </a:solidFill>
            <a:prstDash val="solid"/>
            <a:tailEnd type="triangle"/>
          </a:ln>
        </p:spPr>
      </p:sp>
      <p:sp>
        <p:nvSpPr>
          <p:cNvPr id="19" name="Shape 17"/>
          <p:cNvSpPr/>
          <p:nvPr/>
        </p:nvSpPr>
        <p:spPr>
          <a:xfrm>
            <a:off x="10012680" y="1783080"/>
            <a:ext cx="1664208" cy="1234440"/>
          </a:xfrm>
          <a:prstGeom prst="roundRect">
            <a:avLst>
              <a:gd name="adj" fmla="val 5926"/>
            </a:avLst>
          </a:prstGeom>
          <a:solidFill>
            <a:srgbClr val="FFFFFF"/>
          </a:solidFill>
          <a:ln w="15875">
            <a:solidFill>
              <a:srgbClr val="0B5A3C"/>
            </a:solidFill>
            <a:prstDash val="solid"/>
          </a:ln>
        </p:spPr>
      </p:sp>
      <p:sp>
        <p:nvSpPr>
          <p:cNvPr id="20" name="Text 18"/>
          <p:cNvSpPr txBox="1"/>
          <p:nvPr/>
        </p:nvSpPr>
        <p:spPr>
          <a:xfrm>
            <a:off x="10058400" y="1783080"/>
            <a:ext cx="1572768" cy="1234440"/>
          </a:xfrm>
          <a:prstGeom prst="rect">
            <a:avLst/>
          </a:prstGeom>
          <a:noFill/>
          <a:ln/>
        </p:spPr>
        <p:txBody>
          <a:bodyPr wrap="square" lIns="0" tIns="0" rIns="0" bIns="0" rtlCol="0" anchor="ctr"/>
          <a:lstStyle/>
          <a:p>
            <a:pPr algn="ctr" indent="0" marL="0">
              <a:buNone/>
            </a:pPr>
            <a:r>
              <a:rPr lang="en-US" sz="1700" b="1" dirty="0">
                <a:solidFill>
                  <a:srgbClr val="111111"/>
                </a:solidFill>
                <a:latin typeface="Arial" pitchFamily="34" charset="0"/>
                <a:ea typeface="Arial" pitchFamily="34" charset="-122"/>
                <a:cs typeface="Arial" pitchFamily="34" charset="-120"/>
              </a:rPr>
              <a:t>Web app</a:t>
            </a:r>
            <a:endParaRPr lang="en-US" sz="1700" dirty="0"/>
          </a:p>
          <a:p>
            <a:pPr algn="ctr" indent="0" marL="0">
              <a:buNone/>
            </a:pPr>
            <a:r>
              <a:rPr lang="en-US" sz="1400" dirty="0">
                <a:solidFill>
                  <a:srgbClr val="111111"/>
                </a:solidFill>
                <a:latin typeface="Arial" pitchFamily="34" charset="0"/>
                <a:ea typeface="Arial" pitchFamily="34" charset="-122"/>
                <a:cs typeface="Arial" pitchFamily="34" charset="-120"/>
              </a:rPr>
              <a:t>boxes on the photo + results table</a:t>
            </a:r>
            <a:endParaRPr lang="en-US" sz="1700" dirty="0"/>
          </a:p>
        </p:txBody>
      </p:sp>
      <p:sp>
        <p:nvSpPr>
          <p:cNvPr id="21" name="Text 19"/>
          <p:cNvSpPr txBox="1"/>
          <p:nvPr/>
        </p:nvSpPr>
        <p:spPr>
          <a:xfrm>
            <a:off x="457200" y="1371600"/>
            <a:ext cx="1828800" cy="365760"/>
          </a:xfrm>
          <a:prstGeom prst="rect">
            <a:avLst/>
          </a:prstGeom>
          <a:noFill/>
          <a:ln/>
        </p:spPr>
        <p:txBody>
          <a:bodyPr wrap="square" lIns="508" tIns="508" rIns="508" bIns="508" rtlCol="0" anchor="t"/>
          <a:lstStyle/>
          <a:p>
            <a:pPr indent="0" marL="0">
              <a:buNone/>
            </a:pPr>
            <a:r>
              <a:rPr lang="en-US" sz="1600" b="1" dirty="0">
                <a:solidFill>
                  <a:srgbClr val="C75B1E"/>
                </a:solidFill>
                <a:latin typeface="Arial" pitchFamily="34" charset="0"/>
                <a:ea typeface="Arial" pitchFamily="34" charset="-122"/>
                <a:cs typeface="Arial" pitchFamily="34" charset="-120"/>
              </a:rPr>
              <a:t>Path A</a:t>
            </a:r>
            <a:endParaRPr lang="en-US" sz="1600" dirty="0"/>
          </a:p>
        </p:txBody>
      </p:sp>
      <p:sp>
        <p:nvSpPr>
          <p:cNvPr id="22" name="Shape 20"/>
          <p:cNvSpPr/>
          <p:nvPr/>
        </p:nvSpPr>
        <p:spPr>
          <a:xfrm>
            <a:off x="3730752" y="3520440"/>
            <a:ext cx="2212848" cy="914400"/>
          </a:xfrm>
          <a:prstGeom prst="roundRect">
            <a:avLst>
              <a:gd name="adj" fmla="val 8000"/>
            </a:avLst>
          </a:prstGeom>
          <a:solidFill>
            <a:srgbClr val="FBEDE5"/>
          </a:solidFill>
          <a:ln w="15875">
            <a:solidFill>
              <a:srgbClr val="FBEDE5"/>
            </a:solidFill>
            <a:prstDash val="solid"/>
          </a:ln>
        </p:spPr>
      </p:sp>
      <p:sp>
        <p:nvSpPr>
          <p:cNvPr id="23" name="Text 21"/>
          <p:cNvSpPr txBox="1"/>
          <p:nvPr/>
        </p:nvSpPr>
        <p:spPr>
          <a:xfrm>
            <a:off x="3776472" y="3520440"/>
            <a:ext cx="2121408" cy="914400"/>
          </a:xfrm>
          <a:prstGeom prst="rect">
            <a:avLst/>
          </a:prstGeom>
          <a:noFill/>
          <a:ln/>
        </p:spPr>
        <p:txBody>
          <a:bodyPr wrap="square" lIns="0" tIns="0" rIns="0" bIns="0" rtlCol="0" anchor="ctr"/>
          <a:lstStyle/>
          <a:p>
            <a:pPr algn="ctr" indent="0" marL="0">
              <a:buNone/>
            </a:pPr>
            <a:r>
              <a:rPr lang="en-US" sz="1700" b="1" dirty="0">
                <a:solidFill>
                  <a:srgbClr val="111111"/>
                </a:solidFill>
                <a:latin typeface="Arial" pitchFamily="34" charset="0"/>
                <a:ea typeface="Arial" pitchFamily="34" charset="-122"/>
                <a:cs typeface="Arial" pitchFamily="34" charset="-120"/>
              </a:rPr>
              <a:t>Upload one cropped sign</a:t>
            </a:r>
            <a:endParaRPr lang="en-US" sz="1700" dirty="0"/>
          </a:p>
        </p:txBody>
      </p:sp>
      <p:sp>
        <p:nvSpPr>
          <p:cNvPr id="24" name="Shape 22"/>
          <p:cNvSpPr/>
          <p:nvPr/>
        </p:nvSpPr>
        <p:spPr>
          <a:xfrm flipV="1">
            <a:off x="5961888" y="3063240"/>
            <a:ext cx="1060704" cy="914400"/>
          </a:xfrm>
          <a:prstGeom prst="line">
            <a:avLst/>
          </a:prstGeom>
          <a:noFill/>
          <a:ln w="31750">
            <a:solidFill>
              <a:srgbClr val="C75B1E"/>
            </a:solidFill>
            <a:prstDash val="solid"/>
            <a:tailEnd type="triangle"/>
          </a:ln>
        </p:spPr>
      </p:sp>
      <p:sp>
        <p:nvSpPr>
          <p:cNvPr id="25" name="Text 23"/>
          <p:cNvSpPr txBox="1"/>
          <p:nvPr/>
        </p:nvSpPr>
        <p:spPr>
          <a:xfrm>
            <a:off x="3730752" y="4480560"/>
            <a:ext cx="1828800" cy="365760"/>
          </a:xfrm>
          <a:prstGeom prst="rect">
            <a:avLst/>
          </a:prstGeom>
          <a:noFill/>
          <a:ln/>
        </p:spPr>
        <p:txBody>
          <a:bodyPr wrap="square" lIns="508" tIns="508" rIns="508" bIns="508" rtlCol="0" anchor="t"/>
          <a:lstStyle/>
          <a:p>
            <a:pPr indent="0" marL="0">
              <a:buNone/>
            </a:pPr>
            <a:r>
              <a:rPr lang="en-US" sz="1600" b="1" dirty="0">
                <a:solidFill>
                  <a:srgbClr val="C75B1E"/>
                </a:solidFill>
                <a:latin typeface="Arial" pitchFamily="34" charset="0"/>
                <a:ea typeface="Arial" pitchFamily="34" charset="-122"/>
                <a:cs typeface="Arial" pitchFamily="34" charset="-120"/>
              </a:rPr>
              <a:t>Path B</a:t>
            </a:r>
            <a:endParaRPr lang="en-US" sz="1600" dirty="0"/>
          </a:p>
        </p:txBody>
      </p:sp>
      <p:sp>
        <p:nvSpPr>
          <p:cNvPr id="26" name="Shape 24"/>
          <p:cNvSpPr/>
          <p:nvPr/>
        </p:nvSpPr>
        <p:spPr>
          <a:xfrm>
            <a:off x="457200" y="4892040"/>
            <a:ext cx="5486400" cy="960120"/>
          </a:xfrm>
          <a:prstGeom prst="roundRect">
            <a:avLst>
              <a:gd name="adj" fmla="val 7619"/>
            </a:avLst>
          </a:prstGeom>
          <a:solidFill>
            <a:srgbClr val="F2F7F4"/>
          </a:solidFill>
          <a:ln w="9525">
            <a:solidFill>
              <a:srgbClr val="F2F7F4"/>
            </a:solidFill>
            <a:prstDash val="solid"/>
          </a:ln>
        </p:spPr>
      </p:sp>
      <p:sp>
        <p:nvSpPr>
          <p:cNvPr id="27" name="Text 25"/>
          <p:cNvSpPr txBox="1"/>
          <p:nvPr/>
        </p:nvSpPr>
        <p:spPr>
          <a:xfrm>
            <a:off x="640080" y="4892040"/>
            <a:ext cx="5212080" cy="960120"/>
          </a:xfrm>
          <a:prstGeom prst="rect">
            <a:avLst/>
          </a:prstGeom>
          <a:noFill/>
          <a:ln/>
        </p:spPr>
        <p:txBody>
          <a:bodyPr wrap="square" lIns="0" tIns="0" rIns="0" bIns="0" rtlCol="0" anchor="ctr"/>
          <a:lstStyle/>
          <a:p>
            <a:pPr indent="0" marL="0">
              <a:buNone/>
            </a:pPr>
            <a:r>
              <a:rPr lang="en-US" sz="1700" b="1" dirty="0">
                <a:solidFill>
                  <a:srgbClr val="0B5A3C"/>
                </a:solidFill>
                <a:latin typeface="Arial" pitchFamily="34" charset="0"/>
                <a:ea typeface="Arial" pitchFamily="34" charset="-122"/>
                <a:cs typeface="Arial" pitchFamily="34" charset="-120"/>
              </a:rPr>
              <a:t>YOLOv8 = WHERE. </a:t>
            </a:r>
            <a:pPr indent="0" marL="0">
              <a:buNone/>
            </a:pPr>
            <a:r>
              <a:rPr lang="en-US" sz="1700" dirty="0">
                <a:solidFill>
                  <a:srgbClr val="111111"/>
                </a:solidFill>
                <a:latin typeface="Arial" pitchFamily="34" charset="0"/>
                <a:ea typeface="Arial" pitchFamily="34" charset="-122"/>
                <a:cs typeface="Arial" pitchFamily="34" charset="-120"/>
              </a:rPr>
              <a:t>Finds every sign in the photo (one class: "Traffic Sign").</a:t>
            </a:r>
            <a:endParaRPr lang="en-US" sz="1700" dirty="0"/>
          </a:p>
        </p:txBody>
      </p:sp>
      <p:sp>
        <p:nvSpPr>
          <p:cNvPr id="28" name="Shape 26"/>
          <p:cNvSpPr/>
          <p:nvPr/>
        </p:nvSpPr>
        <p:spPr>
          <a:xfrm>
            <a:off x="6245352" y="4892040"/>
            <a:ext cx="5486400" cy="960120"/>
          </a:xfrm>
          <a:prstGeom prst="roundRect">
            <a:avLst>
              <a:gd name="adj" fmla="val 7619"/>
            </a:avLst>
          </a:prstGeom>
          <a:solidFill>
            <a:srgbClr val="F2F7F4"/>
          </a:solidFill>
          <a:ln w="9525">
            <a:solidFill>
              <a:srgbClr val="F2F7F4"/>
            </a:solidFill>
            <a:prstDash val="solid"/>
          </a:ln>
        </p:spPr>
      </p:sp>
      <p:sp>
        <p:nvSpPr>
          <p:cNvPr id="29" name="Text 27"/>
          <p:cNvSpPr txBox="1"/>
          <p:nvPr/>
        </p:nvSpPr>
        <p:spPr>
          <a:xfrm>
            <a:off x="6428232" y="4892040"/>
            <a:ext cx="5212080" cy="960120"/>
          </a:xfrm>
          <a:prstGeom prst="rect">
            <a:avLst/>
          </a:prstGeom>
          <a:noFill/>
          <a:ln/>
        </p:spPr>
        <p:txBody>
          <a:bodyPr wrap="square" lIns="0" tIns="0" rIns="0" bIns="0" rtlCol="0" anchor="ctr"/>
          <a:lstStyle/>
          <a:p>
            <a:pPr indent="0" marL="0">
              <a:buNone/>
            </a:pPr>
            <a:r>
              <a:rPr lang="en-US" sz="1700" b="1" dirty="0">
                <a:solidFill>
                  <a:srgbClr val="0B5A3C"/>
                </a:solidFill>
                <a:latin typeface="Arial" pitchFamily="34" charset="0"/>
                <a:ea typeface="Arial" pitchFamily="34" charset="-122"/>
                <a:cs typeface="Arial" pitchFamily="34" charset="-120"/>
              </a:rPr>
              <a:t>ResNet-18 = WHICH. </a:t>
            </a:r>
            <a:pPr indent="0" marL="0">
              <a:buNone/>
            </a:pPr>
            <a:r>
              <a:rPr lang="en-US" sz="1700" dirty="0">
                <a:solidFill>
                  <a:srgbClr val="111111"/>
                </a:solidFill>
                <a:latin typeface="Arial" pitchFamily="34" charset="0"/>
                <a:ea typeface="Arial" pitchFamily="34" charset="-122"/>
                <a:cs typeface="Arial" pitchFamily="34" charset="-120"/>
              </a:rPr>
              <a:t>Names each sign as one of the 26 classes.</a:t>
            </a:r>
            <a:endParaRPr lang="en-US" sz="1700" dirty="0"/>
          </a:p>
        </p:txBody>
      </p:sp>
      <p:sp>
        <p:nvSpPr>
          <p:cNvPr id="25" name="Slide Number Placeholder 0"/>
          <p:cNvSpPr>
            <a:spLocks noGrp="1"/>
          </p:cNvSpPr>
          <p:nvPr>
            <p:ph type="sldNum" sz="quarter" idx="4294967295"/>
          </p:nvPr>
        </p:nvSpPr>
        <p:spPr>
          <a:xfrm>
            <a:off x="5733288" y="65562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4"/>
          <p:cNvSpPr/>
          <p:nvPr>
            <p:ph idx="105" type="title" hasCustomPrompt="1"/>
          </p:nvPr>
        </p:nvSpPr>
        <p:spPr>
          <a:xfrm>
            <a:off x="1463040" y="155448"/>
            <a:ext cx="9262872" cy="621792"/>
          </a:xfrm>
          <a:prstGeom prst="rect">
            <a:avLst/>
          </a:prstGeom>
          <a:noFill/>
          <a:ln/>
        </p:spPr>
        <p:txBody>
          <a:bodyPr wrap="square" lIns="0" tIns="0" rIns="0" bIns="0" rtlCol="0" anchor="ctr"/>
          <a:lstStyle/>
          <a:p>
            <a:pPr algn="ctr" indent="0" marL="0">
              <a:buNone/>
            </a:pPr>
            <a:r>
              <a:rPr lang="en-US" sz="3000" b="1" dirty="0">
                <a:solidFill>
                  <a:srgbClr val="0B5A3C"/>
                </a:solidFill>
                <a:latin typeface="Arial" pitchFamily="34" charset="0"/>
                <a:ea typeface="Arial" pitchFamily="34" charset="-122"/>
                <a:cs typeface="Arial" pitchFamily="34" charset="-120"/>
              </a:rPr>
              <a:t>Classification vs. Detection</a:t>
            </a:r>
            <a:endParaRPr lang="en-US" sz="3000" dirty="0"/>
          </a:p>
        </p:txBody>
      </p:sp>
      <p:sp>
        <p:nvSpPr>
          <p:cNvPr id="3" name="Text 1"/>
          <p:cNvSpPr txBox="1"/>
          <p:nvPr/>
        </p:nvSpPr>
        <p:spPr>
          <a:xfrm>
            <a:off x="457200" y="1005840"/>
            <a:ext cx="11274552" cy="365760"/>
          </a:xfrm>
          <a:prstGeom prst="rect">
            <a:avLst/>
          </a:prstGeom>
          <a:noFill/>
          <a:ln/>
        </p:spPr>
        <p:txBody>
          <a:bodyPr wrap="square" lIns="0" tIns="0" rIns="0" bIns="0" rtlCol="0" anchor="t"/>
          <a:lstStyle/>
          <a:p>
            <a:pPr indent="0" marL="0">
              <a:buNone/>
            </a:pPr>
            <a:r>
              <a:rPr lang="en-US" sz="1700" dirty="0">
                <a:solidFill>
                  <a:srgbClr val="4A4A4A"/>
                </a:solidFill>
                <a:latin typeface="Arial" pitchFamily="34" charset="0"/>
                <a:ea typeface="Arial" pitchFamily="34" charset="-122"/>
                <a:cs typeface="Arial" pitchFamily="34" charset="-120"/>
              </a:rPr>
              <a:t>They answer different questions, so the system uses both</a:t>
            </a:r>
            <a:endParaRPr lang="en-US" sz="17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2011680"/>
                <a:gridCol w="4631436"/>
                <a:gridCol w="4631436"/>
              </a:tblGrid>
              <a:tr h="621792">
                <a:tc>
                  <a:txBody>
                    <a:bodyPr/>
                    <a:lstStyle/>
                    <a:p>
                      <a:pPr algn="ctr" indent="0" marL="0">
                        <a:buNone/>
                      </a:pP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c>
                  <a:txBody>
                    <a:bodyPr/>
                    <a:lstStyle/>
                    <a:p>
                      <a:pPr algn="ctr" indent="0" marL="0">
                        <a:buNone/>
                      </a:pPr>
                      <a:r>
                        <a:rPr lang="en-US" sz="1900" b="1" dirty="0">
                          <a:solidFill>
                            <a:srgbClr val="FFFFFF"/>
                          </a:solidFill>
                          <a:latin typeface="Arial" pitchFamily="34" charset="0"/>
                          <a:ea typeface="Arial" pitchFamily="34" charset="-122"/>
                          <a:cs typeface="Arial" pitchFamily="34" charset="-120"/>
                        </a:rPr>
                        <a:t>ResNet-18 classifier</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c>
                  <a:txBody>
                    <a:bodyPr/>
                    <a:lstStyle/>
                    <a:p>
                      <a:pPr algn="ctr" indent="0" marL="0">
                        <a:buNone/>
                      </a:pPr>
                      <a:r>
                        <a:rPr lang="en-US" sz="1900" b="1" dirty="0">
                          <a:solidFill>
                            <a:srgbClr val="FFFFFF"/>
                          </a:solidFill>
                          <a:latin typeface="Arial" pitchFamily="34" charset="0"/>
                          <a:ea typeface="Arial" pitchFamily="34" charset="-122"/>
                          <a:cs typeface="Arial" pitchFamily="34" charset="-120"/>
                        </a:rPr>
                        <a:t>YOLOv8 detector</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r>
              <a:tr h="621792">
                <a:tc>
                  <a:txBody>
                    <a:bodyPr/>
                    <a:lstStyle/>
                    <a:p>
                      <a:pPr algn="ctr" indent="0" marL="0">
                        <a:buNone/>
                      </a:pPr>
                      <a:r>
                        <a:rPr lang="en-US" sz="1900" b="1" dirty="0">
                          <a:solidFill>
                            <a:srgbClr val="111111"/>
                          </a:solidFill>
                          <a:latin typeface="Arial" pitchFamily="34" charset="0"/>
                          <a:ea typeface="Arial" pitchFamily="34" charset="-122"/>
                          <a:cs typeface="Arial" pitchFamily="34" charset="-120"/>
                        </a:rPr>
                        <a:t>Question</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900" dirty="0">
                          <a:solidFill>
                            <a:srgbClr val="111111"/>
                          </a:solidFill>
                          <a:latin typeface="Arial" pitchFamily="34" charset="0"/>
                          <a:ea typeface="Arial" pitchFamily="34" charset="-122"/>
                          <a:cs typeface="Arial" pitchFamily="34" charset="-120"/>
                        </a:rPr>
                        <a:t>What type of sign is this crop?</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900" dirty="0">
                          <a:solidFill>
                            <a:srgbClr val="111111"/>
                          </a:solidFill>
                          <a:latin typeface="Arial" pitchFamily="34" charset="0"/>
                          <a:ea typeface="Arial" pitchFamily="34" charset="-122"/>
                          <a:cs typeface="Arial" pitchFamily="34" charset="-120"/>
                        </a:rPr>
                        <a:t>Where are the signs in this photo?</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r h="621792">
                <a:tc>
                  <a:txBody>
                    <a:bodyPr/>
                    <a:lstStyle/>
                    <a:p>
                      <a:pPr algn="ctr" indent="0" marL="0">
                        <a:buNone/>
                      </a:pPr>
                      <a:r>
                        <a:rPr lang="en-US" sz="1900" b="1" dirty="0">
                          <a:solidFill>
                            <a:srgbClr val="111111"/>
                          </a:solidFill>
                          <a:latin typeface="Arial" pitchFamily="34" charset="0"/>
                          <a:ea typeface="Arial" pitchFamily="34" charset="-122"/>
                          <a:cs typeface="Arial" pitchFamily="34" charset="-120"/>
                        </a:rPr>
                        <a:t>Input</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900" dirty="0">
                          <a:solidFill>
                            <a:srgbClr val="111111"/>
                          </a:solidFill>
                          <a:latin typeface="Arial" pitchFamily="34" charset="0"/>
                          <a:ea typeface="Arial" pitchFamily="34" charset="-122"/>
                          <a:cs typeface="Arial" pitchFamily="34" charset="-120"/>
                        </a:rPr>
                        <a:t>one cropped sign (224 × 224)</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900" dirty="0">
                          <a:solidFill>
                            <a:srgbClr val="111111"/>
                          </a:solidFill>
                          <a:latin typeface="Arial" pitchFamily="34" charset="0"/>
                          <a:ea typeface="Arial" pitchFamily="34" charset="-122"/>
                          <a:cs typeface="Arial" pitchFamily="34" charset="-120"/>
                        </a:rPr>
                        <a:t>full street photo</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r h="621792">
                <a:tc>
                  <a:txBody>
                    <a:bodyPr/>
                    <a:lstStyle/>
                    <a:p>
                      <a:pPr algn="ctr" indent="0" marL="0">
                        <a:buNone/>
                      </a:pPr>
                      <a:r>
                        <a:rPr lang="en-US" sz="1900" b="1" dirty="0">
                          <a:solidFill>
                            <a:srgbClr val="111111"/>
                          </a:solidFill>
                          <a:latin typeface="Arial" pitchFamily="34" charset="0"/>
                          <a:ea typeface="Arial" pitchFamily="34" charset="-122"/>
                          <a:cs typeface="Arial" pitchFamily="34" charset="-120"/>
                        </a:rPr>
                        <a:t>Output</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900" dirty="0">
                          <a:solidFill>
                            <a:srgbClr val="111111"/>
                          </a:solidFill>
                          <a:latin typeface="Arial" pitchFamily="34" charset="0"/>
                          <a:ea typeface="Arial" pitchFamily="34" charset="-122"/>
                          <a:cs typeface="Arial" pitchFamily="34" charset="-120"/>
                        </a:rPr>
                        <a:t>1 of 26 classes + confidence</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900" dirty="0">
                          <a:solidFill>
                            <a:srgbClr val="111111"/>
                          </a:solidFill>
                          <a:latin typeface="Arial" pitchFamily="34" charset="0"/>
                          <a:ea typeface="Arial" pitchFamily="34" charset="-122"/>
                          <a:cs typeface="Arial" pitchFamily="34" charset="-120"/>
                        </a:rPr>
                        <a:t>boxes labelled "Traffic Sign"</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r h="621792">
                <a:tc>
                  <a:txBody>
                    <a:bodyPr/>
                    <a:lstStyle/>
                    <a:p>
                      <a:pPr algn="ctr" indent="0" marL="0">
                        <a:buNone/>
                      </a:pPr>
                      <a:r>
                        <a:rPr lang="en-US" sz="1900" b="1" dirty="0">
                          <a:solidFill>
                            <a:srgbClr val="111111"/>
                          </a:solidFill>
                          <a:latin typeface="Arial" pitchFamily="34" charset="0"/>
                          <a:ea typeface="Arial" pitchFamily="34" charset="-122"/>
                          <a:cs typeface="Arial" pitchFamily="34" charset="-120"/>
                        </a:rPr>
                        <a:t>Trained on</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900" dirty="0">
                          <a:solidFill>
                            <a:srgbClr val="111111"/>
                          </a:solidFill>
                          <a:latin typeface="Arial" pitchFamily="34" charset="0"/>
                          <a:ea typeface="Arial" pitchFamily="34" charset="-122"/>
                          <a:cs typeface="Arial" pitchFamily="34" charset="-120"/>
                        </a:rPr>
                        <a:t>2,153 sign crops, 26 labels</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900" dirty="0">
                          <a:solidFill>
                            <a:srgbClr val="111111"/>
                          </a:solidFill>
                          <a:latin typeface="Arial" pitchFamily="34" charset="0"/>
                          <a:ea typeface="Arial" pitchFamily="34" charset="-122"/>
                          <a:cs typeface="Arial" pitchFamily="34" charset="-120"/>
                        </a:rPr>
                        <a:t>2,009 photos with sign boxes</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bl>
          </a:graphicData>
        </a:graphic>
      </p:graphicFrame>
      <p:sp>
        <p:nvSpPr>
          <p:cNvPr id="5" name="Text 2"/>
          <p:cNvSpPr txBox="1"/>
          <p:nvPr/>
        </p:nvSpPr>
        <p:spPr>
          <a:xfrm>
            <a:off x="457200" y="4800600"/>
            <a:ext cx="11274552" cy="411480"/>
          </a:xfrm>
          <a:prstGeom prst="rect">
            <a:avLst/>
          </a:prstGeom>
          <a:noFill/>
          <a:ln/>
        </p:spPr>
        <p:txBody>
          <a:bodyPr wrap="square" lIns="508" tIns="508" rIns="508" bIns="508" rtlCol="0" anchor="t"/>
          <a:lstStyle/>
          <a:p>
            <a:pPr indent="0" marL="0">
              <a:buNone/>
            </a:pPr>
            <a:r>
              <a:rPr lang="en-US" sz="2000" b="1" dirty="0">
                <a:solidFill>
                  <a:srgbClr val="0B5A3C"/>
                </a:solidFill>
                <a:latin typeface="Arial" pitchFamily="34" charset="0"/>
                <a:ea typeface="Arial" pitchFamily="34" charset="-122"/>
                <a:cs typeface="Arial" pitchFamily="34" charset="-120"/>
              </a:rPr>
              <a:t>Why not YOLO alone?</a:t>
            </a:r>
            <a:endParaRPr lang="en-US" sz="2000" dirty="0"/>
          </a:p>
        </p:txBody>
      </p:sp>
      <p:sp>
        <p:nvSpPr>
          <p:cNvPr id="6" name="Text 3"/>
          <p:cNvSpPr txBox="1"/>
          <p:nvPr/>
        </p:nvSpPr>
        <p:spPr>
          <a:xfrm>
            <a:off x="457200" y="5230368"/>
            <a:ext cx="11274552" cy="1097280"/>
          </a:xfrm>
          <a:prstGeom prst="rect">
            <a:avLst/>
          </a:prstGeom>
          <a:noFill/>
          <a:ln/>
        </p:spPr>
        <p:txBody>
          <a:bodyPr wrap="square" lIns="635" tIns="635" rIns="635" bIns="635" rtlCol="0" anchor="t"/>
          <a:lstStyle/>
          <a:p>
            <a:pPr marL="279400" indent="-279400">
              <a:spcAft>
                <a:spcPts val="1000"/>
              </a:spcAft>
              <a:buSzPct val="100000"/>
              <a:buChar char="•"/>
            </a:pPr>
            <a:r>
              <a:rPr lang="en-US" sz="1700" dirty="0">
                <a:solidFill>
                  <a:srgbClr val="111111"/>
                </a:solidFill>
                <a:latin typeface="Arial" pitchFamily="34" charset="0"/>
                <a:ea typeface="Arial" pitchFamily="34" charset="-122"/>
                <a:cs typeface="Arial" pitchFamily="34" charset="-120"/>
              </a:rPr>
              <a:t>The course task is to compare CNN classifiers, so classification of cropped signs is the core; the detector was added to handle full photos</a:t>
            </a:r>
            <a:endParaRPr lang="en-US" sz="1700" dirty="0"/>
          </a:p>
          <a:p>
            <a:pPr marL="279400" indent="-279400">
              <a:spcAft>
                <a:spcPts val="1000"/>
              </a:spcAft>
              <a:buSzPct val="100000"/>
              <a:buChar char="•"/>
            </a:pPr>
            <a:r>
              <a:rPr lang="en-US" sz="1700" dirty="0">
                <a:solidFill>
                  <a:srgbClr val="111111"/>
                </a:solidFill>
                <a:latin typeface="Arial" pitchFamily="34" charset="0"/>
                <a:ea typeface="Arial" pitchFamily="34" charset="-122"/>
                <a:cs typeface="Arial" pitchFamily="34" charset="-120"/>
              </a:rPr>
              <a:t>YOLO can also be trained to classify all 26 signs; I did not test that option, so I do not claim my design is better</a:t>
            </a:r>
            <a:endParaRPr lang="en-US" sz="1700" dirty="0"/>
          </a:p>
        </p:txBody>
      </p:sp>
      <p:sp>
        <p:nvSpPr>
          <p:cNvPr id="25" name="Slide Number Placeholder 0"/>
          <p:cNvSpPr>
            <a:spLocks noGrp="1"/>
          </p:cNvSpPr>
          <p:nvPr>
            <p:ph type="sldNum" sz="quarter" idx="4294967295"/>
          </p:nvPr>
        </p:nvSpPr>
        <p:spPr>
          <a:xfrm>
            <a:off x="5733288" y="65562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4"/>
          <p:cNvSpPr/>
          <p:nvPr>
            <p:ph idx="105" type="title" hasCustomPrompt="1"/>
          </p:nvPr>
        </p:nvSpPr>
        <p:spPr>
          <a:xfrm>
            <a:off x="1463040" y="155448"/>
            <a:ext cx="9262872" cy="621792"/>
          </a:xfrm>
          <a:prstGeom prst="rect">
            <a:avLst/>
          </a:prstGeom>
          <a:noFill/>
          <a:ln/>
        </p:spPr>
        <p:txBody>
          <a:bodyPr wrap="square" lIns="0" tIns="0" rIns="0" bIns="0" rtlCol="0" anchor="ctr"/>
          <a:lstStyle/>
          <a:p>
            <a:pPr algn="ctr" indent="0" marL="0">
              <a:buNone/>
            </a:pPr>
            <a:r>
              <a:rPr lang="en-US" sz="3000" b="1" dirty="0">
                <a:solidFill>
                  <a:srgbClr val="0B5A3C"/>
                </a:solidFill>
                <a:latin typeface="Arial" pitchFamily="34" charset="0"/>
                <a:ea typeface="Arial" pitchFamily="34" charset="-122"/>
                <a:cs typeface="Arial" pitchFamily="34" charset="-120"/>
              </a:rPr>
              <a:t>Model Architectures</a:t>
            </a:r>
            <a:endParaRPr lang="en-US" sz="3000" dirty="0"/>
          </a:p>
        </p:txBody>
      </p:sp>
      <p:sp>
        <p:nvSpPr>
          <p:cNvPr id="3" name="Text 1"/>
          <p:cNvSpPr txBox="1"/>
          <p:nvPr/>
        </p:nvSpPr>
        <p:spPr>
          <a:xfrm>
            <a:off x="457200" y="1234440"/>
            <a:ext cx="11274552" cy="384048"/>
          </a:xfrm>
          <a:prstGeom prst="rect">
            <a:avLst/>
          </a:prstGeom>
          <a:noFill/>
          <a:ln/>
        </p:spPr>
        <p:txBody>
          <a:bodyPr wrap="square" lIns="508" tIns="508" rIns="508" bIns="508" rtlCol="0" anchor="t"/>
          <a:lstStyle/>
          <a:p>
            <a:pPr indent="0" marL="0">
              <a:buNone/>
            </a:pPr>
            <a:r>
              <a:rPr lang="en-US" sz="1900" b="1" dirty="0">
                <a:solidFill>
                  <a:srgbClr val="0B5A3C"/>
                </a:solidFill>
                <a:latin typeface="Arial" pitchFamily="34" charset="0"/>
                <a:ea typeface="Arial" pitchFamily="34" charset="-122"/>
                <a:cs typeface="Arial" pitchFamily="34" charset="-120"/>
              </a:rPr>
              <a:t>Approach 1: SmallCNN, trained from scratch</a:t>
            </a:r>
            <a:endParaRPr lang="en-US" sz="1900" dirty="0"/>
          </a:p>
        </p:txBody>
      </p:sp>
      <p:sp>
        <p:nvSpPr>
          <p:cNvPr id="4" name="Shape 2"/>
          <p:cNvSpPr/>
          <p:nvPr/>
        </p:nvSpPr>
        <p:spPr>
          <a:xfrm>
            <a:off x="457200" y="1737360"/>
            <a:ext cx="1444752" cy="1005840"/>
          </a:xfrm>
          <a:prstGeom prst="roundRect">
            <a:avLst>
              <a:gd name="adj" fmla="val 7273"/>
            </a:avLst>
          </a:prstGeom>
          <a:solidFill>
            <a:srgbClr val="F2F7F4"/>
          </a:solidFill>
          <a:ln w="15875">
            <a:solidFill>
              <a:srgbClr val="F2F7F4"/>
            </a:solidFill>
            <a:prstDash val="solid"/>
          </a:ln>
        </p:spPr>
      </p:sp>
      <p:sp>
        <p:nvSpPr>
          <p:cNvPr id="5" name="Text 3"/>
          <p:cNvSpPr txBox="1"/>
          <p:nvPr/>
        </p:nvSpPr>
        <p:spPr>
          <a:xfrm>
            <a:off x="502920" y="1737360"/>
            <a:ext cx="1353312" cy="1005840"/>
          </a:xfrm>
          <a:prstGeom prst="rect">
            <a:avLst/>
          </a:prstGeom>
          <a:noFill/>
          <a:ln/>
        </p:spPr>
        <p:txBody>
          <a:bodyPr wrap="square" lIns="0" tIns="0" rIns="0" bIns="0" rtlCol="0" anchor="ctr"/>
          <a:lstStyle/>
          <a:p>
            <a:pPr algn="ctr" indent="0" marL="0">
              <a:buNone/>
            </a:pPr>
            <a:r>
              <a:rPr lang="en-US" sz="1600" b="1" dirty="0">
                <a:solidFill>
                  <a:srgbClr val="111111"/>
                </a:solidFill>
                <a:latin typeface="Arial" pitchFamily="34" charset="0"/>
                <a:ea typeface="Arial" pitchFamily="34" charset="-122"/>
                <a:cs typeface="Arial" pitchFamily="34" charset="-120"/>
              </a:rPr>
              <a:t>Input</a:t>
            </a:r>
            <a:endParaRPr lang="en-US" sz="1600" dirty="0"/>
          </a:p>
          <a:p>
            <a:pPr algn="ctr" indent="0" marL="0">
              <a:buNone/>
            </a:pPr>
            <a:r>
              <a:rPr lang="en-US" sz="1400" dirty="0">
                <a:solidFill>
                  <a:srgbClr val="111111"/>
                </a:solidFill>
                <a:latin typeface="Arial" pitchFamily="34" charset="0"/>
                <a:ea typeface="Arial" pitchFamily="34" charset="-122"/>
                <a:cs typeface="Arial" pitchFamily="34" charset="-120"/>
              </a:rPr>
              <a:t>224 × 224 × 3</a:t>
            </a:r>
            <a:endParaRPr lang="en-US" sz="1600" dirty="0"/>
          </a:p>
        </p:txBody>
      </p:sp>
      <p:sp>
        <p:nvSpPr>
          <p:cNvPr id="6" name="Shape 4"/>
          <p:cNvSpPr/>
          <p:nvPr/>
        </p:nvSpPr>
        <p:spPr>
          <a:xfrm>
            <a:off x="1911096" y="2240280"/>
            <a:ext cx="173736" cy="914"/>
          </a:xfrm>
          <a:prstGeom prst="line">
            <a:avLst/>
          </a:prstGeom>
          <a:noFill/>
          <a:ln w="31750">
            <a:solidFill>
              <a:srgbClr val="0B5A3C"/>
            </a:solidFill>
            <a:prstDash val="solid"/>
            <a:tailEnd type="triangle"/>
          </a:ln>
        </p:spPr>
      </p:sp>
      <p:sp>
        <p:nvSpPr>
          <p:cNvPr id="7" name="Shape 5"/>
          <p:cNvSpPr/>
          <p:nvPr/>
        </p:nvSpPr>
        <p:spPr>
          <a:xfrm>
            <a:off x="2093976" y="1737360"/>
            <a:ext cx="1444752" cy="1005840"/>
          </a:xfrm>
          <a:prstGeom prst="roundRect">
            <a:avLst>
              <a:gd name="adj" fmla="val 7273"/>
            </a:avLst>
          </a:prstGeom>
          <a:solidFill>
            <a:srgbClr val="0B5A3C"/>
          </a:solidFill>
          <a:ln w="15875">
            <a:solidFill>
              <a:srgbClr val="0B5A3C"/>
            </a:solidFill>
            <a:prstDash val="solid"/>
          </a:ln>
        </p:spPr>
      </p:sp>
      <p:sp>
        <p:nvSpPr>
          <p:cNvPr id="8" name="Text 6"/>
          <p:cNvSpPr txBox="1"/>
          <p:nvPr/>
        </p:nvSpPr>
        <p:spPr>
          <a:xfrm>
            <a:off x="2139696" y="1737360"/>
            <a:ext cx="1353312" cy="10058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Conv block</a:t>
            </a:r>
            <a:endParaRPr lang="en-US" sz="1600" dirty="0"/>
          </a:p>
          <a:p>
            <a:pPr algn="ctr" indent="0" marL="0">
              <a:buNone/>
            </a:pPr>
            <a:r>
              <a:rPr lang="en-US" sz="1400" dirty="0">
                <a:solidFill>
                  <a:srgbClr val="FFFFFF"/>
                </a:solidFill>
                <a:latin typeface="Arial" pitchFamily="34" charset="0"/>
                <a:ea typeface="Arial" pitchFamily="34" charset="-122"/>
                <a:cs typeface="Arial" pitchFamily="34" charset="-120"/>
              </a:rPr>
              <a:t>32 filters</a:t>
            </a:r>
            <a:endParaRPr lang="en-US" sz="1600" dirty="0"/>
          </a:p>
        </p:txBody>
      </p:sp>
      <p:sp>
        <p:nvSpPr>
          <p:cNvPr id="9" name="Shape 7"/>
          <p:cNvSpPr/>
          <p:nvPr/>
        </p:nvSpPr>
        <p:spPr>
          <a:xfrm>
            <a:off x="3547872" y="2240280"/>
            <a:ext cx="173736" cy="914"/>
          </a:xfrm>
          <a:prstGeom prst="line">
            <a:avLst/>
          </a:prstGeom>
          <a:noFill/>
          <a:ln w="31750">
            <a:solidFill>
              <a:srgbClr val="0B5A3C"/>
            </a:solidFill>
            <a:prstDash val="solid"/>
            <a:tailEnd type="triangle"/>
          </a:ln>
        </p:spPr>
      </p:sp>
      <p:sp>
        <p:nvSpPr>
          <p:cNvPr id="10" name="Shape 8"/>
          <p:cNvSpPr/>
          <p:nvPr/>
        </p:nvSpPr>
        <p:spPr>
          <a:xfrm>
            <a:off x="3730752" y="1737360"/>
            <a:ext cx="1444752" cy="1005840"/>
          </a:xfrm>
          <a:prstGeom prst="roundRect">
            <a:avLst>
              <a:gd name="adj" fmla="val 7273"/>
            </a:avLst>
          </a:prstGeom>
          <a:solidFill>
            <a:srgbClr val="0B5A3C"/>
          </a:solidFill>
          <a:ln w="15875">
            <a:solidFill>
              <a:srgbClr val="0B5A3C"/>
            </a:solidFill>
            <a:prstDash val="solid"/>
          </a:ln>
        </p:spPr>
      </p:sp>
      <p:sp>
        <p:nvSpPr>
          <p:cNvPr id="11" name="Text 9"/>
          <p:cNvSpPr txBox="1"/>
          <p:nvPr/>
        </p:nvSpPr>
        <p:spPr>
          <a:xfrm>
            <a:off x="3776472" y="1737360"/>
            <a:ext cx="1353312" cy="10058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Conv block</a:t>
            </a:r>
            <a:endParaRPr lang="en-US" sz="1600" dirty="0"/>
          </a:p>
          <a:p>
            <a:pPr algn="ctr" indent="0" marL="0">
              <a:buNone/>
            </a:pPr>
            <a:r>
              <a:rPr lang="en-US" sz="1400" dirty="0">
                <a:solidFill>
                  <a:srgbClr val="FFFFFF"/>
                </a:solidFill>
                <a:latin typeface="Arial" pitchFamily="34" charset="0"/>
                <a:ea typeface="Arial" pitchFamily="34" charset="-122"/>
                <a:cs typeface="Arial" pitchFamily="34" charset="-120"/>
              </a:rPr>
              <a:t>64 filters</a:t>
            </a:r>
            <a:endParaRPr lang="en-US" sz="1600" dirty="0"/>
          </a:p>
        </p:txBody>
      </p:sp>
      <p:sp>
        <p:nvSpPr>
          <p:cNvPr id="12" name="Shape 10"/>
          <p:cNvSpPr/>
          <p:nvPr/>
        </p:nvSpPr>
        <p:spPr>
          <a:xfrm>
            <a:off x="5184648" y="2240280"/>
            <a:ext cx="173736" cy="914"/>
          </a:xfrm>
          <a:prstGeom prst="line">
            <a:avLst/>
          </a:prstGeom>
          <a:noFill/>
          <a:ln w="31750">
            <a:solidFill>
              <a:srgbClr val="0B5A3C"/>
            </a:solidFill>
            <a:prstDash val="solid"/>
            <a:tailEnd type="triangle"/>
          </a:ln>
        </p:spPr>
      </p:sp>
      <p:sp>
        <p:nvSpPr>
          <p:cNvPr id="13" name="Shape 11"/>
          <p:cNvSpPr/>
          <p:nvPr/>
        </p:nvSpPr>
        <p:spPr>
          <a:xfrm>
            <a:off x="5367528" y="1737360"/>
            <a:ext cx="1444752" cy="1005840"/>
          </a:xfrm>
          <a:prstGeom prst="roundRect">
            <a:avLst>
              <a:gd name="adj" fmla="val 7273"/>
            </a:avLst>
          </a:prstGeom>
          <a:solidFill>
            <a:srgbClr val="0B5A3C"/>
          </a:solidFill>
          <a:ln w="15875">
            <a:solidFill>
              <a:srgbClr val="0B5A3C"/>
            </a:solidFill>
            <a:prstDash val="solid"/>
          </a:ln>
        </p:spPr>
      </p:sp>
      <p:sp>
        <p:nvSpPr>
          <p:cNvPr id="14" name="Text 12"/>
          <p:cNvSpPr txBox="1"/>
          <p:nvPr/>
        </p:nvSpPr>
        <p:spPr>
          <a:xfrm>
            <a:off x="5413248" y="1737360"/>
            <a:ext cx="1353312" cy="10058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Conv block</a:t>
            </a:r>
            <a:endParaRPr lang="en-US" sz="1600" dirty="0"/>
          </a:p>
          <a:p>
            <a:pPr algn="ctr" indent="0" marL="0">
              <a:buNone/>
            </a:pPr>
            <a:r>
              <a:rPr lang="en-US" sz="1400" dirty="0">
                <a:solidFill>
                  <a:srgbClr val="FFFFFF"/>
                </a:solidFill>
                <a:latin typeface="Arial" pitchFamily="34" charset="0"/>
                <a:ea typeface="Arial" pitchFamily="34" charset="-122"/>
                <a:cs typeface="Arial" pitchFamily="34" charset="-120"/>
              </a:rPr>
              <a:t>128 filters</a:t>
            </a:r>
            <a:endParaRPr lang="en-US" sz="1600" dirty="0"/>
          </a:p>
        </p:txBody>
      </p:sp>
      <p:sp>
        <p:nvSpPr>
          <p:cNvPr id="15" name="Shape 13"/>
          <p:cNvSpPr/>
          <p:nvPr/>
        </p:nvSpPr>
        <p:spPr>
          <a:xfrm>
            <a:off x="6821424" y="2240280"/>
            <a:ext cx="173736" cy="914"/>
          </a:xfrm>
          <a:prstGeom prst="line">
            <a:avLst/>
          </a:prstGeom>
          <a:noFill/>
          <a:ln w="31750">
            <a:solidFill>
              <a:srgbClr val="0B5A3C"/>
            </a:solidFill>
            <a:prstDash val="solid"/>
            <a:tailEnd type="triangle"/>
          </a:ln>
        </p:spPr>
      </p:sp>
      <p:sp>
        <p:nvSpPr>
          <p:cNvPr id="16" name="Shape 14"/>
          <p:cNvSpPr/>
          <p:nvPr/>
        </p:nvSpPr>
        <p:spPr>
          <a:xfrm>
            <a:off x="7004304" y="1737360"/>
            <a:ext cx="1444752" cy="1005840"/>
          </a:xfrm>
          <a:prstGeom prst="roundRect">
            <a:avLst>
              <a:gd name="adj" fmla="val 7273"/>
            </a:avLst>
          </a:prstGeom>
          <a:solidFill>
            <a:srgbClr val="0B5A3C"/>
          </a:solidFill>
          <a:ln w="15875">
            <a:solidFill>
              <a:srgbClr val="0B5A3C"/>
            </a:solidFill>
            <a:prstDash val="solid"/>
          </a:ln>
        </p:spPr>
      </p:sp>
      <p:sp>
        <p:nvSpPr>
          <p:cNvPr id="17" name="Text 15"/>
          <p:cNvSpPr txBox="1"/>
          <p:nvPr/>
        </p:nvSpPr>
        <p:spPr>
          <a:xfrm>
            <a:off x="7050024" y="1737360"/>
            <a:ext cx="1353312" cy="10058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Global pool</a:t>
            </a:r>
            <a:endParaRPr lang="en-US" sz="1600" dirty="0"/>
          </a:p>
        </p:txBody>
      </p:sp>
      <p:sp>
        <p:nvSpPr>
          <p:cNvPr id="18" name="Shape 16"/>
          <p:cNvSpPr/>
          <p:nvPr/>
        </p:nvSpPr>
        <p:spPr>
          <a:xfrm>
            <a:off x="8458200" y="2240280"/>
            <a:ext cx="173736" cy="914"/>
          </a:xfrm>
          <a:prstGeom prst="line">
            <a:avLst/>
          </a:prstGeom>
          <a:noFill/>
          <a:ln w="31750">
            <a:solidFill>
              <a:srgbClr val="0B5A3C"/>
            </a:solidFill>
            <a:prstDash val="solid"/>
            <a:tailEnd type="triangle"/>
          </a:ln>
        </p:spPr>
      </p:sp>
      <p:sp>
        <p:nvSpPr>
          <p:cNvPr id="19" name="Shape 17"/>
          <p:cNvSpPr/>
          <p:nvPr/>
        </p:nvSpPr>
        <p:spPr>
          <a:xfrm>
            <a:off x="8641080" y="1737360"/>
            <a:ext cx="1444752" cy="1005840"/>
          </a:xfrm>
          <a:prstGeom prst="roundRect">
            <a:avLst>
              <a:gd name="adj" fmla="val 7273"/>
            </a:avLst>
          </a:prstGeom>
          <a:solidFill>
            <a:srgbClr val="0B5A3C"/>
          </a:solidFill>
          <a:ln w="15875">
            <a:solidFill>
              <a:srgbClr val="0B5A3C"/>
            </a:solidFill>
            <a:prstDash val="solid"/>
          </a:ln>
        </p:spPr>
      </p:sp>
      <p:sp>
        <p:nvSpPr>
          <p:cNvPr id="20" name="Text 18"/>
          <p:cNvSpPr txBox="1"/>
          <p:nvPr/>
        </p:nvSpPr>
        <p:spPr>
          <a:xfrm>
            <a:off x="8686800" y="1737360"/>
            <a:ext cx="1353312" cy="10058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Dense 256</a:t>
            </a:r>
            <a:endParaRPr lang="en-US" sz="1600" dirty="0"/>
          </a:p>
          <a:p>
            <a:pPr algn="ctr" indent="0" marL="0">
              <a:buNone/>
            </a:pPr>
            <a:r>
              <a:rPr lang="en-US" sz="1400" dirty="0">
                <a:solidFill>
                  <a:srgbClr val="FFFFFF"/>
                </a:solidFill>
                <a:latin typeface="Arial" pitchFamily="34" charset="0"/>
                <a:ea typeface="Arial" pitchFamily="34" charset="-122"/>
                <a:cs typeface="Arial" pitchFamily="34" charset="-120"/>
              </a:rPr>
              <a:t>+ dropout 0.5</a:t>
            </a:r>
            <a:endParaRPr lang="en-US" sz="1600" dirty="0"/>
          </a:p>
        </p:txBody>
      </p:sp>
      <p:sp>
        <p:nvSpPr>
          <p:cNvPr id="21" name="Shape 19"/>
          <p:cNvSpPr/>
          <p:nvPr/>
        </p:nvSpPr>
        <p:spPr>
          <a:xfrm>
            <a:off x="10094976" y="2240280"/>
            <a:ext cx="173736" cy="914"/>
          </a:xfrm>
          <a:prstGeom prst="line">
            <a:avLst/>
          </a:prstGeom>
          <a:noFill/>
          <a:ln w="31750">
            <a:solidFill>
              <a:srgbClr val="0B5A3C"/>
            </a:solidFill>
            <a:prstDash val="solid"/>
            <a:tailEnd type="triangle"/>
          </a:ln>
        </p:spPr>
      </p:sp>
      <p:sp>
        <p:nvSpPr>
          <p:cNvPr id="22" name="Shape 20"/>
          <p:cNvSpPr/>
          <p:nvPr/>
        </p:nvSpPr>
        <p:spPr>
          <a:xfrm>
            <a:off x="10277856" y="1737360"/>
            <a:ext cx="1444752" cy="1005840"/>
          </a:xfrm>
          <a:prstGeom prst="roundRect">
            <a:avLst>
              <a:gd name="adj" fmla="val 7273"/>
            </a:avLst>
          </a:prstGeom>
          <a:solidFill>
            <a:srgbClr val="C75B1E"/>
          </a:solidFill>
          <a:ln w="15875">
            <a:solidFill>
              <a:srgbClr val="C75B1E"/>
            </a:solidFill>
            <a:prstDash val="solid"/>
          </a:ln>
        </p:spPr>
      </p:sp>
      <p:sp>
        <p:nvSpPr>
          <p:cNvPr id="23" name="Text 21"/>
          <p:cNvSpPr txBox="1"/>
          <p:nvPr/>
        </p:nvSpPr>
        <p:spPr>
          <a:xfrm>
            <a:off x="10323576" y="1737360"/>
            <a:ext cx="1353312" cy="10058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Output</a:t>
            </a:r>
            <a:endParaRPr lang="en-US" sz="1600" dirty="0"/>
          </a:p>
          <a:p>
            <a:pPr algn="ctr" indent="0" marL="0">
              <a:buNone/>
            </a:pPr>
            <a:r>
              <a:rPr lang="en-US" sz="1400" dirty="0">
                <a:solidFill>
                  <a:srgbClr val="FFFFFF"/>
                </a:solidFill>
                <a:latin typeface="Arial" pitchFamily="34" charset="0"/>
                <a:ea typeface="Arial" pitchFamily="34" charset="-122"/>
                <a:cs typeface="Arial" pitchFamily="34" charset="-120"/>
              </a:rPr>
              <a:t>26 classes</a:t>
            </a:r>
            <a:endParaRPr lang="en-US" sz="1600" dirty="0"/>
          </a:p>
        </p:txBody>
      </p:sp>
      <p:sp>
        <p:nvSpPr>
          <p:cNvPr id="24" name="Text 22"/>
          <p:cNvSpPr txBox="1"/>
          <p:nvPr/>
        </p:nvSpPr>
        <p:spPr>
          <a:xfrm>
            <a:off x="457200" y="2834640"/>
            <a:ext cx="11274552" cy="365760"/>
          </a:xfrm>
          <a:prstGeom prst="rect">
            <a:avLst/>
          </a:prstGeom>
          <a:noFill/>
          <a:ln/>
        </p:spPr>
        <p:txBody>
          <a:bodyPr wrap="square" lIns="508" tIns="508" rIns="508" bIns="508" rtlCol="0" anchor="t"/>
          <a:lstStyle/>
          <a:p>
            <a:pPr indent="0" marL="0">
              <a:buNone/>
            </a:pPr>
            <a:r>
              <a:rPr lang="en-US" sz="1500" dirty="0">
                <a:solidFill>
                  <a:srgbClr val="4A4A4A"/>
                </a:solidFill>
                <a:latin typeface="Arial" pitchFamily="34" charset="0"/>
                <a:ea typeface="Arial" pitchFamily="34" charset="-122"/>
                <a:cs typeface="Arial" pitchFamily="34" charset="-120"/>
              </a:rPr>
              <a:t>Conv block = 3×3 convolution → batch norm → ReLU → 2×2 max-pool · 133,178 trainable weights</a:t>
            </a:r>
            <a:endParaRPr lang="en-US" sz="1500" dirty="0"/>
          </a:p>
        </p:txBody>
      </p:sp>
      <p:sp>
        <p:nvSpPr>
          <p:cNvPr id="25" name="Text 23"/>
          <p:cNvSpPr txBox="1"/>
          <p:nvPr/>
        </p:nvSpPr>
        <p:spPr>
          <a:xfrm>
            <a:off x="457200" y="3429000"/>
            <a:ext cx="11274552" cy="384048"/>
          </a:xfrm>
          <a:prstGeom prst="rect">
            <a:avLst/>
          </a:prstGeom>
          <a:noFill/>
          <a:ln/>
        </p:spPr>
        <p:txBody>
          <a:bodyPr wrap="square" lIns="508" tIns="508" rIns="508" bIns="508" rtlCol="0" anchor="t"/>
          <a:lstStyle/>
          <a:p>
            <a:pPr indent="0" marL="0">
              <a:buNone/>
            </a:pPr>
            <a:r>
              <a:rPr lang="en-US" sz="1900" b="1" dirty="0">
                <a:solidFill>
                  <a:srgbClr val="0B5A3C"/>
                </a:solidFill>
                <a:latin typeface="Arial" pitchFamily="34" charset="0"/>
                <a:ea typeface="Arial" pitchFamily="34" charset="-122"/>
                <a:cs typeface="Arial" pitchFamily="34" charset="-120"/>
              </a:rPr>
              <a:t>Approaches 2 and 3: ResNet-18, pretrained on ImageNet (1.2 million photos)</a:t>
            </a:r>
            <a:endParaRPr lang="en-US" sz="1900" dirty="0"/>
          </a:p>
        </p:txBody>
      </p:sp>
      <p:sp>
        <p:nvSpPr>
          <p:cNvPr id="26" name="Shape 24"/>
          <p:cNvSpPr/>
          <p:nvPr/>
        </p:nvSpPr>
        <p:spPr>
          <a:xfrm>
            <a:off x="457200" y="3931920"/>
            <a:ext cx="1444752" cy="1005840"/>
          </a:xfrm>
          <a:prstGeom prst="roundRect">
            <a:avLst>
              <a:gd name="adj" fmla="val 7273"/>
            </a:avLst>
          </a:prstGeom>
          <a:solidFill>
            <a:srgbClr val="F2F7F4"/>
          </a:solidFill>
          <a:ln w="15875">
            <a:solidFill>
              <a:srgbClr val="F2F7F4"/>
            </a:solidFill>
            <a:prstDash val="solid"/>
          </a:ln>
        </p:spPr>
      </p:sp>
      <p:sp>
        <p:nvSpPr>
          <p:cNvPr id="27" name="Text 25"/>
          <p:cNvSpPr txBox="1"/>
          <p:nvPr/>
        </p:nvSpPr>
        <p:spPr>
          <a:xfrm>
            <a:off x="502920" y="3931920"/>
            <a:ext cx="1353312" cy="1005840"/>
          </a:xfrm>
          <a:prstGeom prst="rect">
            <a:avLst/>
          </a:prstGeom>
          <a:noFill/>
          <a:ln/>
        </p:spPr>
        <p:txBody>
          <a:bodyPr wrap="square" lIns="0" tIns="0" rIns="0" bIns="0" rtlCol="0" anchor="ctr"/>
          <a:lstStyle/>
          <a:p>
            <a:pPr algn="ctr" indent="0" marL="0">
              <a:buNone/>
            </a:pPr>
            <a:r>
              <a:rPr lang="en-US" sz="1600" b="1" dirty="0">
                <a:solidFill>
                  <a:srgbClr val="111111"/>
                </a:solidFill>
                <a:latin typeface="Arial" pitchFamily="34" charset="0"/>
                <a:ea typeface="Arial" pitchFamily="34" charset="-122"/>
                <a:cs typeface="Arial" pitchFamily="34" charset="-120"/>
              </a:rPr>
              <a:t>Input</a:t>
            </a:r>
            <a:endParaRPr lang="en-US" sz="1600" dirty="0"/>
          </a:p>
          <a:p>
            <a:pPr algn="ctr" indent="0" marL="0">
              <a:buNone/>
            </a:pPr>
            <a:r>
              <a:rPr lang="en-US" sz="1400" dirty="0">
                <a:solidFill>
                  <a:srgbClr val="111111"/>
                </a:solidFill>
                <a:latin typeface="Arial" pitchFamily="34" charset="0"/>
                <a:ea typeface="Arial" pitchFamily="34" charset="-122"/>
                <a:cs typeface="Arial" pitchFamily="34" charset="-120"/>
              </a:rPr>
              <a:t>224 × 224 × 3</a:t>
            </a:r>
            <a:endParaRPr lang="en-US" sz="1600" dirty="0"/>
          </a:p>
        </p:txBody>
      </p:sp>
      <p:sp>
        <p:nvSpPr>
          <p:cNvPr id="28" name="Shape 26"/>
          <p:cNvSpPr/>
          <p:nvPr/>
        </p:nvSpPr>
        <p:spPr>
          <a:xfrm>
            <a:off x="1911096" y="4434840"/>
            <a:ext cx="173736" cy="914"/>
          </a:xfrm>
          <a:prstGeom prst="line">
            <a:avLst/>
          </a:prstGeom>
          <a:noFill/>
          <a:ln w="31750">
            <a:solidFill>
              <a:srgbClr val="0B5A3C"/>
            </a:solidFill>
            <a:prstDash val="solid"/>
            <a:tailEnd type="triangle"/>
          </a:ln>
        </p:spPr>
      </p:sp>
      <p:sp>
        <p:nvSpPr>
          <p:cNvPr id="29" name="Shape 27"/>
          <p:cNvSpPr/>
          <p:nvPr/>
        </p:nvSpPr>
        <p:spPr>
          <a:xfrm>
            <a:off x="2093976" y="3931920"/>
            <a:ext cx="1444752" cy="1005840"/>
          </a:xfrm>
          <a:prstGeom prst="roundRect">
            <a:avLst>
              <a:gd name="adj" fmla="val 7273"/>
            </a:avLst>
          </a:prstGeom>
          <a:solidFill>
            <a:srgbClr val="5B7F95"/>
          </a:solidFill>
          <a:ln w="15875">
            <a:solidFill>
              <a:srgbClr val="5B7F95"/>
            </a:solidFill>
            <a:prstDash val="solid"/>
          </a:ln>
        </p:spPr>
      </p:sp>
      <p:sp>
        <p:nvSpPr>
          <p:cNvPr id="30" name="Text 28"/>
          <p:cNvSpPr txBox="1"/>
          <p:nvPr/>
        </p:nvSpPr>
        <p:spPr>
          <a:xfrm>
            <a:off x="2139696" y="3931920"/>
            <a:ext cx="1353312" cy="10058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Stem</a:t>
            </a:r>
            <a:endParaRPr lang="en-US" sz="1600" dirty="0"/>
          </a:p>
          <a:p>
            <a:pPr algn="ctr" indent="0" marL="0">
              <a:buNone/>
            </a:pPr>
            <a:r>
              <a:rPr lang="en-US" sz="1400" dirty="0">
                <a:solidFill>
                  <a:srgbClr val="FFFFFF"/>
                </a:solidFill>
                <a:latin typeface="Arial" pitchFamily="34" charset="0"/>
                <a:ea typeface="Arial" pitchFamily="34" charset="-122"/>
                <a:cs typeface="Arial" pitchFamily="34" charset="-120"/>
              </a:rPr>
              <a:t>7×7 conv, 64</a:t>
            </a:r>
            <a:endParaRPr lang="en-US" sz="1600" dirty="0"/>
          </a:p>
        </p:txBody>
      </p:sp>
      <p:sp>
        <p:nvSpPr>
          <p:cNvPr id="31" name="Shape 29"/>
          <p:cNvSpPr/>
          <p:nvPr/>
        </p:nvSpPr>
        <p:spPr>
          <a:xfrm>
            <a:off x="3547872" y="4434840"/>
            <a:ext cx="173736" cy="914"/>
          </a:xfrm>
          <a:prstGeom prst="line">
            <a:avLst/>
          </a:prstGeom>
          <a:noFill/>
          <a:ln w="31750">
            <a:solidFill>
              <a:srgbClr val="0B5A3C"/>
            </a:solidFill>
            <a:prstDash val="solid"/>
            <a:tailEnd type="triangle"/>
          </a:ln>
        </p:spPr>
      </p:sp>
      <p:sp>
        <p:nvSpPr>
          <p:cNvPr id="32" name="Shape 30"/>
          <p:cNvSpPr/>
          <p:nvPr/>
        </p:nvSpPr>
        <p:spPr>
          <a:xfrm>
            <a:off x="3730752" y="3931920"/>
            <a:ext cx="1444752" cy="1005840"/>
          </a:xfrm>
          <a:prstGeom prst="roundRect">
            <a:avLst>
              <a:gd name="adj" fmla="val 7273"/>
            </a:avLst>
          </a:prstGeom>
          <a:solidFill>
            <a:srgbClr val="5B7F95"/>
          </a:solidFill>
          <a:ln w="15875">
            <a:solidFill>
              <a:srgbClr val="5B7F95"/>
            </a:solidFill>
            <a:prstDash val="solid"/>
          </a:ln>
        </p:spPr>
      </p:sp>
      <p:sp>
        <p:nvSpPr>
          <p:cNvPr id="33" name="Text 31"/>
          <p:cNvSpPr txBox="1"/>
          <p:nvPr/>
        </p:nvSpPr>
        <p:spPr>
          <a:xfrm>
            <a:off x="3776472" y="3931920"/>
            <a:ext cx="1353312" cy="10058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Stage 1</a:t>
            </a:r>
            <a:endParaRPr lang="en-US" sz="1600" dirty="0"/>
          </a:p>
          <a:p>
            <a:pPr algn="ctr" indent="0" marL="0">
              <a:buNone/>
            </a:pPr>
            <a:r>
              <a:rPr lang="en-US" sz="1400" dirty="0">
                <a:solidFill>
                  <a:srgbClr val="FFFFFF"/>
                </a:solidFill>
                <a:latin typeface="Arial" pitchFamily="34" charset="0"/>
                <a:ea typeface="Arial" pitchFamily="34" charset="-122"/>
                <a:cs typeface="Arial" pitchFamily="34" charset="-120"/>
              </a:rPr>
              <a:t>64 · 2 residual blocks</a:t>
            </a:r>
            <a:endParaRPr lang="en-US" sz="1600" dirty="0"/>
          </a:p>
        </p:txBody>
      </p:sp>
      <p:sp>
        <p:nvSpPr>
          <p:cNvPr id="34" name="Shape 32"/>
          <p:cNvSpPr/>
          <p:nvPr/>
        </p:nvSpPr>
        <p:spPr>
          <a:xfrm>
            <a:off x="5184648" y="4434840"/>
            <a:ext cx="173736" cy="914"/>
          </a:xfrm>
          <a:prstGeom prst="line">
            <a:avLst/>
          </a:prstGeom>
          <a:noFill/>
          <a:ln w="31750">
            <a:solidFill>
              <a:srgbClr val="0B5A3C"/>
            </a:solidFill>
            <a:prstDash val="solid"/>
            <a:tailEnd type="triangle"/>
          </a:ln>
        </p:spPr>
      </p:sp>
      <p:sp>
        <p:nvSpPr>
          <p:cNvPr id="35" name="Shape 33"/>
          <p:cNvSpPr/>
          <p:nvPr/>
        </p:nvSpPr>
        <p:spPr>
          <a:xfrm>
            <a:off x="5367528" y="3931920"/>
            <a:ext cx="1444752" cy="1005840"/>
          </a:xfrm>
          <a:prstGeom prst="roundRect">
            <a:avLst>
              <a:gd name="adj" fmla="val 7273"/>
            </a:avLst>
          </a:prstGeom>
          <a:solidFill>
            <a:srgbClr val="5B7F95"/>
          </a:solidFill>
          <a:ln w="15875">
            <a:solidFill>
              <a:srgbClr val="5B7F95"/>
            </a:solidFill>
            <a:prstDash val="solid"/>
          </a:ln>
        </p:spPr>
      </p:sp>
      <p:sp>
        <p:nvSpPr>
          <p:cNvPr id="36" name="Text 34"/>
          <p:cNvSpPr txBox="1"/>
          <p:nvPr/>
        </p:nvSpPr>
        <p:spPr>
          <a:xfrm>
            <a:off x="5413248" y="3931920"/>
            <a:ext cx="1353312" cy="10058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Stage 2</a:t>
            </a:r>
            <a:endParaRPr lang="en-US" sz="1600" dirty="0"/>
          </a:p>
          <a:p>
            <a:pPr algn="ctr" indent="0" marL="0">
              <a:buNone/>
            </a:pPr>
            <a:r>
              <a:rPr lang="en-US" sz="1400" dirty="0">
                <a:solidFill>
                  <a:srgbClr val="FFFFFF"/>
                </a:solidFill>
                <a:latin typeface="Arial" pitchFamily="34" charset="0"/>
                <a:ea typeface="Arial" pitchFamily="34" charset="-122"/>
                <a:cs typeface="Arial" pitchFamily="34" charset="-120"/>
              </a:rPr>
              <a:t>128 · 2 blocks</a:t>
            </a:r>
            <a:endParaRPr lang="en-US" sz="1600" dirty="0"/>
          </a:p>
        </p:txBody>
      </p:sp>
      <p:sp>
        <p:nvSpPr>
          <p:cNvPr id="37" name="Shape 35"/>
          <p:cNvSpPr/>
          <p:nvPr/>
        </p:nvSpPr>
        <p:spPr>
          <a:xfrm>
            <a:off x="6821424" y="4434840"/>
            <a:ext cx="173736" cy="914"/>
          </a:xfrm>
          <a:prstGeom prst="line">
            <a:avLst/>
          </a:prstGeom>
          <a:noFill/>
          <a:ln w="31750">
            <a:solidFill>
              <a:srgbClr val="0B5A3C"/>
            </a:solidFill>
            <a:prstDash val="solid"/>
            <a:tailEnd type="triangle"/>
          </a:ln>
        </p:spPr>
      </p:sp>
      <p:sp>
        <p:nvSpPr>
          <p:cNvPr id="38" name="Shape 36"/>
          <p:cNvSpPr/>
          <p:nvPr/>
        </p:nvSpPr>
        <p:spPr>
          <a:xfrm>
            <a:off x="7004304" y="3931920"/>
            <a:ext cx="1444752" cy="1005840"/>
          </a:xfrm>
          <a:prstGeom prst="roundRect">
            <a:avLst>
              <a:gd name="adj" fmla="val 7273"/>
            </a:avLst>
          </a:prstGeom>
          <a:solidFill>
            <a:srgbClr val="5B7F95"/>
          </a:solidFill>
          <a:ln w="15875">
            <a:solidFill>
              <a:srgbClr val="5B7F95"/>
            </a:solidFill>
            <a:prstDash val="solid"/>
          </a:ln>
        </p:spPr>
      </p:sp>
      <p:sp>
        <p:nvSpPr>
          <p:cNvPr id="39" name="Text 37"/>
          <p:cNvSpPr txBox="1"/>
          <p:nvPr/>
        </p:nvSpPr>
        <p:spPr>
          <a:xfrm>
            <a:off x="7050024" y="3931920"/>
            <a:ext cx="1353312" cy="10058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Stage 3</a:t>
            </a:r>
            <a:endParaRPr lang="en-US" sz="1600" dirty="0"/>
          </a:p>
          <a:p>
            <a:pPr algn="ctr" indent="0" marL="0">
              <a:buNone/>
            </a:pPr>
            <a:r>
              <a:rPr lang="en-US" sz="1400" dirty="0">
                <a:solidFill>
                  <a:srgbClr val="FFFFFF"/>
                </a:solidFill>
                <a:latin typeface="Arial" pitchFamily="34" charset="0"/>
                <a:ea typeface="Arial" pitchFamily="34" charset="-122"/>
                <a:cs typeface="Arial" pitchFamily="34" charset="-120"/>
              </a:rPr>
              <a:t>256 · 2 blocks</a:t>
            </a:r>
            <a:endParaRPr lang="en-US" sz="1600" dirty="0"/>
          </a:p>
        </p:txBody>
      </p:sp>
      <p:sp>
        <p:nvSpPr>
          <p:cNvPr id="40" name="Shape 38"/>
          <p:cNvSpPr/>
          <p:nvPr/>
        </p:nvSpPr>
        <p:spPr>
          <a:xfrm>
            <a:off x="8458200" y="4434840"/>
            <a:ext cx="173736" cy="914"/>
          </a:xfrm>
          <a:prstGeom prst="line">
            <a:avLst/>
          </a:prstGeom>
          <a:noFill/>
          <a:ln w="31750">
            <a:solidFill>
              <a:srgbClr val="0B5A3C"/>
            </a:solidFill>
            <a:prstDash val="solid"/>
            <a:tailEnd type="triangle"/>
          </a:ln>
        </p:spPr>
      </p:sp>
      <p:sp>
        <p:nvSpPr>
          <p:cNvPr id="41" name="Shape 39"/>
          <p:cNvSpPr/>
          <p:nvPr/>
        </p:nvSpPr>
        <p:spPr>
          <a:xfrm>
            <a:off x="8641080" y="3931920"/>
            <a:ext cx="1444752" cy="1005840"/>
          </a:xfrm>
          <a:prstGeom prst="roundRect">
            <a:avLst>
              <a:gd name="adj" fmla="val 7273"/>
            </a:avLst>
          </a:prstGeom>
          <a:solidFill>
            <a:srgbClr val="5B7F95"/>
          </a:solidFill>
          <a:ln w="15875">
            <a:solidFill>
              <a:srgbClr val="5B7F95"/>
            </a:solidFill>
            <a:prstDash val="solid"/>
          </a:ln>
        </p:spPr>
      </p:sp>
      <p:sp>
        <p:nvSpPr>
          <p:cNvPr id="42" name="Text 40"/>
          <p:cNvSpPr txBox="1"/>
          <p:nvPr/>
        </p:nvSpPr>
        <p:spPr>
          <a:xfrm>
            <a:off x="8686800" y="3931920"/>
            <a:ext cx="1353312" cy="10058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Stage 4</a:t>
            </a:r>
            <a:endParaRPr lang="en-US" sz="1600" dirty="0"/>
          </a:p>
          <a:p>
            <a:pPr algn="ctr" indent="0" marL="0">
              <a:buNone/>
            </a:pPr>
            <a:r>
              <a:rPr lang="en-US" sz="1400" dirty="0">
                <a:solidFill>
                  <a:srgbClr val="FFFFFF"/>
                </a:solidFill>
                <a:latin typeface="Arial" pitchFamily="34" charset="0"/>
                <a:ea typeface="Arial" pitchFamily="34" charset="-122"/>
                <a:cs typeface="Arial" pitchFamily="34" charset="-120"/>
              </a:rPr>
              <a:t>512 · 2 blocks</a:t>
            </a:r>
            <a:endParaRPr lang="en-US" sz="1600" dirty="0"/>
          </a:p>
        </p:txBody>
      </p:sp>
      <p:sp>
        <p:nvSpPr>
          <p:cNvPr id="43" name="Shape 41"/>
          <p:cNvSpPr/>
          <p:nvPr/>
        </p:nvSpPr>
        <p:spPr>
          <a:xfrm>
            <a:off x="10094976" y="4434840"/>
            <a:ext cx="173736" cy="914"/>
          </a:xfrm>
          <a:prstGeom prst="line">
            <a:avLst/>
          </a:prstGeom>
          <a:noFill/>
          <a:ln w="31750">
            <a:solidFill>
              <a:srgbClr val="0B5A3C"/>
            </a:solidFill>
            <a:prstDash val="solid"/>
            <a:tailEnd type="triangle"/>
          </a:ln>
        </p:spPr>
      </p:sp>
      <p:sp>
        <p:nvSpPr>
          <p:cNvPr id="44" name="Shape 42"/>
          <p:cNvSpPr/>
          <p:nvPr/>
        </p:nvSpPr>
        <p:spPr>
          <a:xfrm>
            <a:off x="10277856" y="3931920"/>
            <a:ext cx="1444752" cy="1005840"/>
          </a:xfrm>
          <a:prstGeom prst="roundRect">
            <a:avLst>
              <a:gd name="adj" fmla="val 7273"/>
            </a:avLst>
          </a:prstGeom>
          <a:solidFill>
            <a:srgbClr val="C75B1E"/>
          </a:solidFill>
          <a:ln w="15875">
            <a:solidFill>
              <a:srgbClr val="C75B1E"/>
            </a:solidFill>
            <a:prstDash val="solid"/>
          </a:ln>
        </p:spPr>
      </p:sp>
      <p:sp>
        <p:nvSpPr>
          <p:cNvPr id="45" name="Text 43"/>
          <p:cNvSpPr txBox="1"/>
          <p:nvPr/>
        </p:nvSpPr>
        <p:spPr>
          <a:xfrm>
            <a:off x="10323576" y="3931920"/>
            <a:ext cx="1353312" cy="10058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New output</a:t>
            </a:r>
            <a:endParaRPr lang="en-US" sz="1600" dirty="0"/>
          </a:p>
          <a:p>
            <a:pPr algn="ctr" indent="0" marL="0">
              <a:buNone/>
            </a:pPr>
            <a:r>
              <a:rPr lang="en-US" sz="1400" dirty="0">
                <a:solidFill>
                  <a:srgbClr val="FFFFFF"/>
                </a:solidFill>
                <a:latin typeface="Arial" pitchFamily="34" charset="0"/>
                <a:ea typeface="Arial" pitchFamily="34" charset="-122"/>
                <a:cs typeface="Arial" pitchFamily="34" charset="-120"/>
              </a:rPr>
              <a:t>512 → 26</a:t>
            </a:r>
            <a:endParaRPr lang="en-US" sz="1600" dirty="0"/>
          </a:p>
        </p:txBody>
      </p:sp>
      <p:sp>
        <p:nvSpPr>
          <p:cNvPr id="46" name="Shape 44"/>
          <p:cNvSpPr/>
          <p:nvPr/>
        </p:nvSpPr>
        <p:spPr>
          <a:xfrm>
            <a:off x="457200" y="5166360"/>
            <a:ext cx="5532120" cy="1188720"/>
          </a:xfrm>
          <a:prstGeom prst="roundRect">
            <a:avLst>
              <a:gd name="adj" fmla="val 6154"/>
            </a:avLst>
          </a:prstGeom>
          <a:solidFill>
            <a:srgbClr val="F2F7F4"/>
          </a:solidFill>
          <a:ln w="9525">
            <a:solidFill>
              <a:srgbClr val="F2F7F4"/>
            </a:solidFill>
            <a:prstDash val="solid"/>
          </a:ln>
        </p:spPr>
      </p:sp>
      <p:sp>
        <p:nvSpPr>
          <p:cNvPr id="47" name="Text 45"/>
          <p:cNvSpPr txBox="1"/>
          <p:nvPr/>
        </p:nvSpPr>
        <p:spPr>
          <a:xfrm>
            <a:off x="594360" y="5166360"/>
            <a:ext cx="5303520" cy="1188720"/>
          </a:xfrm>
          <a:prstGeom prst="rect">
            <a:avLst/>
          </a:prstGeom>
          <a:noFill/>
          <a:ln/>
        </p:spPr>
        <p:txBody>
          <a:bodyPr wrap="square" lIns="0" tIns="0" rIns="0" bIns="0" rtlCol="0" anchor="ctr"/>
          <a:lstStyle/>
          <a:p>
            <a:pPr indent="0" marL="0">
              <a:buNone/>
            </a:pPr>
            <a:r>
              <a:rPr lang="en-US" sz="1600" b="1" dirty="0">
                <a:solidFill>
                  <a:srgbClr val="0B5A3C"/>
                </a:solidFill>
                <a:latin typeface="Arial" pitchFamily="34" charset="0"/>
                <a:ea typeface="Arial" pitchFamily="34" charset="-122"/>
                <a:cs typeface="Arial" pitchFamily="34" charset="-120"/>
              </a:rPr>
              <a:t>Approach 2, frozen: </a:t>
            </a:r>
            <a:pPr indent="0" marL="0">
              <a:buNone/>
            </a:pPr>
            <a:r>
              <a:rPr lang="en-US" sz="1600" dirty="0">
                <a:solidFill>
                  <a:srgbClr val="111111"/>
                </a:solidFill>
                <a:latin typeface="Arial" pitchFamily="34" charset="0"/>
                <a:ea typeface="Arial" pitchFamily="34" charset="-122"/>
                <a:cs typeface="Arial" pitchFamily="34" charset="-120"/>
              </a:rPr>
              <a:t>blue-grey layers keep their ImageNet weights; only the orange output layer learns (13,338 weights).</a:t>
            </a:r>
            <a:endParaRPr lang="en-US" sz="1600" dirty="0"/>
          </a:p>
        </p:txBody>
      </p:sp>
      <p:sp>
        <p:nvSpPr>
          <p:cNvPr id="48" name="Shape 46"/>
          <p:cNvSpPr/>
          <p:nvPr/>
        </p:nvSpPr>
        <p:spPr>
          <a:xfrm>
            <a:off x="6199632" y="5166360"/>
            <a:ext cx="5532120" cy="1188720"/>
          </a:xfrm>
          <a:prstGeom prst="roundRect">
            <a:avLst>
              <a:gd name="adj" fmla="val 6154"/>
            </a:avLst>
          </a:prstGeom>
          <a:solidFill>
            <a:srgbClr val="FBEDE5"/>
          </a:solidFill>
          <a:ln w="9525">
            <a:solidFill>
              <a:srgbClr val="FBEDE5"/>
            </a:solidFill>
            <a:prstDash val="solid"/>
          </a:ln>
        </p:spPr>
      </p:sp>
      <p:sp>
        <p:nvSpPr>
          <p:cNvPr id="49" name="Text 47"/>
          <p:cNvSpPr txBox="1"/>
          <p:nvPr/>
        </p:nvSpPr>
        <p:spPr>
          <a:xfrm>
            <a:off x="6336792" y="5166360"/>
            <a:ext cx="5303520" cy="1188720"/>
          </a:xfrm>
          <a:prstGeom prst="rect">
            <a:avLst/>
          </a:prstGeom>
          <a:noFill/>
          <a:ln/>
        </p:spPr>
        <p:txBody>
          <a:bodyPr wrap="square" lIns="0" tIns="0" rIns="0" bIns="0" rtlCol="0" anchor="ctr"/>
          <a:lstStyle/>
          <a:p>
            <a:pPr indent="0" marL="0">
              <a:buNone/>
            </a:pPr>
            <a:r>
              <a:rPr lang="en-US" sz="1600" b="1" dirty="0">
                <a:solidFill>
                  <a:srgbClr val="C75B1E"/>
                </a:solidFill>
                <a:latin typeface="Arial" pitchFamily="34" charset="0"/>
                <a:ea typeface="Arial" pitchFamily="34" charset="-122"/>
                <a:cs typeface="Arial" pitchFamily="34" charset="-120"/>
              </a:rPr>
              <a:t>Approach 3, fine-tuned (final): </a:t>
            </a:r>
            <a:pPr indent="0" marL="0">
              <a:buNone/>
            </a:pPr>
            <a:r>
              <a:rPr lang="en-US" sz="1600" dirty="0">
                <a:solidFill>
                  <a:srgbClr val="111111"/>
                </a:solidFill>
                <a:latin typeface="Arial" pitchFamily="34" charset="0"/>
                <a:ea typeface="Arial" pitchFamily="34" charset="-122"/>
                <a:cs typeface="Arial" pitchFamily="34" charset="-120"/>
              </a:rPr>
              <a:t>every layer keeps learning on our signs (11,189,850 weights).</a:t>
            </a:r>
            <a:endParaRPr lang="en-US" sz="1600" dirty="0"/>
          </a:p>
        </p:txBody>
      </p:sp>
      <p:sp>
        <p:nvSpPr>
          <p:cNvPr id="25" name="Slide Number Placeholder 0"/>
          <p:cNvSpPr>
            <a:spLocks noGrp="1"/>
          </p:cNvSpPr>
          <p:nvPr>
            <p:ph type="sldNum" sz="quarter" idx="4294967295"/>
          </p:nvPr>
        </p:nvSpPr>
        <p:spPr>
          <a:xfrm>
            <a:off x="5733288" y="65562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4"/>
          <p:cNvSpPr/>
          <p:nvPr>
            <p:ph idx="105" type="title" hasCustomPrompt="1"/>
          </p:nvPr>
        </p:nvSpPr>
        <p:spPr>
          <a:xfrm>
            <a:off x="1463040" y="155448"/>
            <a:ext cx="9262872" cy="621792"/>
          </a:xfrm>
          <a:prstGeom prst="rect">
            <a:avLst/>
          </a:prstGeom>
          <a:noFill/>
          <a:ln/>
        </p:spPr>
        <p:txBody>
          <a:bodyPr wrap="square" lIns="0" tIns="0" rIns="0" bIns="0" rtlCol="0" anchor="ctr"/>
          <a:lstStyle/>
          <a:p>
            <a:pPr algn="ctr" indent="0" marL="0">
              <a:buNone/>
            </a:pPr>
            <a:r>
              <a:rPr lang="en-US" sz="3000" b="1" dirty="0">
                <a:solidFill>
                  <a:srgbClr val="0B5A3C"/>
                </a:solidFill>
                <a:latin typeface="Arial" pitchFamily="34" charset="0"/>
                <a:ea typeface="Arial" pitchFamily="34" charset="-122"/>
                <a:cs typeface="Arial" pitchFamily="34" charset="-120"/>
              </a:rPr>
              <a:t>Training Approach and Test Results</a:t>
            </a:r>
            <a:endParaRPr lang="en-US" sz="3000" dirty="0"/>
          </a:p>
        </p:txBody>
      </p:sp>
      <p:sp>
        <p:nvSpPr>
          <p:cNvPr id="3" name="Text 1"/>
          <p:cNvSpPr txBox="1"/>
          <p:nvPr/>
        </p:nvSpPr>
        <p:spPr>
          <a:xfrm>
            <a:off x="457200" y="1005840"/>
            <a:ext cx="11274552" cy="365760"/>
          </a:xfrm>
          <a:prstGeom prst="rect">
            <a:avLst/>
          </a:prstGeom>
          <a:noFill/>
          <a:ln/>
        </p:spPr>
        <p:txBody>
          <a:bodyPr wrap="square" lIns="0" tIns="0" rIns="0" bIns="0" rtlCol="0" anchor="t"/>
          <a:lstStyle/>
          <a:p>
            <a:pPr indent="0" marL="0">
              <a:buNone/>
            </a:pPr>
            <a:r>
              <a:rPr lang="en-US" sz="1700" dirty="0">
                <a:solidFill>
                  <a:srgbClr val="4A4A4A"/>
                </a:solidFill>
                <a:latin typeface="Arial" pitchFamily="34" charset="0"/>
                <a:ea typeface="Arial" pitchFamily="34" charset="-122"/>
                <a:cs typeface="Arial" pitchFamily="34" charset="-120"/>
              </a:rPr>
              <a:t>Original split: same 463 test crops for every approach, each model tested once</a:t>
            </a:r>
            <a:endParaRPr lang="en-US" sz="17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2697480"/>
                <a:gridCol w="1463040"/>
                <a:gridCol w="1691640"/>
                <a:gridCol w="1600200"/>
                <a:gridCol w="1234440"/>
                <a:gridCol w="1353312"/>
                <a:gridCol w="1234440"/>
              </a:tblGrid>
              <a:tr h="603504">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Approach</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Starts from</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What is trained</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Trainable weights</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Training time</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Test accuracy</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Macro F1</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r>
              <a:tr h="603504">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1. SmallCNN</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random weights</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everything</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133,178</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8.1 min</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70.19%</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50.78%</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r h="603504">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2. ResNet-18 frozen</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ImageNet</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output layer only</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13,338</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5.5 min</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92.44%</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88.37%</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r h="603504">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3. ResNet-18 fine-tuned</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ImageNet</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all layers</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11,189,850</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4.0 min</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98.06%</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96.80%</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r h="603504">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3. Fine-tuned + tuned ★ FINAL</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FBEDE5"/>
                    </a:solidFill>
                  </a:tcPr>
                </a:tc>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ImageNet</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FBEDE5"/>
                    </a:solidFill>
                  </a:tcPr>
                </a:tc>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all layers</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FBEDE5"/>
                    </a:solidFill>
                  </a:tcPr>
                </a:tc>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11,189,850</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FBEDE5"/>
                    </a:solidFill>
                  </a:tcPr>
                </a:tc>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5.5 min</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FBEDE5"/>
                    </a:solidFill>
                  </a:tcPr>
                </a:tc>
                <a:tc>
                  <a:txBody>
                    <a:bodyPr/>
                    <a:lstStyle/>
                    <a:p>
                      <a:pPr algn="ctr" indent="0" marL="0">
                        <a:buNone/>
                      </a:pPr>
                      <a:r>
                        <a:rPr lang="en-US" sz="1700" b="1" dirty="0">
                          <a:solidFill>
                            <a:srgbClr val="C75B1E"/>
                          </a:solidFill>
                          <a:latin typeface="Arial" pitchFamily="34" charset="0"/>
                          <a:ea typeface="Arial" pitchFamily="34" charset="-122"/>
                          <a:cs typeface="Arial" pitchFamily="34" charset="-120"/>
                        </a:rPr>
                        <a:t>98.70%</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FBEDE5"/>
                    </a:solidFill>
                  </a:tcPr>
                </a:tc>
                <a:tc>
                  <a:txBody>
                    <a:bodyPr/>
                    <a:lstStyle/>
                    <a:p>
                      <a:pPr algn="ctr" indent="0" marL="0">
                        <a:buNone/>
                      </a:pPr>
                      <a:r>
                        <a:rPr lang="en-US" sz="1700" b="1" dirty="0">
                          <a:solidFill>
                            <a:srgbClr val="C75B1E"/>
                          </a:solidFill>
                          <a:latin typeface="Arial" pitchFamily="34" charset="0"/>
                          <a:ea typeface="Arial" pitchFamily="34" charset="-122"/>
                          <a:cs typeface="Arial" pitchFamily="34" charset="-120"/>
                        </a:rPr>
                        <a:t>98.47%</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FBEDE5"/>
                    </a:solidFill>
                  </a:tcPr>
                </a:tc>
              </a:tr>
            </a:tbl>
          </a:graphicData>
        </a:graphic>
      </p:graphicFrame>
      <p:sp>
        <p:nvSpPr>
          <p:cNvPr id="5" name="Text 2"/>
          <p:cNvSpPr txBox="1"/>
          <p:nvPr/>
        </p:nvSpPr>
        <p:spPr>
          <a:xfrm>
            <a:off x="457200" y="5074920"/>
            <a:ext cx="11274552" cy="1280160"/>
          </a:xfrm>
          <a:prstGeom prst="rect">
            <a:avLst/>
          </a:prstGeom>
          <a:noFill/>
          <a:ln/>
        </p:spPr>
        <p:txBody>
          <a:bodyPr wrap="square" lIns="635" tIns="635" rIns="635" bIns="635" rtlCol="0" anchor="t"/>
          <a:lstStyle/>
          <a:p>
            <a:pPr marL="279400" indent="-279400">
              <a:spcAft>
                <a:spcPts val="1000"/>
              </a:spcAft>
              <a:buSzPct val="100000"/>
              <a:buChar char="•"/>
            </a:pPr>
            <a:r>
              <a:rPr lang="en-US" sz="1500" dirty="0">
                <a:solidFill>
                  <a:srgbClr val="111111"/>
                </a:solidFill>
                <a:latin typeface="Arial" pitchFamily="34" charset="0"/>
                <a:ea typeface="Arial" pitchFamily="34" charset="-122"/>
                <a:cs typeface="Arial" pitchFamily="34" charset="-120"/>
              </a:rPr>
              <a:t>Same for every approach: Adam optimiser, batch 32, up to 40 epochs, stop early when validation stops improving, keep the best-validation checkpoint</a:t>
            </a:r>
            <a:endParaRPr lang="en-US" sz="1500" dirty="0"/>
          </a:p>
          <a:p>
            <a:pPr marL="279400" indent="-279400">
              <a:spcAft>
                <a:spcPts val="1000"/>
              </a:spcAft>
              <a:buSzPct val="100000"/>
              <a:buChar char="•"/>
            </a:pPr>
            <a:r>
              <a:rPr lang="en-US" sz="1500" dirty="0">
                <a:solidFill>
                  <a:srgbClr val="111111"/>
                </a:solidFill>
                <a:latin typeface="Arial" pitchFamily="34" charset="0"/>
                <a:ea typeface="Arial" pitchFamily="34" charset="-122"/>
                <a:cs typeface="Arial" pitchFamily="34" charset="-120"/>
              </a:rPr>
              <a:t>Final settings (learning rate 0.001, weight decay 0.001) were chosen on validation data only (next slide)</a:t>
            </a:r>
            <a:endParaRPr lang="en-US" sz="1500" dirty="0"/>
          </a:p>
          <a:p>
            <a:pPr marL="279400" indent="-279400">
              <a:spcAft>
                <a:spcPts val="1000"/>
              </a:spcAft>
              <a:buSzPct val="100000"/>
              <a:buChar char="•"/>
            </a:pPr>
            <a:r>
              <a:rPr lang="en-US" sz="1500" dirty="0">
                <a:solidFill>
                  <a:srgbClr val="111111"/>
                </a:solidFill>
                <a:latin typeface="Arial" pitchFamily="34" charset="0"/>
                <a:ea typeface="Arial" pitchFamily="34" charset="-122"/>
                <a:cs typeface="Arial" pitchFamily="34" charset="-120"/>
              </a:rPr>
              <a:t>Macro F1 averages all 26 classes equally, so it shows the rare classes</a:t>
            </a:r>
            <a:endParaRPr lang="en-US" sz="1500" dirty="0"/>
          </a:p>
        </p:txBody>
      </p:sp>
      <p:sp>
        <p:nvSpPr>
          <p:cNvPr id="25" name="Slide Number Placeholder 0"/>
          <p:cNvSpPr>
            <a:spLocks noGrp="1"/>
          </p:cNvSpPr>
          <p:nvPr>
            <p:ph type="sldNum" sz="quarter" idx="4294967295"/>
          </p:nvPr>
        </p:nvSpPr>
        <p:spPr>
          <a:xfrm>
            <a:off x="5733288" y="65562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4"/>
          <p:cNvSpPr/>
          <p:nvPr>
            <p:ph idx="105" type="title" hasCustomPrompt="1"/>
          </p:nvPr>
        </p:nvSpPr>
        <p:spPr>
          <a:xfrm>
            <a:off x="1463040" y="155448"/>
            <a:ext cx="9262872" cy="621792"/>
          </a:xfrm>
          <a:prstGeom prst="rect">
            <a:avLst/>
          </a:prstGeom>
          <a:noFill/>
          <a:ln/>
        </p:spPr>
        <p:txBody>
          <a:bodyPr wrap="square" lIns="0" tIns="0" rIns="0" bIns="0" rtlCol="0" anchor="ctr"/>
          <a:lstStyle/>
          <a:p>
            <a:pPr algn="ctr" indent="0" marL="0">
              <a:buNone/>
            </a:pPr>
            <a:r>
              <a:rPr lang="en-US" sz="3000" b="1" dirty="0">
                <a:solidFill>
                  <a:srgbClr val="0B5A3C"/>
                </a:solidFill>
                <a:latin typeface="Arial" pitchFamily="34" charset="0"/>
                <a:ea typeface="Arial" pitchFamily="34" charset="-122"/>
                <a:cs typeface="Arial" pitchFamily="34" charset="-120"/>
              </a:rPr>
              <a:t>Hyperparameter Tuning (Final Model)</a:t>
            </a:r>
            <a:endParaRPr lang="en-US" sz="3000" dirty="0"/>
          </a:p>
        </p:txBody>
      </p:sp>
      <p:sp>
        <p:nvSpPr>
          <p:cNvPr id="3" name="Text 1"/>
          <p:cNvSpPr txBox="1"/>
          <p:nvPr/>
        </p:nvSpPr>
        <p:spPr>
          <a:xfrm>
            <a:off x="457200" y="1005840"/>
            <a:ext cx="11274552" cy="365760"/>
          </a:xfrm>
          <a:prstGeom prst="rect">
            <a:avLst/>
          </a:prstGeom>
          <a:noFill/>
          <a:ln/>
        </p:spPr>
        <p:txBody>
          <a:bodyPr wrap="square" lIns="0" tIns="0" rIns="0" bIns="0" rtlCol="0" anchor="t"/>
          <a:lstStyle/>
          <a:p>
            <a:pPr indent="0" marL="0">
              <a:buNone/>
            </a:pPr>
            <a:r>
              <a:rPr lang="en-US" sz="1700" dirty="0">
                <a:solidFill>
                  <a:srgbClr val="4A4A4A"/>
                </a:solidFill>
                <a:latin typeface="Arial" pitchFamily="34" charset="0"/>
                <a:ea typeface="Arial" pitchFamily="34" charset="-122"/>
                <a:cs typeface="Arial" pitchFamily="34" charset="-120"/>
              </a:rPr>
              <a:t>Chosen on validation data only; the test set was not used</a:t>
            </a:r>
            <a:endParaRPr lang="en-US" sz="17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828800"/>
                <a:gridCol w="1600200"/>
                <a:gridCol w="1600200"/>
                <a:gridCol w="1965960"/>
                <a:gridCol w="1371600"/>
                <a:gridCol w="1371600"/>
                <a:gridCol w="1536192"/>
              </a:tblGrid>
              <a:tr h="676656">
                <a:tc>
                  <a:txBody>
                    <a:bodyPr/>
                    <a:lstStyle/>
                    <a:p>
                      <a:pPr algn="ctr" indent="0" marL="0">
                        <a:buNone/>
                      </a:pPr>
                      <a:r>
                        <a:rPr lang="en-US" sz="1900" b="1" dirty="0">
                          <a:solidFill>
                            <a:srgbClr val="FFFFFF"/>
                          </a:solidFill>
                          <a:latin typeface="Arial" pitchFamily="34" charset="0"/>
                          <a:ea typeface="Arial" pitchFamily="34" charset="-122"/>
                          <a:cs typeface="Arial" pitchFamily="34" charset="-120"/>
                        </a:rPr>
                        <a:t>Config</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c>
                  <a:txBody>
                    <a:bodyPr/>
                    <a:lstStyle/>
                    <a:p>
                      <a:pPr algn="ctr" indent="0" marL="0">
                        <a:buNone/>
                      </a:pPr>
                      <a:r>
                        <a:rPr lang="en-US" sz="1900" b="1" dirty="0">
                          <a:solidFill>
                            <a:srgbClr val="FFFFFF"/>
                          </a:solidFill>
                          <a:latin typeface="Arial" pitchFamily="34" charset="0"/>
                          <a:ea typeface="Arial" pitchFamily="34" charset="-122"/>
                          <a:cs typeface="Arial" pitchFamily="34" charset="-120"/>
                        </a:rPr>
                        <a:t>Learning rate</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c>
                  <a:txBody>
                    <a:bodyPr/>
                    <a:lstStyle/>
                    <a:p>
                      <a:pPr algn="ctr" indent="0" marL="0">
                        <a:buNone/>
                      </a:pPr>
                      <a:r>
                        <a:rPr lang="en-US" sz="1900" b="1" dirty="0">
                          <a:solidFill>
                            <a:srgbClr val="FFFFFF"/>
                          </a:solidFill>
                          <a:latin typeface="Arial" pitchFamily="34" charset="0"/>
                          <a:ea typeface="Arial" pitchFamily="34" charset="-122"/>
                          <a:cs typeface="Arial" pitchFamily="34" charset="-120"/>
                        </a:rPr>
                        <a:t>Weight decay</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c>
                  <a:txBody>
                    <a:bodyPr/>
                    <a:lstStyle/>
                    <a:p>
                      <a:pPr algn="ctr" indent="0" marL="0">
                        <a:buNone/>
                      </a:pPr>
                      <a:r>
                        <a:rPr lang="en-US" sz="1900" b="1" dirty="0">
                          <a:solidFill>
                            <a:srgbClr val="FFFFFF"/>
                          </a:solidFill>
                          <a:latin typeface="Arial" pitchFamily="34" charset="0"/>
                          <a:ea typeface="Arial" pitchFamily="34" charset="-122"/>
                          <a:cs typeface="Arial" pitchFamily="34" charset="-120"/>
                        </a:rPr>
                        <a:t>Best val. accuracy</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c>
                  <a:txBody>
                    <a:bodyPr/>
                    <a:lstStyle/>
                    <a:p>
                      <a:pPr algn="ctr" indent="0" marL="0">
                        <a:buNone/>
                      </a:pPr>
                      <a:r>
                        <a:rPr lang="en-US" sz="1900" b="1" dirty="0">
                          <a:solidFill>
                            <a:srgbClr val="FFFFFF"/>
                          </a:solidFill>
                          <a:latin typeface="Arial" pitchFamily="34" charset="0"/>
                          <a:ea typeface="Arial" pitchFamily="34" charset="-122"/>
                          <a:cs typeface="Arial" pitchFamily="34" charset="-120"/>
                        </a:rPr>
                        <a:t>Val. loss</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c>
                  <a:txBody>
                    <a:bodyPr/>
                    <a:lstStyle/>
                    <a:p>
                      <a:pPr algn="ctr" indent="0" marL="0">
                        <a:buNone/>
                      </a:pPr>
                      <a:r>
                        <a:rPr lang="en-US" sz="1900" b="1" dirty="0">
                          <a:solidFill>
                            <a:srgbClr val="FFFFFF"/>
                          </a:solidFill>
                          <a:latin typeface="Arial" pitchFamily="34" charset="0"/>
                          <a:ea typeface="Arial" pitchFamily="34" charset="-122"/>
                          <a:cs typeface="Arial" pitchFamily="34" charset="-120"/>
                        </a:rPr>
                        <a:t>Best epoch</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c>
                  <a:txBody>
                    <a:bodyPr/>
                    <a:lstStyle/>
                    <a:p>
                      <a:pPr algn="ctr" indent="0" marL="0">
                        <a:buNone/>
                      </a:pPr>
                      <a:r>
                        <a:rPr lang="en-US" sz="1900" b="1" dirty="0">
                          <a:solidFill>
                            <a:srgbClr val="FFFFFF"/>
                          </a:solidFill>
                          <a:latin typeface="Arial" pitchFamily="34" charset="0"/>
                          <a:ea typeface="Arial" pitchFamily="34" charset="-122"/>
                          <a:cs typeface="Arial" pitchFamily="34" charset="-120"/>
                        </a:rPr>
                        <a:t>Time</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r>
              <a:tr h="676656">
                <a:tc>
                  <a:txBody>
                    <a:bodyPr/>
                    <a:lstStyle/>
                    <a:p>
                      <a:pPr algn="ctr" indent="0" marL="0">
                        <a:buNone/>
                      </a:pPr>
                      <a:r>
                        <a:rPr lang="en-US" sz="1900" dirty="0">
                          <a:solidFill>
                            <a:srgbClr val="111111"/>
                          </a:solidFill>
                          <a:latin typeface="Arial" pitchFamily="34" charset="0"/>
                          <a:ea typeface="Arial" pitchFamily="34" charset="-122"/>
                          <a:cs typeface="Arial" pitchFamily="34" charset="-120"/>
                        </a:rPr>
                        <a:t>A</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900" dirty="0">
                          <a:solidFill>
                            <a:srgbClr val="111111"/>
                          </a:solidFill>
                          <a:latin typeface="Arial" pitchFamily="34" charset="0"/>
                          <a:ea typeface="Arial" pitchFamily="34" charset="-122"/>
                          <a:cs typeface="Arial" pitchFamily="34" charset="-120"/>
                        </a:rPr>
                        <a:t>0.001</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900" dirty="0">
                          <a:solidFill>
                            <a:srgbClr val="111111"/>
                          </a:solidFill>
                          <a:latin typeface="Arial" pitchFamily="34" charset="0"/>
                          <a:ea typeface="Arial" pitchFamily="34" charset="-122"/>
                          <a:cs typeface="Arial" pitchFamily="34" charset="-120"/>
                        </a:rPr>
                        <a:t>0.0001</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900" dirty="0">
                          <a:solidFill>
                            <a:srgbClr val="111111"/>
                          </a:solidFill>
                          <a:latin typeface="Arial" pitchFamily="34" charset="0"/>
                          <a:ea typeface="Arial" pitchFamily="34" charset="-122"/>
                          <a:cs typeface="Arial" pitchFamily="34" charset="-120"/>
                        </a:rPr>
                        <a:t>99.78%</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900" dirty="0">
                          <a:solidFill>
                            <a:srgbClr val="111111"/>
                          </a:solidFill>
                          <a:latin typeface="Arial" pitchFamily="34" charset="0"/>
                          <a:ea typeface="Arial" pitchFamily="34" charset="-122"/>
                          <a:cs typeface="Arial" pitchFamily="34" charset="-120"/>
                        </a:rPr>
                        <a:t>0.0290</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900" dirty="0">
                          <a:solidFill>
                            <a:srgbClr val="111111"/>
                          </a:solidFill>
                          <a:latin typeface="Arial" pitchFamily="34" charset="0"/>
                          <a:ea typeface="Arial" pitchFamily="34" charset="-122"/>
                          <a:cs typeface="Arial" pitchFamily="34" charset="-120"/>
                        </a:rPr>
                        <a:t>8</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900" dirty="0">
                          <a:solidFill>
                            <a:srgbClr val="111111"/>
                          </a:solidFill>
                          <a:latin typeface="Arial" pitchFamily="34" charset="0"/>
                          <a:ea typeface="Arial" pitchFamily="34" charset="-122"/>
                          <a:cs typeface="Arial" pitchFamily="34" charset="-120"/>
                        </a:rPr>
                        <a:t>3.9 min</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r h="676656">
                <a:tc>
                  <a:txBody>
                    <a:bodyPr/>
                    <a:lstStyle/>
                    <a:p>
                      <a:pPr algn="ctr" indent="0" marL="0">
                        <a:buNone/>
                      </a:pPr>
                      <a:r>
                        <a:rPr lang="en-US" sz="1900" b="1" dirty="0">
                          <a:solidFill>
                            <a:srgbClr val="111111"/>
                          </a:solidFill>
                          <a:latin typeface="Arial" pitchFamily="34" charset="0"/>
                          <a:ea typeface="Arial" pitchFamily="34" charset="-122"/>
                          <a:cs typeface="Arial" pitchFamily="34" charset="-120"/>
                        </a:rPr>
                        <a:t>B ★ chosen</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FBEDE5"/>
                    </a:solidFill>
                  </a:tcPr>
                </a:tc>
                <a:tc>
                  <a:txBody>
                    <a:bodyPr/>
                    <a:lstStyle/>
                    <a:p>
                      <a:pPr algn="ctr" indent="0" marL="0">
                        <a:buNone/>
                      </a:pPr>
                      <a:r>
                        <a:rPr lang="en-US" sz="1900" b="1" dirty="0">
                          <a:solidFill>
                            <a:srgbClr val="111111"/>
                          </a:solidFill>
                          <a:latin typeface="Arial" pitchFamily="34" charset="0"/>
                          <a:ea typeface="Arial" pitchFamily="34" charset="-122"/>
                          <a:cs typeface="Arial" pitchFamily="34" charset="-120"/>
                        </a:rPr>
                        <a:t>0.001</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FBEDE5"/>
                    </a:solidFill>
                  </a:tcPr>
                </a:tc>
                <a:tc>
                  <a:txBody>
                    <a:bodyPr/>
                    <a:lstStyle/>
                    <a:p>
                      <a:pPr algn="ctr" indent="0" marL="0">
                        <a:buNone/>
                      </a:pPr>
                      <a:r>
                        <a:rPr lang="en-US" sz="1900" b="1" dirty="0">
                          <a:solidFill>
                            <a:srgbClr val="111111"/>
                          </a:solidFill>
                          <a:latin typeface="Arial" pitchFamily="34" charset="0"/>
                          <a:ea typeface="Arial" pitchFamily="34" charset="-122"/>
                          <a:cs typeface="Arial" pitchFamily="34" charset="-120"/>
                        </a:rPr>
                        <a:t>0.001</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FBEDE5"/>
                    </a:solidFill>
                  </a:tcPr>
                </a:tc>
                <a:tc>
                  <a:txBody>
                    <a:bodyPr/>
                    <a:lstStyle/>
                    <a:p>
                      <a:pPr algn="ctr" indent="0" marL="0">
                        <a:buNone/>
                      </a:pPr>
                      <a:r>
                        <a:rPr lang="en-US" sz="1900" b="1" dirty="0">
                          <a:solidFill>
                            <a:srgbClr val="111111"/>
                          </a:solidFill>
                          <a:latin typeface="Arial" pitchFamily="34" charset="0"/>
                          <a:ea typeface="Arial" pitchFamily="34" charset="-122"/>
                          <a:cs typeface="Arial" pitchFamily="34" charset="-120"/>
                        </a:rPr>
                        <a:t>99.78%</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FBEDE5"/>
                    </a:solidFill>
                  </a:tcPr>
                </a:tc>
                <a:tc>
                  <a:txBody>
                    <a:bodyPr/>
                    <a:lstStyle/>
                    <a:p>
                      <a:pPr algn="ctr" indent="0" marL="0">
                        <a:buNone/>
                      </a:pPr>
                      <a:r>
                        <a:rPr lang="en-US" sz="1900" b="1" dirty="0">
                          <a:solidFill>
                            <a:srgbClr val="C75B1E"/>
                          </a:solidFill>
                          <a:latin typeface="Arial" pitchFamily="34" charset="0"/>
                          <a:ea typeface="Arial" pitchFamily="34" charset="-122"/>
                          <a:cs typeface="Arial" pitchFamily="34" charset="-120"/>
                        </a:rPr>
                        <a:t>0.0280</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FBEDE5"/>
                    </a:solidFill>
                  </a:tcPr>
                </a:tc>
                <a:tc>
                  <a:txBody>
                    <a:bodyPr/>
                    <a:lstStyle/>
                    <a:p>
                      <a:pPr algn="ctr" indent="0" marL="0">
                        <a:buNone/>
                      </a:pPr>
                      <a:r>
                        <a:rPr lang="en-US" sz="1900" b="1" dirty="0">
                          <a:solidFill>
                            <a:srgbClr val="111111"/>
                          </a:solidFill>
                          <a:latin typeface="Arial" pitchFamily="34" charset="0"/>
                          <a:ea typeface="Arial" pitchFamily="34" charset="-122"/>
                          <a:cs typeface="Arial" pitchFamily="34" charset="-120"/>
                        </a:rPr>
                        <a:t>14</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FBEDE5"/>
                    </a:solidFill>
                  </a:tcPr>
                </a:tc>
                <a:tc>
                  <a:txBody>
                    <a:bodyPr/>
                    <a:lstStyle/>
                    <a:p>
                      <a:pPr algn="ctr" indent="0" marL="0">
                        <a:buNone/>
                      </a:pPr>
                      <a:r>
                        <a:rPr lang="en-US" sz="1900" b="1" dirty="0">
                          <a:solidFill>
                            <a:srgbClr val="111111"/>
                          </a:solidFill>
                          <a:latin typeface="Arial" pitchFamily="34" charset="0"/>
                          <a:ea typeface="Arial" pitchFamily="34" charset="-122"/>
                          <a:cs typeface="Arial" pitchFamily="34" charset="-120"/>
                        </a:rPr>
                        <a:t>5.5 min</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FBEDE5"/>
                    </a:solidFill>
                  </a:tcPr>
                </a:tc>
              </a:tr>
              <a:tr h="676656">
                <a:tc>
                  <a:txBody>
                    <a:bodyPr/>
                    <a:lstStyle/>
                    <a:p>
                      <a:pPr algn="ctr" indent="0" marL="0">
                        <a:buNone/>
                      </a:pPr>
                      <a:r>
                        <a:rPr lang="en-US" sz="1900" dirty="0">
                          <a:solidFill>
                            <a:srgbClr val="111111"/>
                          </a:solidFill>
                          <a:latin typeface="Arial" pitchFamily="34" charset="0"/>
                          <a:ea typeface="Arial" pitchFamily="34" charset="-122"/>
                          <a:cs typeface="Arial" pitchFamily="34" charset="-120"/>
                        </a:rPr>
                        <a:t>C</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900" dirty="0">
                          <a:solidFill>
                            <a:srgbClr val="111111"/>
                          </a:solidFill>
                          <a:latin typeface="Arial" pitchFamily="34" charset="0"/>
                          <a:ea typeface="Arial" pitchFamily="34" charset="-122"/>
                          <a:cs typeface="Arial" pitchFamily="34" charset="-120"/>
                        </a:rPr>
                        <a:t>0.0001</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900" dirty="0">
                          <a:solidFill>
                            <a:srgbClr val="111111"/>
                          </a:solidFill>
                          <a:latin typeface="Arial" pitchFamily="34" charset="0"/>
                          <a:ea typeface="Arial" pitchFamily="34" charset="-122"/>
                          <a:cs typeface="Arial" pitchFamily="34" charset="-120"/>
                        </a:rPr>
                        <a:t>0.0001</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900" dirty="0">
                          <a:solidFill>
                            <a:srgbClr val="111111"/>
                          </a:solidFill>
                          <a:latin typeface="Arial" pitchFamily="34" charset="0"/>
                          <a:ea typeface="Arial" pitchFamily="34" charset="-122"/>
                          <a:cs typeface="Arial" pitchFamily="34" charset="-120"/>
                        </a:rPr>
                        <a:t>99.78%</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900" dirty="0">
                          <a:solidFill>
                            <a:srgbClr val="111111"/>
                          </a:solidFill>
                          <a:latin typeface="Arial" pitchFamily="34" charset="0"/>
                          <a:ea typeface="Arial" pitchFamily="34" charset="-122"/>
                          <a:cs typeface="Arial" pitchFamily="34" charset="-120"/>
                        </a:rPr>
                        <a:t>0.0330</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900" dirty="0">
                          <a:solidFill>
                            <a:srgbClr val="111111"/>
                          </a:solidFill>
                          <a:latin typeface="Arial" pitchFamily="34" charset="0"/>
                          <a:ea typeface="Arial" pitchFamily="34" charset="-122"/>
                          <a:cs typeface="Arial" pitchFamily="34" charset="-120"/>
                        </a:rPr>
                        <a:t>3</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900" dirty="0">
                          <a:solidFill>
                            <a:srgbClr val="111111"/>
                          </a:solidFill>
                          <a:latin typeface="Arial" pitchFamily="34" charset="0"/>
                          <a:ea typeface="Arial" pitchFamily="34" charset="-122"/>
                          <a:cs typeface="Arial" pitchFamily="34" charset="-120"/>
                        </a:rPr>
                        <a:t>2.9 min</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r h="676656">
                <a:tc>
                  <a:txBody>
                    <a:bodyPr/>
                    <a:lstStyle/>
                    <a:p>
                      <a:pPr algn="ctr" indent="0" marL="0">
                        <a:buNone/>
                      </a:pPr>
                      <a:r>
                        <a:rPr lang="en-US" sz="1900" dirty="0">
                          <a:solidFill>
                            <a:srgbClr val="111111"/>
                          </a:solidFill>
                          <a:latin typeface="Arial" pitchFamily="34" charset="0"/>
                          <a:ea typeface="Arial" pitchFamily="34" charset="-122"/>
                          <a:cs typeface="Arial" pitchFamily="34" charset="-120"/>
                        </a:rPr>
                        <a:t>D</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900" dirty="0">
                          <a:solidFill>
                            <a:srgbClr val="111111"/>
                          </a:solidFill>
                          <a:latin typeface="Arial" pitchFamily="34" charset="0"/>
                          <a:ea typeface="Arial" pitchFamily="34" charset="-122"/>
                          <a:cs typeface="Arial" pitchFamily="34" charset="-120"/>
                        </a:rPr>
                        <a:t>0.0001</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900" dirty="0">
                          <a:solidFill>
                            <a:srgbClr val="111111"/>
                          </a:solidFill>
                          <a:latin typeface="Arial" pitchFamily="34" charset="0"/>
                          <a:ea typeface="Arial" pitchFamily="34" charset="-122"/>
                          <a:cs typeface="Arial" pitchFamily="34" charset="-120"/>
                        </a:rPr>
                        <a:t>0.001</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900" dirty="0">
                          <a:solidFill>
                            <a:srgbClr val="111111"/>
                          </a:solidFill>
                          <a:latin typeface="Arial" pitchFamily="34" charset="0"/>
                          <a:ea typeface="Arial" pitchFamily="34" charset="-122"/>
                          <a:cs typeface="Arial" pitchFamily="34" charset="-120"/>
                        </a:rPr>
                        <a:t>99.78%</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900" dirty="0">
                          <a:solidFill>
                            <a:srgbClr val="111111"/>
                          </a:solidFill>
                          <a:latin typeface="Arial" pitchFamily="34" charset="0"/>
                          <a:ea typeface="Arial" pitchFamily="34" charset="-122"/>
                          <a:cs typeface="Arial" pitchFamily="34" charset="-120"/>
                        </a:rPr>
                        <a:t>0.0324</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900" dirty="0">
                          <a:solidFill>
                            <a:srgbClr val="111111"/>
                          </a:solidFill>
                          <a:latin typeface="Arial" pitchFamily="34" charset="0"/>
                          <a:ea typeface="Arial" pitchFamily="34" charset="-122"/>
                          <a:cs typeface="Arial" pitchFamily="34" charset="-120"/>
                        </a:rPr>
                        <a:t>3</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900" dirty="0">
                          <a:solidFill>
                            <a:srgbClr val="111111"/>
                          </a:solidFill>
                          <a:latin typeface="Arial" pitchFamily="34" charset="0"/>
                          <a:ea typeface="Arial" pitchFamily="34" charset="-122"/>
                          <a:cs typeface="Arial" pitchFamily="34" charset="-120"/>
                        </a:rPr>
                        <a:t>3.0 min</a:t>
                      </a:r>
                      <a:endParaRPr lang="en-US" sz="19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bl>
          </a:graphicData>
        </a:graphic>
      </p:graphicFrame>
      <p:sp>
        <p:nvSpPr>
          <p:cNvPr id="5" name="Text 2"/>
          <p:cNvSpPr txBox="1"/>
          <p:nvPr/>
        </p:nvSpPr>
        <p:spPr>
          <a:xfrm>
            <a:off x="457200" y="5349240"/>
            <a:ext cx="11274552" cy="914400"/>
          </a:xfrm>
          <a:prstGeom prst="rect">
            <a:avLst/>
          </a:prstGeom>
          <a:noFill/>
          <a:ln/>
        </p:spPr>
        <p:txBody>
          <a:bodyPr wrap="square" lIns="508" tIns="508" rIns="508" bIns="508" rtlCol="0" anchor="t"/>
          <a:lstStyle/>
          <a:p>
            <a:pPr indent="0" marL="0">
              <a:buNone/>
            </a:pPr>
            <a:r>
              <a:rPr lang="en-US" sz="1700" dirty="0">
                <a:solidFill>
                  <a:srgbClr val="111111"/>
                </a:solidFill>
                <a:latin typeface="Arial" pitchFamily="34" charset="0"/>
                <a:ea typeface="Arial" pitchFamily="34" charset="-122"/>
                <a:cs typeface="Arial" pitchFamily="34" charset="-120"/>
              </a:rPr>
              <a:t>All four tied on validation accuracy (453 / 454); B won the pre-set tie-break (lowest validation loss). On test it was 3 images better than the untuned baseline (98.06% → 98.70%), a single-seed difference.</a:t>
            </a:r>
            <a:endParaRPr lang="en-US" sz="1700" dirty="0"/>
          </a:p>
        </p:txBody>
      </p:sp>
      <p:sp>
        <p:nvSpPr>
          <p:cNvPr id="25" name="Slide Number Placeholder 0"/>
          <p:cNvSpPr>
            <a:spLocks noGrp="1"/>
          </p:cNvSpPr>
          <p:nvPr>
            <p:ph type="sldNum" sz="quarter" idx="4294967295"/>
          </p:nvPr>
        </p:nvSpPr>
        <p:spPr>
          <a:xfrm>
            <a:off x="5733288" y="65562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4"/>
          <p:cNvSpPr/>
          <p:nvPr>
            <p:ph idx="105" type="title" hasCustomPrompt="1"/>
          </p:nvPr>
        </p:nvSpPr>
        <p:spPr>
          <a:xfrm>
            <a:off x="1463040" y="155448"/>
            <a:ext cx="9262872" cy="621792"/>
          </a:xfrm>
          <a:prstGeom prst="rect">
            <a:avLst/>
          </a:prstGeom>
          <a:noFill/>
          <a:ln/>
        </p:spPr>
        <p:txBody>
          <a:bodyPr wrap="square" lIns="0" tIns="0" rIns="0" bIns="0" rtlCol="0" anchor="ctr"/>
          <a:lstStyle/>
          <a:p>
            <a:pPr algn="ctr" indent="0" marL="0">
              <a:buNone/>
            </a:pPr>
            <a:r>
              <a:rPr lang="en-US" sz="3000" b="1" dirty="0">
                <a:solidFill>
                  <a:srgbClr val="0B5A3C"/>
                </a:solidFill>
                <a:latin typeface="Arial" pitchFamily="34" charset="0"/>
                <a:ea typeface="Arial" pitchFamily="34" charset="-122"/>
                <a:cs typeface="Arial" pitchFamily="34" charset="-120"/>
              </a:rPr>
              <a:t>Training vs. Validation Loss</a:t>
            </a:r>
            <a:endParaRPr lang="en-US" sz="3000" dirty="0"/>
          </a:p>
        </p:txBody>
      </p:sp>
      <p:sp>
        <p:nvSpPr>
          <p:cNvPr id="3" name="Text 1"/>
          <p:cNvSpPr txBox="1"/>
          <p:nvPr/>
        </p:nvSpPr>
        <p:spPr>
          <a:xfrm>
            <a:off x="457200" y="1005840"/>
            <a:ext cx="11274552" cy="365760"/>
          </a:xfrm>
          <a:prstGeom prst="rect">
            <a:avLst/>
          </a:prstGeom>
          <a:noFill/>
          <a:ln/>
        </p:spPr>
        <p:txBody>
          <a:bodyPr wrap="square" lIns="0" tIns="0" rIns="0" bIns="0" rtlCol="0" anchor="t"/>
          <a:lstStyle/>
          <a:p>
            <a:pPr indent="0" marL="0">
              <a:buNone/>
            </a:pPr>
            <a:r>
              <a:rPr lang="en-US" sz="1700" dirty="0">
                <a:solidFill>
                  <a:srgbClr val="4A4A4A"/>
                </a:solidFill>
                <a:latin typeface="Arial" pitchFamily="34" charset="0"/>
                <a:ea typeface="Arial" pitchFamily="34" charset="-122"/>
                <a:cs typeface="Arial" pitchFamily="34" charset="-120"/>
              </a:rPr>
              <a:t>Real curves from the saved training history (lower = better)</a:t>
            </a:r>
            <a:endParaRPr lang="en-US" sz="1700" dirty="0"/>
          </a:p>
        </p:txBody>
      </p:sp>
      <p:pic>
        <p:nvPicPr>
          <p:cNvPr id="4" name="Image 0" descr="C:/Users/ASUSG1~1/AppData/Local/Temp/claude/C--Users-ASUS-G-16-JVR-Desktop-deepLearning-CNN/ddb4b7a1-b5ad-4432-b312-271443ec143d/scratchpad/deck_v3/assets/loss_curves.png">    </p:cNvPr>
          <p:cNvPicPr>
            <a:picLocks noChangeAspect="1"/>
          </p:cNvPicPr>
          <p:nvPr/>
        </p:nvPicPr>
        <p:blipFill>
          <a:blip r:embed="rId1"/>
          <a:stretch>
            <a:fillRect/>
          </a:stretch>
        </p:blipFill>
        <p:spPr>
          <a:xfrm>
            <a:off x="365760" y="1317523"/>
            <a:ext cx="11457432" cy="3079955"/>
          </a:xfrm>
          <a:prstGeom prst="rect">
            <a:avLst/>
          </a:prstGeom>
        </p:spPr>
      </p:pic>
      <p:sp>
        <p:nvSpPr>
          <p:cNvPr id="5" name="Text 2"/>
          <p:cNvSpPr txBox="1"/>
          <p:nvPr/>
        </p:nvSpPr>
        <p:spPr>
          <a:xfrm>
            <a:off x="457200" y="4754880"/>
            <a:ext cx="3611880" cy="1188720"/>
          </a:xfrm>
          <a:prstGeom prst="rect">
            <a:avLst/>
          </a:prstGeom>
          <a:noFill/>
          <a:ln/>
        </p:spPr>
        <p:txBody>
          <a:bodyPr wrap="square" lIns="0" tIns="0" rIns="0" bIns="0" rtlCol="0" anchor="t"/>
          <a:lstStyle/>
          <a:p>
            <a:pPr indent="0" marL="0">
              <a:buNone/>
            </a:pPr>
            <a:r>
              <a:rPr lang="en-US" sz="1900" b="1" dirty="0">
                <a:solidFill>
                  <a:srgbClr val="0B5A3C"/>
                </a:solidFill>
                <a:latin typeface="Arial" pitchFamily="34" charset="0"/>
                <a:ea typeface="Arial" pitchFamily="34" charset="-122"/>
                <a:cs typeface="Arial" pitchFamily="34" charset="-120"/>
              </a:rPr>
              <a:t>Underfitting</a:t>
            </a:r>
            <a:endParaRPr lang="en-US" sz="1900" dirty="0"/>
          </a:p>
          <a:p>
            <a:pPr indent="0" marL="0">
              <a:buNone/>
            </a:pPr>
            <a:r>
              <a:rPr lang="en-US" sz="1600" dirty="0">
                <a:solidFill>
                  <a:srgbClr val="111111"/>
                </a:solidFill>
                <a:latin typeface="Arial" pitchFamily="34" charset="0"/>
                <a:ea typeface="Arial" pitchFamily="34" charset="-122"/>
                <a:cs typeface="Arial" pitchFamily="34" charset="-120"/>
              </a:rPr>
              <a:t>Both losses still high at epoch 40: a small network trained from scratch learns too little.</a:t>
            </a:r>
            <a:endParaRPr lang="en-US" sz="1900" dirty="0"/>
          </a:p>
        </p:txBody>
      </p:sp>
      <p:sp>
        <p:nvSpPr>
          <p:cNvPr id="6" name="Text 3"/>
          <p:cNvSpPr txBox="1"/>
          <p:nvPr/>
        </p:nvSpPr>
        <p:spPr>
          <a:xfrm>
            <a:off x="4279392" y="4754880"/>
            <a:ext cx="3611880" cy="1188720"/>
          </a:xfrm>
          <a:prstGeom prst="rect">
            <a:avLst/>
          </a:prstGeom>
          <a:noFill/>
          <a:ln/>
        </p:spPr>
        <p:txBody>
          <a:bodyPr wrap="square" lIns="0" tIns="0" rIns="0" bIns="0" rtlCol="0" anchor="t"/>
          <a:lstStyle/>
          <a:p>
            <a:pPr indent="0" marL="0">
              <a:buNone/>
            </a:pPr>
            <a:r>
              <a:rPr lang="en-US" sz="1900" b="1" dirty="0">
                <a:solidFill>
                  <a:srgbClr val="0B5A3C"/>
                </a:solidFill>
                <a:latin typeface="Arial" pitchFamily="34" charset="0"/>
                <a:ea typeface="Arial" pitchFamily="34" charset="-122"/>
                <a:cs typeface="Arial" pitchFamily="34" charset="-120"/>
              </a:rPr>
              <a:t>Good fit</a:t>
            </a:r>
            <a:endParaRPr lang="en-US" sz="1900" dirty="0"/>
          </a:p>
          <a:p>
            <a:pPr indent="0" marL="0">
              <a:buNone/>
            </a:pPr>
            <a:r>
              <a:rPr lang="en-US" sz="1600" dirty="0">
                <a:solidFill>
                  <a:srgbClr val="111111"/>
                </a:solidFill>
                <a:latin typeface="Arial" pitchFamily="34" charset="0"/>
                <a:ea typeface="Arial" pitchFamily="34" charset="-122"/>
                <a:cs typeface="Arial" pitchFamily="34" charset="-120"/>
              </a:rPr>
              <a:t>Training and validation loss stay close; only the last layer can learn.</a:t>
            </a:r>
            <a:endParaRPr lang="en-US" sz="1900" dirty="0"/>
          </a:p>
        </p:txBody>
      </p:sp>
      <p:sp>
        <p:nvSpPr>
          <p:cNvPr id="7" name="Text 4"/>
          <p:cNvSpPr txBox="1"/>
          <p:nvPr/>
        </p:nvSpPr>
        <p:spPr>
          <a:xfrm>
            <a:off x="8101584" y="4754880"/>
            <a:ext cx="3611880" cy="1188720"/>
          </a:xfrm>
          <a:prstGeom prst="rect">
            <a:avLst/>
          </a:prstGeom>
          <a:noFill/>
          <a:ln/>
        </p:spPr>
        <p:txBody>
          <a:bodyPr wrap="square" lIns="0" tIns="0" rIns="0" bIns="0" rtlCol="0" anchor="t"/>
          <a:lstStyle/>
          <a:p>
            <a:pPr indent="0" marL="0">
              <a:buNone/>
            </a:pPr>
            <a:r>
              <a:rPr lang="en-US" sz="1900" b="1" dirty="0">
                <a:solidFill>
                  <a:srgbClr val="C75B1E"/>
                </a:solidFill>
                <a:latin typeface="Arial" pitchFamily="34" charset="0"/>
                <a:ea typeface="Arial" pitchFamily="34" charset="-122"/>
                <a:cs typeface="Arial" pitchFamily="34" charset="-120"/>
              </a:rPr>
              <a:t>Very low loss</a:t>
            </a:r>
            <a:endParaRPr lang="en-US" sz="1900" dirty="0"/>
          </a:p>
          <a:p>
            <a:pPr indent="0" marL="0">
              <a:buNone/>
            </a:pPr>
            <a:r>
              <a:rPr lang="en-US" sz="1600" dirty="0">
                <a:solidFill>
                  <a:srgbClr val="111111"/>
                </a:solidFill>
                <a:latin typeface="Arial" pitchFamily="34" charset="0"/>
                <a:ea typeface="Arial" pitchFamily="34" charset="-122"/>
                <a:cs typeface="Arial" pitchFamily="34" charset="-120"/>
              </a:rPr>
              <a:t>Validation is noisy early; the best checkpoint (epoch 14) is kept.</a:t>
            </a:r>
            <a:endParaRPr lang="en-US" sz="1900" dirty="0"/>
          </a:p>
        </p:txBody>
      </p:sp>
      <p:sp>
        <p:nvSpPr>
          <p:cNvPr id="25" name="Slide Number Placeholder 0"/>
          <p:cNvSpPr>
            <a:spLocks noGrp="1"/>
          </p:cNvSpPr>
          <p:nvPr>
            <p:ph type="sldNum" sz="quarter" idx="4294967295"/>
          </p:nvPr>
        </p:nvSpPr>
        <p:spPr>
          <a:xfrm>
            <a:off x="5733288" y="65562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4"/>
          <p:cNvSpPr/>
          <p:nvPr>
            <p:ph idx="105" type="title" hasCustomPrompt="1"/>
          </p:nvPr>
        </p:nvSpPr>
        <p:spPr>
          <a:xfrm>
            <a:off x="1463040" y="155448"/>
            <a:ext cx="9262872" cy="621792"/>
          </a:xfrm>
          <a:prstGeom prst="rect">
            <a:avLst/>
          </a:prstGeom>
          <a:noFill/>
          <a:ln/>
        </p:spPr>
        <p:txBody>
          <a:bodyPr wrap="square" lIns="0" tIns="0" rIns="0" bIns="0" rtlCol="0" anchor="ctr"/>
          <a:lstStyle/>
          <a:p>
            <a:pPr algn="ctr" indent="0" marL="0">
              <a:buNone/>
            </a:pPr>
            <a:r>
              <a:rPr lang="en-US" sz="3000" b="1" dirty="0">
                <a:solidFill>
                  <a:srgbClr val="0B5A3C"/>
                </a:solidFill>
                <a:latin typeface="Arial" pitchFamily="34" charset="0"/>
                <a:ea typeface="Arial" pitchFamily="34" charset="-122"/>
                <a:cs typeface="Arial" pitchFamily="34" charset="-120"/>
              </a:rPr>
              <a:t>Confusion Matrix (Final Model)</a:t>
            </a:r>
            <a:endParaRPr lang="en-US" sz="3000" dirty="0"/>
          </a:p>
        </p:txBody>
      </p:sp>
      <p:pic>
        <p:nvPicPr>
          <p:cNvPr id="3" name="Image 0" descr="C:/Users/ASUSG1~1/AppData/Local/Temp/claude/C--Users-ASUS-G-16-JVR-Desktop-deepLearning-CNN/ddb4b7a1-b5ad-4432-b312-271443ec143d/scratchpad/deck_v3/assets/cm_final_pictures.png">    </p:cNvPr>
          <p:cNvPicPr>
            <a:picLocks noChangeAspect="1"/>
          </p:cNvPicPr>
          <p:nvPr/>
        </p:nvPicPr>
        <p:blipFill>
          <a:blip r:embed="rId1"/>
          <a:stretch>
            <a:fillRect/>
          </a:stretch>
        </p:blipFill>
        <p:spPr>
          <a:xfrm>
            <a:off x="274320" y="1005840"/>
            <a:ext cx="7086871" cy="5394960"/>
          </a:xfrm>
          <a:prstGeom prst="rect">
            <a:avLst/>
          </a:prstGeom>
        </p:spPr>
      </p:pic>
      <p:sp>
        <p:nvSpPr>
          <p:cNvPr id="4" name="Text 1"/>
          <p:cNvSpPr txBox="1"/>
          <p:nvPr/>
        </p:nvSpPr>
        <p:spPr>
          <a:xfrm>
            <a:off x="7680960" y="1325880"/>
            <a:ext cx="4050792" cy="658368"/>
          </a:xfrm>
          <a:prstGeom prst="rect">
            <a:avLst/>
          </a:prstGeom>
          <a:noFill/>
          <a:ln/>
        </p:spPr>
        <p:txBody>
          <a:bodyPr wrap="square" lIns="0" tIns="0" rIns="0" bIns="0" rtlCol="0" anchor="b"/>
          <a:lstStyle/>
          <a:p>
            <a:pPr algn="ctr" indent="0" marL="0">
              <a:buNone/>
            </a:pPr>
            <a:r>
              <a:rPr lang="en-US" sz="4000" b="1" dirty="0">
                <a:solidFill>
                  <a:srgbClr val="C75B1E"/>
                </a:solidFill>
                <a:latin typeface="Arial" pitchFamily="34" charset="0"/>
                <a:ea typeface="Arial" pitchFamily="34" charset="-122"/>
                <a:cs typeface="Arial" pitchFamily="34" charset="-120"/>
              </a:rPr>
              <a:t>457 / 463</a:t>
            </a:r>
            <a:endParaRPr lang="en-US" sz="4000" dirty="0"/>
          </a:p>
        </p:txBody>
      </p:sp>
      <p:sp>
        <p:nvSpPr>
          <p:cNvPr id="5" name="Text 2"/>
          <p:cNvSpPr txBox="1"/>
          <p:nvPr/>
        </p:nvSpPr>
        <p:spPr>
          <a:xfrm>
            <a:off x="7680960" y="2002536"/>
            <a:ext cx="4050792" cy="566928"/>
          </a:xfrm>
          <a:prstGeom prst="rect">
            <a:avLst/>
          </a:prstGeom>
          <a:noFill/>
          <a:ln/>
        </p:spPr>
        <p:txBody>
          <a:bodyPr wrap="square" lIns="0" tIns="0" rIns="0" bIns="0" rtlCol="0" anchor="t"/>
          <a:lstStyle/>
          <a:p>
            <a:pPr algn="ctr" indent="0" marL="0">
              <a:buNone/>
            </a:pPr>
            <a:r>
              <a:rPr lang="en-US" sz="1800" dirty="0">
                <a:solidFill>
                  <a:srgbClr val="4A4A4A"/>
                </a:solidFill>
                <a:latin typeface="Arial" pitchFamily="34" charset="0"/>
                <a:ea typeface="Arial" pitchFamily="34" charset="-122"/>
                <a:cs typeface="Arial" pitchFamily="34" charset="-120"/>
              </a:rPr>
              <a:t>test images correct</a:t>
            </a:r>
            <a:endParaRPr lang="en-US" sz="1800" dirty="0"/>
          </a:p>
        </p:txBody>
      </p:sp>
      <p:sp>
        <p:nvSpPr>
          <p:cNvPr id="6" name="Shape 3"/>
          <p:cNvSpPr/>
          <p:nvPr/>
        </p:nvSpPr>
        <p:spPr>
          <a:xfrm>
            <a:off x="7726680" y="2834640"/>
            <a:ext cx="4005072" cy="3291840"/>
          </a:xfrm>
          <a:prstGeom prst="roundRect">
            <a:avLst>
              <a:gd name="adj" fmla="val 2222"/>
            </a:avLst>
          </a:prstGeom>
          <a:solidFill>
            <a:srgbClr val="F2F7F4"/>
          </a:solidFill>
          <a:ln w="9525">
            <a:solidFill>
              <a:srgbClr val="F2F7F4"/>
            </a:solidFill>
            <a:prstDash val="solid"/>
          </a:ln>
        </p:spPr>
      </p:sp>
      <p:sp>
        <p:nvSpPr>
          <p:cNvPr id="7" name="Text 4"/>
          <p:cNvSpPr txBox="1"/>
          <p:nvPr/>
        </p:nvSpPr>
        <p:spPr>
          <a:xfrm>
            <a:off x="7863840" y="2971800"/>
            <a:ext cx="3794760" cy="3063240"/>
          </a:xfrm>
          <a:prstGeom prst="rect">
            <a:avLst/>
          </a:prstGeom>
          <a:noFill/>
          <a:ln/>
        </p:spPr>
        <p:txBody>
          <a:bodyPr wrap="square" lIns="635" tIns="635" rIns="635" bIns="635" rtlCol="0" anchor="t"/>
          <a:lstStyle/>
          <a:p>
            <a:pPr marL="279400" indent="-279400">
              <a:spcAft>
                <a:spcPts val="1000"/>
              </a:spcAft>
              <a:buSzPct val="100000"/>
              <a:buChar char="•"/>
            </a:pPr>
            <a:r>
              <a:rPr lang="en-US" sz="1800" b="1" dirty="0">
                <a:solidFill>
                  <a:srgbClr val="111111"/>
                </a:solidFill>
                <a:latin typeface="Arial" pitchFamily="34" charset="0"/>
                <a:ea typeface="Arial" pitchFamily="34" charset="-122"/>
                <a:cs typeface="Arial" pitchFamily="34" charset="-120"/>
              </a:rPr>
              <a:t>Rows: </a:t>
            </a:r>
            <a:pPr indent="0" marL="0">
              <a:spcAft>
                <a:spcPts val="1000"/>
              </a:spcAft>
              <a:buNone/>
            </a:pPr>
            <a:r>
              <a:rPr lang="en-US" sz="1800" dirty="0">
                <a:solidFill>
                  <a:srgbClr val="111111"/>
                </a:solidFill>
                <a:latin typeface="Arial" pitchFamily="34" charset="0"/>
                <a:ea typeface="Arial" pitchFamily="34" charset="-122"/>
                <a:cs typeface="Arial" pitchFamily="34" charset="-120"/>
              </a:rPr>
              <a:t>true sign. </a:t>
            </a:r>
            <a:pPr indent="0" marL="0">
              <a:spcAft>
                <a:spcPts val="1000"/>
              </a:spcAft>
              <a:buNone/>
            </a:pPr>
            <a:r>
              <a:rPr lang="en-US" sz="1800" b="1" dirty="0">
                <a:solidFill>
                  <a:srgbClr val="111111"/>
                </a:solidFill>
                <a:latin typeface="Arial" pitchFamily="34" charset="0"/>
                <a:ea typeface="Arial" pitchFamily="34" charset="-122"/>
                <a:cs typeface="Arial" pitchFamily="34" charset="-120"/>
              </a:rPr>
              <a:t>Columns: </a:t>
            </a:r>
            <a:pPr indent="0" marL="0">
              <a:spcAft>
                <a:spcPts val="1000"/>
              </a:spcAft>
              <a:buNone/>
            </a:pPr>
            <a:r>
              <a:rPr lang="en-US" sz="1800" dirty="0">
                <a:solidFill>
                  <a:srgbClr val="111111"/>
                </a:solidFill>
                <a:latin typeface="Arial" pitchFamily="34" charset="0"/>
                <a:ea typeface="Arial" pitchFamily="34" charset="-122"/>
                <a:cs typeface="Arial" pitchFamily="34" charset="-120"/>
              </a:rPr>
              <a:t>predicted sign</a:t>
            </a:r>
            <a:endParaRPr lang="en-US" sz="1800" dirty="0"/>
          </a:p>
          <a:p>
            <a:pPr marL="279400" indent="-279400">
              <a:spcAft>
                <a:spcPts val="1000"/>
              </a:spcAft>
              <a:buSzPct val="100000"/>
              <a:buChar char="•"/>
            </a:pPr>
            <a:r>
              <a:rPr lang="en-US" sz="1800" b="1" dirty="0">
                <a:solidFill>
                  <a:srgbClr val="0B5A3C"/>
                </a:solidFill>
                <a:latin typeface="Arial" pitchFamily="34" charset="0"/>
                <a:ea typeface="Arial" pitchFamily="34" charset="-122"/>
                <a:cs typeface="Arial" pitchFamily="34" charset="-120"/>
              </a:rPr>
              <a:t>Green diagonal: </a:t>
            </a:r>
            <a:pPr indent="0" marL="0">
              <a:spcAft>
                <a:spcPts val="1000"/>
              </a:spcAft>
              <a:buNone/>
            </a:pPr>
            <a:r>
              <a:rPr lang="en-US" sz="1800" dirty="0">
                <a:solidFill>
                  <a:srgbClr val="111111"/>
                </a:solidFill>
                <a:latin typeface="Arial" pitchFamily="34" charset="0"/>
                <a:ea typeface="Arial" pitchFamily="34" charset="-122"/>
                <a:cs typeface="Arial" pitchFamily="34" charset="-120"/>
              </a:rPr>
              <a:t>correct</a:t>
            </a:r>
            <a:endParaRPr lang="en-US" sz="1800" dirty="0"/>
          </a:p>
          <a:p>
            <a:pPr marL="279400" indent="-279400">
              <a:spcAft>
                <a:spcPts val="1000"/>
              </a:spcAft>
              <a:buSzPct val="100000"/>
              <a:buChar char="•"/>
            </a:pPr>
            <a:r>
              <a:rPr lang="en-US" sz="1800" b="1" dirty="0">
                <a:solidFill>
                  <a:srgbClr val="C44E52"/>
                </a:solidFill>
                <a:latin typeface="Arial" pitchFamily="34" charset="0"/>
                <a:ea typeface="Arial" pitchFamily="34" charset="-122"/>
                <a:cs typeface="Arial" pitchFamily="34" charset="-120"/>
              </a:rPr>
              <a:t>Red cells: </a:t>
            </a:r>
            <a:pPr indent="0" marL="0">
              <a:spcAft>
                <a:spcPts val="1000"/>
              </a:spcAft>
              <a:buNone/>
            </a:pPr>
            <a:r>
              <a:rPr lang="en-US" sz="1800" dirty="0">
                <a:solidFill>
                  <a:srgbClr val="111111"/>
                </a:solidFill>
                <a:latin typeface="Arial" pitchFamily="34" charset="0"/>
                <a:ea typeface="Arial" pitchFamily="34" charset="-122"/>
                <a:cs typeface="Arial" pitchFamily="34" charset="-120"/>
              </a:rPr>
              <a:t>the 6 mistakes</a:t>
            </a:r>
            <a:endParaRPr lang="en-US" sz="1800" dirty="0"/>
          </a:p>
          <a:p>
            <a:pPr marL="279400" indent="-279400">
              <a:spcAft>
                <a:spcPts val="1000"/>
              </a:spcAft>
              <a:buSzPct val="100000"/>
              <a:buChar char="•"/>
            </a:pPr>
            <a:r>
              <a:rPr lang="en-US" sz="1800" dirty="0">
                <a:solidFill>
                  <a:srgbClr val="111111"/>
                </a:solidFill>
                <a:latin typeface="Arial" pitchFamily="34" charset="0"/>
                <a:ea typeface="Arial" pitchFamily="34" charset="-122"/>
                <a:cs typeface="Arial" pitchFamily="34" charset="-120"/>
              </a:rPr>
              <a:t>No mistake happens twice; 16 of 26 classes are perfect</a:t>
            </a:r>
            <a:endParaRPr lang="en-US" sz="1800" dirty="0"/>
          </a:p>
        </p:txBody>
      </p:sp>
      <p:sp>
        <p:nvSpPr>
          <p:cNvPr id="25" name="Slide Number Placeholder 0"/>
          <p:cNvSpPr>
            <a:spLocks noGrp="1"/>
          </p:cNvSpPr>
          <p:nvPr>
            <p:ph type="sldNum" sz="quarter" idx="4294967295"/>
          </p:nvPr>
        </p:nvSpPr>
        <p:spPr>
          <a:xfrm>
            <a:off x="5733288" y="65562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4"/>
          <p:cNvSpPr/>
          <p:nvPr>
            <p:ph idx="105" type="title" hasCustomPrompt="1"/>
          </p:nvPr>
        </p:nvSpPr>
        <p:spPr>
          <a:xfrm>
            <a:off x="1463040" y="155448"/>
            <a:ext cx="9262872" cy="621792"/>
          </a:xfrm>
          <a:prstGeom prst="rect">
            <a:avLst/>
          </a:prstGeom>
          <a:noFill/>
          <a:ln/>
        </p:spPr>
        <p:txBody>
          <a:bodyPr wrap="square" lIns="0" tIns="0" rIns="0" bIns="0" rtlCol="0" anchor="ctr"/>
          <a:lstStyle/>
          <a:p>
            <a:pPr algn="ctr" indent="0" marL="0">
              <a:buNone/>
            </a:pPr>
            <a:r>
              <a:rPr lang="en-US" sz="3000" b="1" dirty="0">
                <a:solidFill>
                  <a:srgbClr val="0B5A3C"/>
                </a:solidFill>
                <a:latin typeface="Arial" pitchFamily="34" charset="0"/>
                <a:ea typeface="Arial" pitchFamily="34" charset="-122"/>
                <a:cs typeface="Arial" pitchFamily="34" charset="-120"/>
              </a:rPr>
              <a:t>The 6 Mistakes, with Real Images</a:t>
            </a:r>
            <a:endParaRPr lang="en-US" sz="3000" dirty="0"/>
          </a:p>
        </p:txBody>
      </p:sp>
      <p:sp>
        <p:nvSpPr>
          <p:cNvPr id="3" name="Text 1"/>
          <p:cNvSpPr txBox="1"/>
          <p:nvPr/>
        </p:nvSpPr>
        <p:spPr>
          <a:xfrm>
            <a:off x="457200" y="1005840"/>
            <a:ext cx="11274552" cy="365760"/>
          </a:xfrm>
          <a:prstGeom prst="rect">
            <a:avLst/>
          </a:prstGeom>
          <a:noFill/>
          <a:ln/>
        </p:spPr>
        <p:txBody>
          <a:bodyPr wrap="square" lIns="0" tIns="0" rIns="0" bIns="0" rtlCol="0" anchor="t"/>
          <a:lstStyle/>
          <a:p>
            <a:pPr indent="0" marL="0">
              <a:buNone/>
            </a:pPr>
            <a:r>
              <a:rPr lang="en-US" sz="1700" dirty="0">
                <a:solidFill>
                  <a:srgbClr val="4A4A4A"/>
                </a:solidFill>
                <a:latin typeface="Arial" pitchFamily="34" charset="0"/>
                <a:ea typeface="Arial" pitchFamily="34" charset="-122"/>
                <a:cs typeface="Arial" pitchFamily="34" charset="-120"/>
              </a:rPr>
              <a:t>True label vs. what the final model predicted</a:t>
            </a:r>
            <a:endParaRPr lang="en-US" sz="1700" dirty="0"/>
          </a:p>
        </p:txBody>
      </p:sp>
      <p:sp>
        <p:nvSpPr>
          <p:cNvPr id="4" name="Shape 2"/>
          <p:cNvSpPr/>
          <p:nvPr/>
        </p:nvSpPr>
        <p:spPr>
          <a:xfrm>
            <a:off x="457200" y="1508760"/>
            <a:ext cx="3611880" cy="2103120"/>
          </a:xfrm>
          <a:prstGeom prst="roundRect">
            <a:avLst>
              <a:gd name="adj" fmla="val 3478"/>
            </a:avLst>
          </a:prstGeom>
          <a:solidFill>
            <a:srgbClr val="F1EEF8"/>
          </a:solidFill>
          <a:ln w="9525">
            <a:solidFill>
              <a:srgbClr val="F1EEF8"/>
            </a:solidFill>
            <a:prstDash val="solid"/>
          </a:ln>
        </p:spPr>
      </p:sp>
      <p:pic>
        <p:nvPicPr>
          <p:cNvPr id="5" name="Image 0" descr="C:/Users/ASUSG1~1/AppData/Local/Temp/claude/C--Users-ASUS-G-16-JVR-Desktop-deepLearning-CNN/ddb4b7a1-b5ad-4432-b312-271443ec143d/scratchpad/deck_v3/assets/error_1.png">    </p:cNvPr>
          <p:cNvPicPr>
            <a:picLocks noChangeAspect="1"/>
          </p:cNvPicPr>
          <p:nvPr/>
        </p:nvPicPr>
        <p:blipFill>
          <a:blip r:embed="rId1"/>
          <a:stretch>
            <a:fillRect/>
          </a:stretch>
        </p:blipFill>
        <p:spPr>
          <a:xfrm>
            <a:off x="566928" y="1600200"/>
            <a:ext cx="1572768" cy="1572768"/>
          </a:xfrm>
          <a:prstGeom prst="rect">
            <a:avLst/>
          </a:prstGeom>
        </p:spPr>
      </p:pic>
      <p:sp>
        <p:nvSpPr>
          <p:cNvPr id="6" name="Text 3"/>
          <p:cNvSpPr txBox="1"/>
          <p:nvPr/>
        </p:nvSpPr>
        <p:spPr>
          <a:xfrm>
            <a:off x="2240280" y="1600200"/>
            <a:ext cx="1783080" cy="1572768"/>
          </a:xfrm>
          <a:prstGeom prst="rect">
            <a:avLst/>
          </a:prstGeom>
          <a:noFill/>
          <a:ln/>
        </p:spPr>
        <p:txBody>
          <a:bodyPr wrap="square" lIns="0" tIns="0" rIns="0" bIns="0" rtlCol="0" anchor="ctr"/>
          <a:lstStyle/>
          <a:p>
            <a:pPr indent="0" marL="0">
              <a:buNone/>
            </a:pPr>
            <a:r>
              <a:rPr lang="en-US" sz="1500" b="1" dirty="0">
                <a:solidFill>
                  <a:srgbClr val="111111"/>
                </a:solidFill>
                <a:latin typeface="Arial" pitchFamily="34" charset="0"/>
                <a:ea typeface="Arial" pitchFamily="34" charset="-122"/>
                <a:cs typeface="Arial" pitchFamily="34" charset="-120"/>
              </a:rPr>
              <a:t>True: </a:t>
            </a:r>
            <a:pPr indent="0" marL="0">
              <a:buNone/>
            </a:pPr>
            <a:r>
              <a:rPr lang="en-US" sz="1500" dirty="0">
                <a:solidFill>
                  <a:srgbClr val="111111"/>
                </a:solidFill>
                <a:latin typeface="Arial" pitchFamily="34" charset="0"/>
                <a:ea typeface="Arial" pitchFamily="34" charset="-122"/>
                <a:cs typeface="Arial" pitchFamily="34" charset="-120"/>
              </a:rPr>
              <a:t>Left Bend</a:t>
            </a:r>
            <a:endParaRPr lang="en-US" sz="1500" dirty="0"/>
          </a:p>
          <a:p>
            <a:pPr indent="0" marL="0">
              <a:buNone/>
            </a:pPr>
            <a:r>
              <a:rPr lang="en-US" sz="1500" b="1" dirty="0">
                <a:solidFill>
                  <a:srgbClr val="111111"/>
                </a:solidFill>
                <a:latin typeface="Arial" pitchFamily="34" charset="0"/>
                <a:ea typeface="Arial" pitchFamily="34" charset="-122"/>
                <a:cs typeface="Arial" pitchFamily="34" charset="-120"/>
              </a:rPr>
              <a:t>Predicted: </a:t>
            </a:r>
            <a:pPr indent="0" marL="0">
              <a:buNone/>
            </a:pPr>
            <a:r>
              <a:rPr lang="en-US" sz="1500" dirty="0">
                <a:solidFill>
                  <a:srgbClr val="111111"/>
                </a:solidFill>
                <a:latin typeface="Arial" pitchFamily="34" charset="0"/>
                <a:ea typeface="Arial" pitchFamily="34" charset="-122"/>
                <a:cs typeface="Arial" pitchFamily="34" charset="-120"/>
              </a:rPr>
              <a:t>Right Bend</a:t>
            </a:r>
            <a:endParaRPr lang="en-US" sz="1500" dirty="0"/>
          </a:p>
          <a:p>
            <a:pPr indent="0" marL="0">
              <a:buNone/>
            </a:pPr>
            <a:r>
              <a:rPr lang="en-US" sz="1500" dirty="0">
                <a:solidFill>
                  <a:srgbClr val="4A4A4A"/>
                </a:solidFill>
                <a:latin typeface="Arial" pitchFamily="34" charset="0"/>
                <a:ea typeface="Arial" pitchFamily="34" charset="-122"/>
                <a:cs typeface="Arial" pitchFamily="34" charset="-120"/>
              </a:rPr>
              <a:t>confidence 100%</a:t>
            </a:r>
            <a:endParaRPr lang="en-US" sz="1500" dirty="0"/>
          </a:p>
        </p:txBody>
      </p:sp>
      <p:sp>
        <p:nvSpPr>
          <p:cNvPr id="7" name="Text 4"/>
          <p:cNvSpPr txBox="1"/>
          <p:nvPr/>
        </p:nvSpPr>
        <p:spPr>
          <a:xfrm>
            <a:off x="566928" y="3227832"/>
            <a:ext cx="3383280" cy="347472"/>
          </a:xfrm>
          <a:prstGeom prst="rect">
            <a:avLst/>
          </a:prstGeom>
          <a:noFill/>
          <a:ln/>
        </p:spPr>
        <p:txBody>
          <a:bodyPr wrap="square" lIns="508" tIns="508" rIns="508" bIns="508" rtlCol="0" anchor="t"/>
          <a:lstStyle/>
          <a:p>
            <a:pPr indent="0" marL="0">
              <a:buNone/>
            </a:pPr>
            <a:r>
              <a:rPr lang="en-US" sz="1500" b="1" dirty="0">
                <a:solidFill>
                  <a:srgbClr val="6B5BA8"/>
                </a:solidFill>
                <a:latin typeface="Arial" pitchFamily="34" charset="0"/>
                <a:ea typeface="Arial" pitchFamily="34" charset="-122"/>
                <a:cs typeface="Arial" pitchFamily="34" charset="-120"/>
              </a:rPr>
              <a:t>probable annotation error</a:t>
            </a:r>
            <a:endParaRPr lang="en-US" sz="1500" dirty="0"/>
          </a:p>
        </p:txBody>
      </p:sp>
      <p:sp>
        <p:nvSpPr>
          <p:cNvPr id="8" name="Shape 5"/>
          <p:cNvSpPr/>
          <p:nvPr/>
        </p:nvSpPr>
        <p:spPr>
          <a:xfrm>
            <a:off x="4279392" y="1508760"/>
            <a:ext cx="3611880" cy="2103120"/>
          </a:xfrm>
          <a:prstGeom prst="roundRect">
            <a:avLst>
              <a:gd name="adj" fmla="val 3478"/>
            </a:avLst>
          </a:prstGeom>
          <a:solidFill>
            <a:srgbClr val="F1EEF8"/>
          </a:solidFill>
          <a:ln w="9525">
            <a:solidFill>
              <a:srgbClr val="F1EEF8"/>
            </a:solidFill>
            <a:prstDash val="solid"/>
          </a:ln>
        </p:spPr>
      </p:sp>
      <p:pic>
        <p:nvPicPr>
          <p:cNvPr id="9" name="Image 1" descr="C:/Users/ASUSG1~1/AppData/Local/Temp/claude/C--Users-ASUS-G-16-JVR-Desktop-deepLearning-CNN/ddb4b7a1-b5ad-4432-b312-271443ec143d/scratchpad/deck_v3/assets/error_2.png">    </p:cNvPr>
          <p:cNvPicPr>
            <a:picLocks noChangeAspect="1"/>
          </p:cNvPicPr>
          <p:nvPr/>
        </p:nvPicPr>
        <p:blipFill>
          <a:blip r:embed="rId2"/>
          <a:stretch>
            <a:fillRect/>
          </a:stretch>
        </p:blipFill>
        <p:spPr>
          <a:xfrm>
            <a:off x="4389120" y="1600200"/>
            <a:ext cx="1572768" cy="1572768"/>
          </a:xfrm>
          <a:prstGeom prst="rect">
            <a:avLst/>
          </a:prstGeom>
        </p:spPr>
      </p:pic>
      <p:sp>
        <p:nvSpPr>
          <p:cNvPr id="10" name="Text 6"/>
          <p:cNvSpPr txBox="1"/>
          <p:nvPr/>
        </p:nvSpPr>
        <p:spPr>
          <a:xfrm>
            <a:off x="6062472" y="1600200"/>
            <a:ext cx="1783080" cy="1572768"/>
          </a:xfrm>
          <a:prstGeom prst="rect">
            <a:avLst/>
          </a:prstGeom>
          <a:noFill/>
          <a:ln/>
        </p:spPr>
        <p:txBody>
          <a:bodyPr wrap="square" lIns="0" tIns="0" rIns="0" bIns="0" rtlCol="0" anchor="ctr"/>
          <a:lstStyle/>
          <a:p>
            <a:pPr indent="0" marL="0">
              <a:buNone/>
            </a:pPr>
            <a:r>
              <a:rPr lang="en-US" sz="1500" b="1" dirty="0">
                <a:solidFill>
                  <a:srgbClr val="111111"/>
                </a:solidFill>
                <a:latin typeface="Arial" pitchFamily="34" charset="0"/>
                <a:ea typeface="Arial" pitchFamily="34" charset="-122"/>
                <a:cs typeface="Arial" pitchFamily="34" charset="-120"/>
              </a:rPr>
              <a:t>True: </a:t>
            </a:r>
            <a:pPr indent="0" marL="0">
              <a:buNone/>
            </a:pPr>
            <a:r>
              <a:rPr lang="en-US" sz="1500" dirty="0">
                <a:solidFill>
                  <a:srgbClr val="111111"/>
                </a:solidFill>
                <a:latin typeface="Arial" pitchFamily="34" charset="0"/>
                <a:ea typeface="Arial" pitchFamily="34" charset="-122"/>
                <a:cs typeface="Arial" pitchFamily="34" charset="-120"/>
              </a:rPr>
              <a:t>KM Post</a:t>
            </a:r>
            <a:endParaRPr lang="en-US" sz="1500" dirty="0"/>
          </a:p>
          <a:p>
            <a:pPr indent="0" marL="0">
              <a:buNone/>
            </a:pPr>
            <a:r>
              <a:rPr lang="en-US" sz="1500" b="1" dirty="0">
                <a:solidFill>
                  <a:srgbClr val="111111"/>
                </a:solidFill>
                <a:latin typeface="Arial" pitchFamily="34" charset="0"/>
                <a:ea typeface="Arial" pitchFamily="34" charset="-122"/>
                <a:cs typeface="Arial" pitchFamily="34" charset="-120"/>
              </a:rPr>
              <a:t>Predicted: </a:t>
            </a:r>
            <a:pPr indent="0" marL="0">
              <a:buNone/>
            </a:pPr>
            <a:r>
              <a:rPr lang="en-US" sz="1500" dirty="0">
                <a:solidFill>
                  <a:srgbClr val="111111"/>
                </a:solidFill>
                <a:latin typeface="Arial" pitchFamily="34" charset="0"/>
                <a:ea typeface="Arial" pitchFamily="34" charset="-122"/>
                <a:cs typeface="Arial" pitchFamily="34" charset="-120"/>
              </a:rPr>
              <a:t>Keep Right</a:t>
            </a:r>
            <a:endParaRPr lang="en-US" sz="1500" dirty="0"/>
          </a:p>
          <a:p>
            <a:pPr indent="0" marL="0">
              <a:buNone/>
            </a:pPr>
            <a:r>
              <a:rPr lang="en-US" sz="1500" dirty="0">
                <a:solidFill>
                  <a:srgbClr val="4A4A4A"/>
                </a:solidFill>
                <a:latin typeface="Arial" pitchFamily="34" charset="0"/>
                <a:ea typeface="Arial" pitchFamily="34" charset="-122"/>
                <a:cs typeface="Arial" pitchFamily="34" charset="-120"/>
              </a:rPr>
              <a:t>confidence 100%</a:t>
            </a:r>
            <a:endParaRPr lang="en-US" sz="1500" dirty="0"/>
          </a:p>
        </p:txBody>
      </p:sp>
      <p:sp>
        <p:nvSpPr>
          <p:cNvPr id="11" name="Text 7"/>
          <p:cNvSpPr txBox="1"/>
          <p:nvPr/>
        </p:nvSpPr>
        <p:spPr>
          <a:xfrm>
            <a:off x="4389120" y="3227832"/>
            <a:ext cx="3383280" cy="347472"/>
          </a:xfrm>
          <a:prstGeom prst="rect">
            <a:avLst/>
          </a:prstGeom>
          <a:noFill/>
          <a:ln/>
        </p:spPr>
        <p:txBody>
          <a:bodyPr wrap="square" lIns="508" tIns="508" rIns="508" bIns="508" rtlCol="0" anchor="t"/>
          <a:lstStyle/>
          <a:p>
            <a:pPr indent="0" marL="0">
              <a:buNone/>
            </a:pPr>
            <a:r>
              <a:rPr lang="en-US" sz="1500" b="1" dirty="0">
                <a:solidFill>
                  <a:srgbClr val="6B5BA8"/>
                </a:solidFill>
                <a:latin typeface="Arial" pitchFamily="34" charset="0"/>
                <a:ea typeface="Arial" pitchFamily="34" charset="-122"/>
                <a:cs typeface="Arial" pitchFamily="34" charset="-120"/>
              </a:rPr>
              <a:t>probable annotation error</a:t>
            </a:r>
            <a:endParaRPr lang="en-US" sz="1500" dirty="0"/>
          </a:p>
        </p:txBody>
      </p:sp>
      <p:sp>
        <p:nvSpPr>
          <p:cNvPr id="12" name="Shape 8"/>
          <p:cNvSpPr/>
          <p:nvPr/>
        </p:nvSpPr>
        <p:spPr>
          <a:xfrm>
            <a:off x="8101584" y="1508760"/>
            <a:ext cx="3611880" cy="2103120"/>
          </a:xfrm>
          <a:prstGeom prst="roundRect">
            <a:avLst>
              <a:gd name="adj" fmla="val 3478"/>
            </a:avLst>
          </a:prstGeom>
          <a:solidFill>
            <a:srgbClr val="F1EEF8"/>
          </a:solidFill>
          <a:ln w="9525">
            <a:solidFill>
              <a:srgbClr val="F1EEF8"/>
            </a:solidFill>
            <a:prstDash val="solid"/>
          </a:ln>
        </p:spPr>
      </p:sp>
      <p:pic>
        <p:nvPicPr>
          <p:cNvPr id="13" name="Image 2" descr="C:/Users/ASUSG1~1/AppData/Local/Temp/claude/C--Users-ASUS-G-16-JVR-Desktop-deepLearning-CNN/ddb4b7a1-b5ad-4432-b312-271443ec143d/scratchpad/deck_v3/assets/error_3.png">    </p:cNvPr>
          <p:cNvPicPr>
            <a:picLocks noChangeAspect="1"/>
          </p:cNvPicPr>
          <p:nvPr/>
        </p:nvPicPr>
        <p:blipFill>
          <a:blip r:embed="rId3"/>
          <a:stretch>
            <a:fillRect/>
          </a:stretch>
        </p:blipFill>
        <p:spPr>
          <a:xfrm>
            <a:off x="8211312" y="1600200"/>
            <a:ext cx="1572768" cy="1572768"/>
          </a:xfrm>
          <a:prstGeom prst="rect">
            <a:avLst/>
          </a:prstGeom>
        </p:spPr>
      </p:pic>
      <p:sp>
        <p:nvSpPr>
          <p:cNvPr id="14" name="Text 9"/>
          <p:cNvSpPr txBox="1"/>
          <p:nvPr/>
        </p:nvSpPr>
        <p:spPr>
          <a:xfrm>
            <a:off x="9884664" y="1600200"/>
            <a:ext cx="1783080" cy="1572768"/>
          </a:xfrm>
          <a:prstGeom prst="rect">
            <a:avLst/>
          </a:prstGeom>
          <a:noFill/>
          <a:ln/>
        </p:spPr>
        <p:txBody>
          <a:bodyPr wrap="square" lIns="0" tIns="0" rIns="0" bIns="0" rtlCol="0" anchor="ctr"/>
          <a:lstStyle/>
          <a:p>
            <a:pPr indent="0" marL="0">
              <a:buNone/>
            </a:pPr>
            <a:r>
              <a:rPr lang="en-US" sz="1500" b="1" dirty="0">
                <a:solidFill>
                  <a:srgbClr val="111111"/>
                </a:solidFill>
                <a:latin typeface="Arial" pitchFamily="34" charset="0"/>
                <a:ea typeface="Arial" pitchFamily="34" charset="-122"/>
                <a:cs typeface="Arial" pitchFamily="34" charset="-120"/>
              </a:rPr>
              <a:t>True: </a:t>
            </a:r>
            <a:pPr indent="0" marL="0">
              <a:buNone/>
            </a:pPr>
            <a:r>
              <a:rPr lang="en-US" sz="1500" dirty="0">
                <a:solidFill>
                  <a:srgbClr val="111111"/>
                </a:solidFill>
                <a:latin typeface="Arial" pitchFamily="34" charset="0"/>
                <a:ea typeface="Arial" pitchFamily="34" charset="-122"/>
                <a:cs typeface="Arial" pitchFamily="34" charset="-120"/>
              </a:rPr>
              <a:t>Pedestrian Crossing</a:t>
            </a:r>
            <a:endParaRPr lang="en-US" sz="1500" dirty="0"/>
          </a:p>
          <a:p>
            <a:pPr indent="0" marL="0">
              <a:buNone/>
            </a:pPr>
            <a:r>
              <a:rPr lang="en-US" sz="1500" b="1" dirty="0">
                <a:solidFill>
                  <a:srgbClr val="111111"/>
                </a:solidFill>
                <a:latin typeface="Arial" pitchFamily="34" charset="0"/>
                <a:ea typeface="Arial" pitchFamily="34" charset="-122"/>
                <a:cs typeface="Arial" pitchFamily="34" charset="-120"/>
              </a:rPr>
              <a:t>Predicted: </a:t>
            </a:r>
            <a:pPr indent="0" marL="0">
              <a:buNone/>
            </a:pPr>
            <a:r>
              <a:rPr lang="en-US" sz="1500" dirty="0">
                <a:solidFill>
                  <a:srgbClr val="111111"/>
                </a:solidFill>
                <a:latin typeface="Arial" pitchFamily="34" charset="0"/>
                <a:ea typeface="Arial" pitchFamily="34" charset="-122"/>
                <a:cs typeface="Arial" pitchFamily="34" charset="-120"/>
              </a:rPr>
              <a:t>Children Crossing</a:t>
            </a:r>
            <a:endParaRPr lang="en-US" sz="1500" dirty="0"/>
          </a:p>
          <a:p>
            <a:pPr indent="0" marL="0">
              <a:buNone/>
            </a:pPr>
            <a:r>
              <a:rPr lang="en-US" sz="1500" dirty="0">
                <a:solidFill>
                  <a:srgbClr val="4A4A4A"/>
                </a:solidFill>
                <a:latin typeface="Arial" pitchFamily="34" charset="0"/>
                <a:ea typeface="Arial" pitchFamily="34" charset="-122"/>
                <a:cs typeface="Arial" pitchFamily="34" charset="-120"/>
              </a:rPr>
              <a:t>confidence 96%</a:t>
            </a:r>
            <a:endParaRPr lang="en-US" sz="1500" dirty="0"/>
          </a:p>
        </p:txBody>
      </p:sp>
      <p:sp>
        <p:nvSpPr>
          <p:cNvPr id="15" name="Text 10"/>
          <p:cNvSpPr txBox="1"/>
          <p:nvPr/>
        </p:nvSpPr>
        <p:spPr>
          <a:xfrm>
            <a:off x="8211312" y="3227832"/>
            <a:ext cx="3383280" cy="347472"/>
          </a:xfrm>
          <a:prstGeom prst="rect">
            <a:avLst/>
          </a:prstGeom>
          <a:noFill/>
          <a:ln/>
        </p:spPr>
        <p:txBody>
          <a:bodyPr wrap="square" lIns="508" tIns="508" rIns="508" bIns="508" rtlCol="0" anchor="t"/>
          <a:lstStyle/>
          <a:p>
            <a:pPr indent="0" marL="0">
              <a:buNone/>
            </a:pPr>
            <a:r>
              <a:rPr lang="en-US" sz="1500" b="1" dirty="0">
                <a:solidFill>
                  <a:srgbClr val="6B5BA8"/>
                </a:solidFill>
                <a:latin typeface="Arial" pitchFamily="34" charset="0"/>
                <a:ea typeface="Arial" pitchFamily="34" charset="-122"/>
                <a:cs typeface="Arial" pitchFamily="34" charset="-120"/>
              </a:rPr>
              <a:t>probable annotation error</a:t>
            </a:r>
            <a:endParaRPr lang="en-US" sz="1500" dirty="0"/>
          </a:p>
        </p:txBody>
      </p:sp>
      <p:sp>
        <p:nvSpPr>
          <p:cNvPr id="16" name="Shape 11"/>
          <p:cNvSpPr/>
          <p:nvPr/>
        </p:nvSpPr>
        <p:spPr>
          <a:xfrm>
            <a:off x="457200" y="3749040"/>
            <a:ext cx="3611880" cy="2103120"/>
          </a:xfrm>
          <a:prstGeom prst="roundRect">
            <a:avLst>
              <a:gd name="adj" fmla="val 3478"/>
            </a:avLst>
          </a:prstGeom>
          <a:solidFill>
            <a:srgbClr val="FBE9EA"/>
          </a:solidFill>
          <a:ln w="9525">
            <a:solidFill>
              <a:srgbClr val="FBE9EA"/>
            </a:solidFill>
            <a:prstDash val="solid"/>
          </a:ln>
        </p:spPr>
      </p:sp>
      <p:pic>
        <p:nvPicPr>
          <p:cNvPr id="17" name="Image 3" descr="C:/Users/ASUSG1~1/AppData/Local/Temp/claude/C--Users-ASUS-G-16-JVR-Desktop-deepLearning-CNN/ddb4b7a1-b5ad-4432-b312-271443ec143d/scratchpad/deck_v3/assets/error_4.png">    </p:cNvPr>
          <p:cNvPicPr>
            <a:picLocks noChangeAspect="1"/>
          </p:cNvPicPr>
          <p:nvPr/>
        </p:nvPicPr>
        <p:blipFill>
          <a:blip r:embed="rId4"/>
          <a:stretch>
            <a:fillRect/>
          </a:stretch>
        </p:blipFill>
        <p:spPr>
          <a:xfrm>
            <a:off x="566928" y="3840480"/>
            <a:ext cx="1572768" cy="1572768"/>
          </a:xfrm>
          <a:prstGeom prst="rect">
            <a:avLst/>
          </a:prstGeom>
        </p:spPr>
      </p:pic>
      <p:sp>
        <p:nvSpPr>
          <p:cNvPr id="18" name="Text 12"/>
          <p:cNvSpPr txBox="1"/>
          <p:nvPr/>
        </p:nvSpPr>
        <p:spPr>
          <a:xfrm>
            <a:off x="2240280" y="3840480"/>
            <a:ext cx="1783080" cy="1572768"/>
          </a:xfrm>
          <a:prstGeom prst="rect">
            <a:avLst/>
          </a:prstGeom>
          <a:noFill/>
          <a:ln/>
        </p:spPr>
        <p:txBody>
          <a:bodyPr wrap="square" lIns="0" tIns="0" rIns="0" bIns="0" rtlCol="0" anchor="ctr"/>
          <a:lstStyle/>
          <a:p>
            <a:pPr indent="0" marL="0">
              <a:buNone/>
            </a:pPr>
            <a:r>
              <a:rPr lang="en-US" sz="1500" b="1" dirty="0">
                <a:solidFill>
                  <a:srgbClr val="111111"/>
                </a:solidFill>
                <a:latin typeface="Arial" pitchFamily="34" charset="0"/>
                <a:ea typeface="Arial" pitchFamily="34" charset="-122"/>
                <a:cs typeface="Arial" pitchFamily="34" charset="-120"/>
              </a:rPr>
              <a:t>True: </a:t>
            </a:r>
            <a:pPr indent="0" marL="0">
              <a:buNone/>
            </a:pPr>
            <a:r>
              <a:rPr lang="en-US" sz="1500" dirty="0">
                <a:solidFill>
                  <a:srgbClr val="111111"/>
                </a:solidFill>
                <a:latin typeface="Arial" pitchFamily="34" charset="0"/>
                <a:ea typeface="Arial" pitchFamily="34" charset="-122"/>
                <a:cs typeface="Arial" pitchFamily="34" charset="-120"/>
              </a:rPr>
              <a:t>Priority Road</a:t>
            </a:r>
            <a:endParaRPr lang="en-US" sz="1500" dirty="0"/>
          </a:p>
          <a:p>
            <a:pPr indent="0" marL="0">
              <a:buNone/>
            </a:pPr>
            <a:r>
              <a:rPr lang="en-US" sz="1500" b="1" dirty="0">
                <a:solidFill>
                  <a:srgbClr val="111111"/>
                </a:solidFill>
                <a:latin typeface="Arial" pitchFamily="34" charset="0"/>
                <a:ea typeface="Arial" pitchFamily="34" charset="-122"/>
                <a:cs typeface="Arial" pitchFamily="34" charset="-120"/>
              </a:rPr>
              <a:t>Predicted: </a:t>
            </a:r>
            <a:pPr indent="0" marL="0">
              <a:buNone/>
            </a:pPr>
            <a:r>
              <a:rPr lang="en-US" sz="1500" dirty="0">
                <a:solidFill>
                  <a:srgbClr val="111111"/>
                </a:solidFill>
                <a:latin typeface="Arial" pitchFamily="34" charset="0"/>
                <a:ea typeface="Arial" pitchFamily="34" charset="-122"/>
                <a:cs typeface="Arial" pitchFamily="34" charset="-120"/>
              </a:rPr>
              <a:t>Cross Road</a:t>
            </a:r>
            <a:endParaRPr lang="en-US" sz="1500" dirty="0"/>
          </a:p>
          <a:p>
            <a:pPr indent="0" marL="0">
              <a:buNone/>
            </a:pPr>
            <a:r>
              <a:rPr lang="en-US" sz="1500" dirty="0">
                <a:solidFill>
                  <a:srgbClr val="4A4A4A"/>
                </a:solidFill>
                <a:latin typeface="Arial" pitchFamily="34" charset="0"/>
                <a:ea typeface="Arial" pitchFamily="34" charset="-122"/>
                <a:cs typeface="Arial" pitchFamily="34" charset="-120"/>
              </a:rPr>
              <a:t>confidence 84%</a:t>
            </a:r>
            <a:endParaRPr lang="en-US" sz="1500" dirty="0"/>
          </a:p>
        </p:txBody>
      </p:sp>
      <p:sp>
        <p:nvSpPr>
          <p:cNvPr id="19" name="Text 13"/>
          <p:cNvSpPr txBox="1"/>
          <p:nvPr/>
        </p:nvSpPr>
        <p:spPr>
          <a:xfrm>
            <a:off x="566928" y="5468112"/>
            <a:ext cx="3383280" cy="347472"/>
          </a:xfrm>
          <a:prstGeom prst="rect">
            <a:avLst/>
          </a:prstGeom>
          <a:noFill/>
          <a:ln/>
        </p:spPr>
        <p:txBody>
          <a:bodyPr wrap="square" lIns="508" tIns="508" rIns="508" bIns="508" rtlCol="0" anchor="t"/>
          <a:lstStyle/>
          <a:p>
            <a:pPr indent="0" marL="0">
              <a:buNone/>
            </a:pPr>
            <a:r>
              <a:rPr lang="en-US" sz="1500" b="1" dirty="0">
                <a:solidFill>
                  <a:srgbClr val="C44E52"/>
                </a:solidFill>
                <a:latin typeface="Arial" pitchFamily="34" charset="0"/>
                <a:ea typeface="Arial" pitchFamily="34" charset="-122"/>
                <a:cs typeface="Arial" pitchFamily="34" charset="-120"/>
              </a:rPr>
              <a:t>model error</a:t>
            </a:r>
            <a:endParaRPr lang="en-US" sz="1500" dirty="0"/>
          </a:p>
        </p:txBody>
      </p:sp>
      <p:sp>
        <p:nvSpPr>
          <p:cNvPr id="20" name="Shape 14"/>
          <p:cNvSpPr/>
          <p:nvPr/>
        </p:nvSpPr>
        <p:spPr>
          <a:xfrm>
            <a:off x="4279392" y="3749040"/>
            <a:ext cx="3611880" cy="2103120"/>
          </a:xfrm>
          <a:prstGeom prst="roundRect">
            <a:avLst>
              <a:gd name="adj" fmla="val 3478"/>
            </a:avLst>
          </a:prstGeom>
          <a:solidFill>
            <a:srgbClr val="FBE9EA"/>
          </a:solidFill>
          <a:ln w="9525">
            <a:solidFill>
              <a:srgbClr val="FBE9EA"/>
            </a:solidFill>
            <a:prstDash val="solid"/>
          </a:ln>
        </p:spPr>
      </p:sp>
      <p:pic>
        <p:nvPicPr>
          <p:cNvPr id="21" name="Image 4" descr="C:/Users/ASUSG1~1/AppData/Local/Temp/claude/C--Users-ASUS-G-16-JVR-Desktop-deepLearning-CNN/ddb4b7a1-b5ad-4432-b312-271443ec143d/scratchpad/deck_v3/assets/error_5.png">    </p:cNvPr>
          <p:cNvPicPr>
            <a:picLocks noChangeAspect="1"/>
          </p:cNvPicPr>
          <p:nvPr/>
        </p:nvPicPr>
        <p:blipFill>
          <a:blip r:embed="rId5"/>
          <a:stretch>
            <a:fillRect/>
          </a:stretch>
        </p:blipFill>
        <p:spPr>
          <a:xfrm>
            <a:off x="4389120" y="3840480"/>
            <a:ext cx="1572768" cy="1572768"/>
          </a:xfrm>
          <a:prstGeom prst="rect">
            <a:avLst/>
          </a:prstGeom>
        </p:spPr>
      </p:pic>
      <p:sp>
        <p:nvSpPr>
          <p:cNvPr id="22" name="Text 15"/>
          <p:cNvSpPr txBox="1"/>
          <p:nvPr/>
        </p:nvSpPr>
        <p:spPr>
          <a:xfrm>
            <a:off x="6062472" y="3840480"/>
            <a:ext cx="1783080" cy="1572768"/>
          </a:xfrm>
          <a:prstGeom prst="rect">
            <a:avLst/>
          </a:prstGeom>
          <a:noFill/>
          <a:ln/>
        </p:spPr>
        <p:txBody>
          <a:bodyPr wrap="square" lIns="0" tIns="0" rIns="0" bIns="0" rtlCol="0" anchor="ctr"/>
          <a:lstStyle/>
          <a:p>
            <a:pPr indent="0" marL="0">
              <a:buNone/>
            </a:pPr>
            <a:r>
              <a:rPr lang="en-US" sz="1500" b="1" dirty="0">
                <a:solidFill>
                  <a:srgbClr val="111111"/>
                </a:solidFill>
                <a:latin typeface="Arial" pitchFamily="34" charset="0"/>
                <a:ea typeface="Arial" pitchFamily="34" charset="-122"/>
                <a:cs typeface="Arial" pitchFamily="34" charset="-120"/>
              </a:rPr>
              <a:t>True: </a:t>
            </a:r>
            <a:pPr indent="0" marL="0">
              <a:buNone/>
            </a:pPr>
            <a:r>
              <a:rPr lang="en-US" sz="1500" dirty="0">
                <a:solidFill>
                  <a:srgbClr val="111111"/>
                </a:solidFill>
                <a:latin typeface="Arial" pitchFamily="34" charset="0"/>
                <a:ea typeface="Arial" pitchFamily="34" charset="-122"/>
                <a:cs typeface="Arial" pitchFamily="34" charset="-120"/>
              </a:rPr>
              <a:t>No Entry</a:t>
            </a:r>
            <a:endParaRPr lang="en-US" sz="1500" dirty="0"/>
          </a:p>
          <a:p>
            <a:pPr indent="0" marL="0">
              <a:buNone/>
            </a:pPr>
            <a:r>
              <a:rPr lang="en-US" sz="1500" b="1" dirty="0">
                <a:solidFill>
                  <a:srgbClr val="111111"/>
                </a:solidFill>
                <a:latin typeface="Arial" pitchFamily="34" charset="0"/>
                <a:ea typeface="Arial" pitchFamily="34" charset="-122"/>
                <a:cs typeface="Arial" pitchFamily="34" charset="-120"/>
              </a:rPr>
              <a:t>Predicted: </a:t>
            </a:r>
            <a:pPr indent="0" marL="0">
              <a:buNone/>
            </a:pPr>
            <a:r>
              <a:rPr lang="en-US" sz="1500" dirty="0">
                <a:solidFill>
                  <a:srgbClr val="111111"/>
                </a:solidFill>
                <a:latin typeface="Arial" pitchFamily="34" charset="0"/>
                <a:ea typeface="Arial" pitchFamily="34" charset="-122"/>
                <a:cs typeface="Arial" pitchFamily="34" charset="-120"/>
              </a:rPr>
              <a:t>Slow Down</a:t>
            </a:r>
            <a:endParaRPr lang="en-US" sz="1500" dirty="0"/>
          </a:p>
          <a:p>
            <a:pPr indent="0" marL="0">
              <a:buNone/>
            </a:pPr>
            <a:r>
              <a:rPr lang="en-US" sz="1500" dirty="0">
                <a:solidFill>
                  <a:srgbClr val="4A4A4A"/>
                </a:solidFill>
                <a:latin typeface="Arial" pitchFamily="34" charset="0"/>
                <a:ea typeface="Arial" pitchFamily="34" charset="-122"/>
                <a:cs typeface="Arial" pitchFamily="34" charset="-120"/>
              </a:rPr>
              <a:t>confidence 32%</a:t>
            </a:r>
            <a:endParaRPr lang="en-US" sz="1500" dirty="0"/>
          </a:p>
        </p:txBody>
      </p:sp>
      <p:sp>
        <p:nvSpPr>
          <p:cNvPr id="23" name="Text 16"/>
          <p:cNvSpPr txBox="1"/>
          <p:nvPr/>
        </p:nvSpPr>
        <p:spPr>
          <a:xfrm>
            <a:off x="4389120" y="5468112"/>
            <a:ext cx="3383280" cy="347472"/>
          </a:xfrm>
          <a:prstGeom prst="rect">
            <a:avLst/>
          </a:prstGeom>
          <a:noFill/>
          <a:ln/>
        </p:spPr>
        <p:txBody>
          <a:bodyPr wrap="square" lIns="508" tIns="508" rIns="508" bIns="508" rtlCol="0" anchor="t"/>
          <a:lstStyle/>
          <a:p>
            <a:pPr indent="0" marL="0">
              <a:buNone/>
            </a:pPr>
            <a:r>
              <a:rPr lang="en-US" sz="1500" b="1" dirty="0">
                <a:solidFill>
                  <a:srgbClr val="C44E52"/>
                </a:solidFill>
                <a:latin typeface="Arial" pitchFamily="34" charset="0"/>
                <a:ea typeface="Arial" pitchFamily="34" charset="-122"/>
                <a:cs typeface="Arial" pitchFamily="34" charset="-120"/>
              </a:rPr>
              <a:t>model error</a:t>
            </a:r>
            <a:endParaRPr lang="en-US" sz="1500" dirty="0"/>
          </a:p>
        </p:txBody>
      </p:sp>
      <p:sp>
        <p:nvSpPr>
          <p:cNvPr id="24" name="Shape 17"/>
          <p:cNvSpPr/>
          <p:nvPr/>
        </p:nvSpPr>
        <p:spPr>
          <a:xfrm>
            <a:off x="8101584" y="3749040"/>
            <a:ext cx="3611880" cy="2103120"/>
          </a:xfrm>
          <a:prstGeom prst="roundRect">
            <a:avLst>
              <a:gd name="adj" fmla="val 3478"/>
            </a:avLst>
          </a:prstGeom>
          <a:solidFill>
            <a:srgbClr val="FBE9EA"/>
          </a:solidFill>
          <a:ln w="9525">
            <a:solidFill>
              <a:srgbClr val="FBE9EA"/>
            </a:solidFill>
            <a:prstDash val="solid"/>
          </a:ln>
        </p:spPr>
      </p:sp>
      <p:pic>
        <p:nvPicPr>
          <p:cNvPr id="25" name="Image 5" descr="C:/Users/ASUSG1~1/AppData/Local/Temp/claude/C--Users-ASUS-G-16-JVR-Desktop-deepLearning-CNN/ddb4b7a1-b5ad-4432-b312-271443ec143d/scratchpad/deck_v3/assets/error_6.png">    </p:cNvPr>
          <p:cNvPicPr>
            <a:picLocks noChangeAspect="1"/>
          </p:cNvPicPr>
          <p:nvPr/>
        </p:nvPicPr>
        <p:blipFill>
          <a:blip r:embed="rId6"/>
          <a:stretch>
            <a:fillRect/>
          </a:stretch>
        </p:blipFill>
        <p:spPr>
          <a:xfrm>
            <a:off x="8211312" y="3840480"/>
            <a:ext cx="1572768" cy="1572768"/>
          </a:xfrm>
          <a:prstGeom prst="rect">
            <a:avLst/>
          </a:prstGeom>
        </p:spPr>
      </p:pic>
      <p:sp>
        <p:nvSpPr>
          <p:cNvPr id="26" name="Text 18"/>
          <p:cNvSpPr txBox="1"/>
          <p:nvPr/>
        </p:nvSpPr>
        <p:spPr>
          <a:xfrm>
            <a:off x="9884664" y="3840480"/>
            <a:ext cx="1783080" cy="1572768"/>
          </a:xfrm>
          <a:prstGeom prst="rect">
            <a:avLst/>
          </a:prstGeom>
          <a:noFill/>
          <a:ln/>
        </p:spPr>
        <p:txBody>
          <a:bodyPr wrap="square" lIns="0" tIns="0" rIns="0" bIns="0" rtlCol="0" anchor="ctr"/>
          <a:lstStyle/>
          <a:p>
            <a:pPr indent="0" marL="0">
              <a:buNone/>
            </a:pPr>
            <a:r>
              <a:rPr lang="en-US" sz="1500" b="1" dirty="0">
                <a:solidFill>
                  <a:srgbClr val="111111"/>
                </a:solidFill>
                <a:latin typeface="Arial" pitchFamily="34" charset="0"/>
                <a:ea typeface="Arial" pitchFamily="34" charset="-122"/>
                <a:cs typeface="Arial" pitchFamily="34" charset="-120"/>
              </a:rPr>
              <a:t>True: </a:t>
            </a:r>
            <a:pPr indent="0" marL="0">
              <a:buNone/>
            </a:pPr>
            <a:r>
              <a:rPr lang="en-US" sz="1500" dirty="0">
                <a:solidFill>
                  <a:srgbClr val="111111"/>
                </a:solidFill>
                <a:latin typeface="Arial" pitchFamily="34" charset="0"/>
                <a:ea typeface="Arial" pitchFamily="34" charset="-122"/>
                <a:cs typeface="Arial" pitchFamily="34" charset="-120"/>
              </a:rPr>
              <a:t>Priority Road</a:t>
            </a:r>
            <a:endParaRPr lang="en-US" sz="1500" dirty="0"/>
          </a:p>
          <a:p>
            <a:pPr indent="0" marL="0">
              <a:buNone/>
            </a:pPr>
            <a:r>
              <a:rPr lang="en-US" sz="1500" b="1" dirty="0">
                <a:solidFill>
                  <a:srgbClr val="111111"/>
                </a:solidFill>
                <a:latin typeface="Arial" pitchFamily="34" charset="0"/>
                <a:ea typeface="Arial" pitchFamily="34" charset="-122"/>
                <a:cs typeface="Arial" pitchFamily="34" charset="-120"/>
              </a:rPr>
              <a:t>Predicted: </a:t>
            </a:r>
            <a:pPr indent="0" marL="0">
              <a:buNone/>
            </a:pPr>
            <a:r>
              <a:rPr lang="en-US" sz="1500" dirty="0">
                <a:solidFill>
                  <a:srgbClr val="111111"/>
                </a:solidFill>
                <a:latin typeface="Arial" pitchFamily="34" charset="0"/>
                <a:ea typeface="Arial" pitchFamily="34" charset="-122"/>
                <a:cs typeface="Arial" pitchFamily="34" charset="-120"/>
              </a:rPr>
              <a:t>KM Post</a:t>
            </a:r>
            <a:endParaRPr lang="en-US" sz="1500" dirty="0"/>
          </a:p>
          <a:p>
            <a:pPr indent="0" marL="0">
              <a:buNone/>
            </a:pPr>
            <a:r>
              <a:rPr lang="en-US" sz="1500" dirty="0">
                <a:solidFill>
                  <a:srgbClr val="4A4A4A"/>
                </a:solidFill>
                <a:latin typeface="Arial" pitchFamily="34" charset="0"/>
                <a:ea typeface="Arial" pitchFamily="34" charset="-122"/>
                <a:cs typeface="Arial" pitchFamily="34" charset="-120"/>
              </a:rPr>
              <a:t>confidence 25%</a:t>
            </a:r>
            <a:endParaRPr lang="en-US" sz="1500" dirty="0"/>
          </a:p>
        </p:txBody>
      </p:sp>
      <p:sp>
        <p:nvSpPr>
          <p:cNvPr id="27" name="Text 19"/>
          <p:cNvSpPr txBox="1"/>
          <p:nvPr/>
        </p:nvSpPr>
        <p:spPr>
          <a:xfrm>
            <a:off x="8211312" y="5468112"/>
            <a:ext cx="3383280" cy="347472"/>
          </a:xfrm>
          <a:prstGeom prst="rect">
            <a:avLst/>
          </a:prstGeom>
          <a:noFill/>
          <a:ln/>
        </p:spPr>
        <p:txBody>
          <a:bodyPr wrap="square" lIns="508" tIns="508" rIns="508" bIns="508" rtlCol="0" anchor="t"/>
          <a:lstStyle/>
          <a:p>
            <a:pPr indent="0" marL="0">
              <a:buNone/>
            </a:pPr>
            <a:r>
              <a:rPr lang="en-US" sz="1500" b="1" dirty="0">
                <a:solidFill>
                  <a:srgbClr val="C44E52"/>
                </a:solidFill>
                <a:latin typeface="Arial" pitchFamily="34" charset="0"/>
                <a:ea typeface="Arial" pitchFamily="34" charset="-122"/>
                <a:cs typeface="Arial" pitchFamily="34" charset="-120"/>
              </a:rPr>
              <a:t>model error</a:t>
            </a:r>
            <a:endParaRPr lang="en-US" sz="1500" dirty="0"/>
          </a:p>
        </p:txBody>
      </p:sp>
      <p:sp>
        <p:nvSpPr>
          <p:cNvPr id="28" name="Text 20"/>
          <p:cNvSpPr txBox="1"/>
          <p:nvPr/>
        </p:nvSpPr>
        <p:spPr>
          <a:xfrm>
            <a:off x="457200" y="5989320"/>
            <a:ext cx="11274552" cy="384048"/>
          </a:xfrm>
          <a:prstGeom prst="rect">
            <a:avLst/>
          </a:prstGeom>
          <a:noFill/>
          <a:ln/>
        </p:spPr>
        <p:txBody>
          <a:bodyPr wrap="square" lIns="508" tIns="508" rIns="508" bIns="508" rtlCol="0" anchor="t"/>
          <a:lstStyle/>
          <a:p>
            <a:pPr indent="0" marL="0">
              <a:buNone/>
            </a:pPr>
            <a:r>
              <a:rPr lang="en-US" sz="1400" dirty="0">
                <a:solidFill>
                  <a:srgbClr val="4A4A4A"/>
                </a:solidFill>
                <a:latin typeface="Arial" pitchFamily="34" charset="0"/>
                <a:ea typeface="Arial" pitchFamily="34" charset="-122"/>
                <a:cs typeface="Arial" pitchFamily="34" charset="-120"/>
              </a:rPr>
              <a:t>Purple: the model predicted the sign that is actually visible; the dataset label looks wrong. Metrics are not adjusted.</a:t>
            </a:r>
            <a:endParaRPr lang="en-US" sz="1400" dirty="0"/>
          </a:p>
        </p:txBody>
      </p:sp>
      <p:sp>
        <p:nvSpPr>
          <p:cNvPr id="25" name="Slide Number Placeholder 0"/>
          <p:cNvSpPr>
            <a:spLocks noGrp="1"/>
          </p:cNvSpPr>
          <p:nvPr>
            <p:ph type="sldNum" sz="quarter" idx="4294967295"/>
          </p:nvPr>
        </p:nvSpPr>
        <p:spPr>
          <a:xfrm>
            <a:off x="5733288" y="65562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4"/>
          <p:cNvSpPr/>
          <p:nvPr>
            <p:ph idx="105" type="title" hasCustomPrompt="1"/>
          </p:nvPr>
        </p:nvSpPr>
        <p:spPr>
          <a:xfrm>
            <a:off x="1463040" y="155448"/>
            <a:ext cx="9262872" cy="621792"/>
          </a:xfrm>
          <a:prstGeom prst="rect">
            <a:avLst/>
          </a:prstGeom>
          <a:noFill/>
          <a:ln/>
        </p:spPr>
        <p:txBody>
          <a:bodyPr wrap="square" lIns="0" tIns="0" rIns="0" bIns="0" rtlCol="0" anchor="ctr"/>
          <a:lstStyle/>
          <a:p>
            <a:pPr algn="ctr" indent="0" marL="0">
              <a:buNone/>
            </a:pPr>
            <a:r>
              <a:rPr lang="en-US" sz="3000" b="1" dirty="0">
                <a:solidFill>
                  <a:srgbClr val="0B5A3C"/>
                </a:solidFill>
                <a:latin typeface="Arial" pitchFamily="34" charset="0"/>
                <a:ea typeface="Arial" pitchFamily="34" charset="-122"/>
                <a:cs typeface="Arial" pitchFamily="34" charset="-120"/>
              </a:rPr>
              <a:t>YOLOv8 + ResNet-18 on Full Street Photos</a:t>
            </a:r>
            <a:endParaRPr lang="en-US" sz="3000" dirty="0"/>
          </a:p>
        </p:txBody>
      </p:sp>
      <p:sp>
        <p:nvSpPr>
          <p:cNvPr id="3" name="Text 1"/>
          <p:cNvSpPr txBox="1"/>
          <p:nvPr/>
        </p:nvSpPr>
        <p:spPr>
          <a:xfrm>
            <a:off x="457200" y="1005840"/>
            <a:ext cx="11274552" cy="365760"/>
          </a:xfrm>
          <a:prstGeom prst="rect">
            <a:avLst/>
          </a:prstGeom>
          <a:noFill/>
          <a:ln/>
        </p:spPr>
        <p:txBody>
          <a:bodyPr wrap="square" lIns="0" tIns="0" rIns="0" bIns="0" rtlCol="0" anchor="t"/>
          <a:lstStyle/>
          <a:p>
            <a:pPr indent="0" marL="0">
              <a:buNone/>
            </a:pPr>
            <a:r>
              <a:rPr lang="en-US" sz="1700" dirty="0">
                <a:solidFill>
                  <a:srgbClr val="4A4A4A"/>
                </a:solidFill>
                <a:latin typeface="Arial" pitchFamily="34" charset="0"/>
                <a:ea typeface="Arial" pitchFamily="34" charset="-122"/>
                <a:cs typeface="Arial" pitchFamily="34" charset="-120"/>
              </a:rPr>
              <a:t>Detection results: a separate task from the classifier accuracy above</a:t>
            </a:r>
            <a:endParaRPr lang="en-US" sz="1700" dirty="0"/>
          </a:p>
        </p:txBody>
      </p:sp>
      <p:pic>
        <p:nvPicPr>
          <p:cNvPr id="4" name="Image 0" descr="C:/Users/ASUSG1~1/AppData/Local/Temp/claude/C--Users-ASUS-G-16-JVR-Desktop-deepLearning-CNN/ddb4b7a1-b5ad-4432-b312-271443ec143d/scratchpad/deck_v3/assets/pipeline_photo.jpg">    </p:cNvPr>
          <p:cNvPicPr>
            <a:picLocks noChangeAspect="1"/>
          </p:cNvPicPr>
          <p:nvPr/>
        </p:nvPicPr>
        <p:blipFill>
          <a:blip r:embed="rId1"/>
          <a:stretch>
            <a:fillRect/>
          </a:stretch>
        </p:blipFill>
        <p:spPr>
          <a:xfrm>
            <a:off x="457200" y="1894523"/>
            <a:ext cx="5943600" cy="3343275"/>
          </a:xfrm>
          <a:prstGeom prst="rect">
            <a:avLst/>
          </a:prstGeom>
        </p:spPr>
      </p:pic>
      <p:sp>
        <p:nvSpPr>
          <p:cNvPr id="5" name="Text 2"/>
          <p:cNvSpPr txBox="1"/>
          <p:nvPr/>
        </p:nvSpPr>
        <p:spPr>
          <a:xfrm>
            <a:off x="457200" y="5394960"/>
            <a:ext cx="5943600" cy="685800"/>
          </a:xfrm>
          <a:prstGeom prst="rect">
            <a:avLst/>
          </a:prstGeom>
          <a:noFill/>
          <a:ln/>
        </p:spPr>
        <p:txBody>
          <a:bodyPr wrap="square" lIns="508" tIns="508" rIns="508" bIns="508" rtlCol="0" anchor="t"/>
          <a:lstStyle/>
          <a:p>
            <a:pPr indent="0" marL="0">
              <a:buNone/>
            </a:pPr>
            <a:r>
              <a:rPr lang="en-US" sz="1500" dirty="0">
                <a:solidFill>
                  <a:srgbClr val="4A4A4A"/>
                </a:solidFill>
                <a:latin typeface="Arial" pitchFamily="34" charset="0"/>
                <a:ea typeface="Arial" pitchFamily="34" charset="-122"/>
                <a:cs typeface="Arial" pitchFamily="34" charset="-120"/>
              </a:rPr>
              <a:t>Real test photo: 1 No U-Turn 100% · 2 Keep Right 99.8% · 3 No Horn 100% · 4 Hospital 99.2% (all correct)</a:t>
            </a:r>
            <a:endParaRPr lang="en-US" sz="15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629400" y="1554480"/>
          <a:ext cx="5102352" cy="914400"/>
        </p:xfrm>
        <a:graphic>
          <a:graphicData uri="http://schemas.openxmlformats.org/drawingml/2006/table">
            <a:tbl>
              <a:tblPr/>
              <a:tblGrid>
                <a:gridCol w="3017520"/>
                <a:gridCol w="2084832"/>
              </a:tblGrid>
              <a:tr h="493776">
                <a:tc>
                  <a:txBody>
                    <a:bodyPr/>
                    <a:lstStyle/>
                    <a:p>
                      <a:pPr algn="ctr" indent="0" marL="0">
                        <a:buNone/>
                      </a:pPr>
                      <a:r>
                        <a:rPr lang="en-US" sz="1800" b="1" dirty="0">
                          <a:solidFill>
                            <a:srgbClr val="FFFFFF"/>
                          </a:solidFill>
                          <a:latin typeface="Arial" pitchFamily="34" charset="0"/>
                          <a:ea typeface="Arial" pitchFamily="34" charset="-122"/>
                          <a:cs typeface="Arial" pitchFamily="34" charset="-120"/>
                        </a:rPr>
                        <a:t>YOLOv8 detector</a:t>
                      </a:r>
                      <a:endParaRPr lang="en-US" sz="18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c>
                  <a:txBody>
                    <a:bodyPr/>
                    <a:lstStyle/>
                    <a:p>
                      <a:pPr algn="ctr" indent="0" marL="0">
                        <a:buNone/>
                      </a:pPr>
                      <a:r>
                        <a:rPr lang="en-US" sz="1800" b="1" dirty="0">
                          <a:solidFill>
                            <a:srgbClr val="FFFFFF"/>
                          </a:solidFill>
                          <a:latin typeface="Arial" pitchFamily="34" charset="0"/>
                          <a:ea typeface="Arial" pitchFamily="34" charset="-122"/>
                          <a:cs typeface="Arial" pitchFamily="34" charset="-120"/>
                        </a:rPr>
                        <a:t>379 test photos</a:t>
                      </a:r>
                      <a:endParaRPr lang="en-US" sz="18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r>
              <a:tr h="493776">
                <a:tc>
                  <a:txBody>
                    <a:bodyPr/>
                    <a:lstStyle/>
                    <a:p>
                      <a:pPr algn="ctr" indent="0" marL="0">
                        <a:buNone/>
                      </a:pPr>
                      <a:r>
                        <a:rPr lang="en-US" sz="1800" b="1" dirty="0">
                          <a:solidFill>
                            <a:srgbClr val="111111"/>
                          </a:solidFill>
                          <a:latin typeface="Arial" pitchFamily="34" charset="0"/>
                          <a:ea typeface="Arial" pitchFamily="34" charset="-122"/>
                          <a:cs typeface="Arial" pitchFamily="34" charset="-120"/>
                        </a:rPr>
                        <a:t>Precision</a:t>
                      </a:r>
                      <a:endParaRPr lang="en-US" sz="18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800" dirty="0">
                          <a:solidFill>
                            <a:srgbClr val="111111"/>
                          </a:solidFill>
                          <a:latin typeface="Arial" pitchFamily="34" charset="0"/>
                          <a:ea typeface="Arial" pitchFamily="34" charset="-122"/>
                          <a:cs typeface="Arial" pitchFamily="34" charset="-120"/>
                        </a:rPr>
                        <a:t>95.6%</a:t>
                      </a:r>
                      <a:endParaRPr lang="en-US" sz="18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r h="493776">
                <a:tc>
                  <a:txBody>
                    <a:bodyPr/>
                    <a:lstStyle/>
                    <a:p>
                      <a:pPr algn="ctr" indent="0" marL="0">
                        <a:buNone/>
                      </a:pPr>
                      <a:r>
                        <a:rPr lang="en-US" sz="1800" b="1" dirty="0">
                          <a:solidFill>
                            <a:srgbClr val="111111"/>
                          </a:solidFill>
                          <a:latin typeface="Arial" pitchFamily="34" charset="0"/>
                          <a:ea typeface="Arial" pitchFamily="34" charset="-122"/>
                          <a:cs typeface="Arial" pitchFamily="34" charset="-120"/>
                        </a:rPr>
                        <a:t>Recall</a:t>
                      </a:r>
                      <a:endParaRPr lang="en-US" sz="18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800" dirty="0">
                          <a:solidFill>
                            <a:srgbClr val="111111"/>
                          </a:solidFill>
                          <a:latin typeface="Arial" pitchFamily="34" charset="0"/>
                          <a:ea typeface="Arial" pitchFamily="34" charset="-122"/>
                          <a:cs typeface="Arial" pitchFamily="34" charset="-120"/>
                        </a:rPr>
                        <a:t>96.3%</a:t>
                      </a:r>
                      <a:endParaRPr lang="en-US" sz="18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r h="493776">
                <a:tc>
                  <a:txBody>
                    <a:bodyPr/>
                    <a:lstStyle/>
                    <a:p>
                      <a:pPr algn="ctr" indent="0" marL="0">
                        <a:buNone/>
                      </a:pPr>
                      <a:r>
                        <a:rPr lang="en-US" sz="1800" b="1" dirty="0">
                          <a:solidFill>
                            <a:srgbClr val="111111"/>
                          </a:solidFill>
                          <a:latin typeface="Arial" pitchFamily="34" charset="0"/>
                          <a:ea typeface="Arial" pitchFamily="34" charset="-122"/>
                          <a:cs typeface="Arial" pitchFamily="34" charset="-120"/>
                        </a:rPr>
                        <a:t>mAP@50</a:t>
                      </a:r>
                      <a:endParaRPr lang="en-US" sz="18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800" dirty="0">
                          <a:solidFill>
                            <a:srgbClr val="111111"/>
                          </a:solidFill>
                          <a:latin typeface="Arial" pitchFamily="34" charset="0"/>
                          <a:ea typeface="Arial" pitchFamily="34" charset="-122"/>
                          <a:cs typeface="Arial" pitchFamily="34" charset="-120"/>
                        </a:rPr>
                        <a:t>97.8%</a:t>
                      </a:r>
                      <a:endParaRPr lang="en-US" sz="18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r h="493776">
                <a:tc>
                  <a:txBody>
                    <a:bodyPr/>
                    <a:lstStyle/>
                    <a:p>
                      <a:pPr algn="ctr" indent="0" marL="0">
                        <a:buNone/>
                      </a:pPr>
                      <a:r>
                        <a:rPr lang="en-US" sz="1800" b="1" dirty="0">
                          <a:solidFill>
                            <a:srgbClr val="111111"/>
                          </a:solidFill>
                          <a:latin typeface="Arial" pitchFamily="34" charset="0"/>
                          <a:ea typeface="Arial" pitchFamily="34" charset="-122"/>
                          <a:cs typeface="Arial" pitchFamily="34" charset="-120"/>
                        </a:rPr>
                        <a:t>mAP@50–95</a:t>
                      </a:r>
                      <a:endParaRPr lang="en-US" sz="18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800" dirty="0">
                          <a:solidFill>
                            <a:srgbClr val="111111"/>
                          </a:solidFill>
                          <a:latin typeface="Arial" pitchFamily="34" charset="0"/>
                          <a:ea typeface="Arial" pitchFamily="34" charset="-122"/>
                          <a:cs typeface="Arial" pitchFamily="34" charset="-120"/>
                        </a:rPr>
                        <a:t>87.3%</a:t>
                      </a:r>
                      <a:endParaRPr lang="en-US" sz="18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bl>
          </a:graphicData>
        </a:graphic>
      </p:graphicFrame>
      <p:graphicFrame>
        <p:nvGraphicFramePr>
          <p:cNvPr id="27" name="Table 1"/>
          <p:cNvGraphicFramePr>
            <a:graphicFrameLocks noGrp="1"/>
          </p:cNvGraphicFramePr>
          <p:nvPr>
            <p:extLst>
              <p:ext uri="{D42A27DB-BD31-4B8C-83A1-F6EECF244321}">
                <p14:modId xmlns:p14="http://schemas.microsoft.com/office/powerpoint/2010/main" val="1579011935"/>
              </p:ext>
            </p:extLst>
          </p:nvPr>
        </p:nvGraphicFramePr>
        <p:xfrm>
          <a:off x="6629400" y="4251960"/>
          <a:ext cx="5102352" cy="914400"/>
        </p:xfrm>
        <a:graphic>
          <a:graphicData uri="http://schemas.openxmlformats.org/drawingml/2006/table">
            <a:tbl>
              <a:tblPr/>
              <a:tblGrid>
                <a:gridCol w="3017520"/>
                <a:gridCol w="2084832"/>
              </a:tblGrid>
              <a:tr h="493776">
                <a:tc>
                  <a:txBody>
                    <a:bodyPr/>
                    <a:lstStyle/>
                    <a:p>
                      <a:pPr algn="ctr" indent="0" marL="0">
                        <a:buNone/>
                      </a:pPr>
                      <a:r>
                        <a:rPr lang="en-US" sz="1800" b="1" dirty="0">
                          <a:solidFill>
                            <a:srgbClr val="FFFFFF"/>
                          </a:solidFill>
                          <a:latin typeface="Arial" pitchFamily="34" charset="0"/>
                          <a:ea typeface="Arial" pitchFamily="34" charset="-122"/>
                          <a:cs typeface="Arial" pitchFamily="34" charset="-120"/>
                        </a:rPr>
                        <a:t>Full pipeline</a:t>
                      </a:r>
                      <a:endParaRPr lang="en-US" sz="18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c>
                  <a:txBody>
                    <a:bodyPr/>
                    <a:lstStyle/>
                    <a:p>
                      <a:pPr algn="ctr" indent="0" marL="0">
                        <a:buNone/>
                      </a:pPr>
                      <a:r>
                        <a:rPr lang="en-US" sz="1800" b="1" dirty="0">
                          <a:solidFill>
                            <a:srgbClr val="FFFFFF"/>
                          </a:solidFill>
                          <a:latin typeface="Arial" pitchFamily="34" charset="0"/>
                          <a:ea typeface="Arial" pitchFamily="34" charset="-122"/>
                          <a:cs typeface="Arial" pitchFamily="34" charset="-120"/>
                        </a:rPr>
                        <a:t>463 test signs</a:t>
                      </a:r>
                      <a:endParaRPr lang="en-US" sz="18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r>
              <a:tr h="493776">
                <a:tc>
                  <a:txBody>
                    <a:bodyPr/>
                    <a:lstStyle/>
                    <a:p>
                      <a:pPr algn="ctr" indent="0" marL="0">
                        <a:buNone/>
                      </a:pPr>
                      <a:r>
                        <a:rPr lang="en-US" sz="1800" b="1" dirty="0">
                          <a:solidFill>
                            <a:srgbClr val="111111"/>
                          </a:solidFill>
                          <a:latin typeface="Arial" pitchFamily="34" charset="0"/>
                          <a:ea typeface="Arial" pitchFamily="34" charset="-122"/>
                          <a:cs typeface="Arial" pitchFamily="34" charset="-120"/>
                        </a:rPr>
                        <a:t>Found by YOLOv8</a:t>
                      </a:r>
                      <a:endParaRPr lang="en-US" sz="18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800" dirty="0">
                          <a:solidFill>
                            <a:srgbClr val="111111"/>
                          </a:solidFill>
                          <a:latin typeface="Arial" pitchFamily="34" charset="0"/>
                          <a:ea typeface="Arial" pitchFamily="34" charset="-122"/>
                          <a:cs typeface="Arial" pitchFamily="34" charset="-120"/>
                        </a:rPr>
                        <a:t>449 (97.0%)</a:t>
                      </a:r>
                      <a:endParaRPr lang="en-US" sz="18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r h="493776">
                <a:tc>
                  <a:txBody>
                    <a:bodyPr/>
                    <a:lstStyle/>
                    <a:p>
                      <a:pPr algn="ctr" indent="0" marL="0">
                        <a:buNone/>
                      </a:pPr>
                      <a:r>
                        <a:rPr lang="en-US" sz="1800" b="1" dirty="0">
                          <a:solidFill>
                            <a:srgbClr val="111111"/>
                          </a:solidFill>
                          <a:latin typeface="Arial" pitchFamily="34" charset="0"/>
                          <a:ea typeface="Arial" pitchFamily="34" charset="-122"/>
                          <a:cs typeface="Arial" pitchFamily="34" charset="-120"/>
                        </a:rPr>
                        <a:t>Found + named correctly</a:t>
                      </a:r>
                      <a:endParaRPr lang="en-US" sz="18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FBEDE5"/>
                    </a:solidFill>
                  </a:tcPr>
                </a:tc>
                <a:tc>
                  <a:txBody>
                    <a:bodyPr/>
                    <a:lstStyle/>
                    <a:p>
                      <a:pPr algn="ctr" indent="0" marL="0">
                        <a:buNone/>
                      </a:pPr>
                      <a:r>
                        <a:rPr lang="en-US" sz="1800" b="1" dirty="0">
                          <a:solidFill>
                            <a:srgbClr val="C75B1E"/>
                          </a:solidFill>
                          <a:latin typeface="Arial" pitchFamily="34" charset="0"/>
                          <a:ea typeface="Arial" pitchFamily="34" charset="-122"/>
                          <a:cs typeface="Arial" pitchFamily="34" charset="-120"/>
                        </a:rPr>
                        <a:t>445 (96.1%)</a:t>
                      </a:r>
                      <a:endParaRPr lang="en-US" sz="18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FBEDE5"/>
                    </a:solidFill>
                  </a:tcPr>
                </a:tc>
              </a:tr>
            </a:tbl>
          </a:graphicData>
        </a:graphic>
      </p:graphicFrame>
      <p:sp>
        <p:nvSpPr>
          <p:cNvPr id="8" name="Text 3"/>
          <p:cNvSpPr txBox="1"/>
          <p:nvPr/>
        </p:nvSpPr>
        <p:spPr>
          <a:xfrm>
            <a:off x="6629400" y="5806440"/>
            <a:ext cx="5102352" cy="548640"/>
          </a:xfrm>
          <a:prstGeom prst="rect">
            <a:avLst/>
          </a:prstGeom>
          <a:noFill/>
          <a:ln/>
        </p:spPr>
        <p:txBody>
          <a:bodyPr wrap="square" lIns="508" tIns="508" rIns="508" bIns="508" rtlCol="0" anchor="t"/>
          <a:lstStyle/>
          <a:p>
            <a:pPr indent="0" marL="0">
              <a:buNone/>
            </a:pPr>
            <a:r>
              <a:rPr lang="en-US" sz="1400" dirty="0">
                <a:solidFill>
                  <a:srgbClr val="4A4A4A"/>
                </a:solidFill>
                <a:latin typeface="Arial" pitchFamily="34" charset="0"/>
                <a:ea typeface="Arial" pitchFamily="34" charset="-122"/>
                <a:cs typeface="Arial" pitchFamily="34" charset="-120"/>
              </a:rPr>
              <a:t>Detector learns one general class, "Traffic Sign"; ResNet-18 names it. Results from this test set only, not proof for every road.</a:t>
            </a:r>
            <a:endParaRPr lang="en-US" sz="1400" dirty="0"/>
          </a:p>
        </p:txBody>
      </p:sp>
      <p:sp>
        <p:nvSpPr>
          <p:cNvPr id="25" name="Slide Number Placeholder 0"/>
          <p:cNvSpPr>
            <a:spLocks noGrp="1"/>
          </p:cNvSpPr>
          <p:nvPr>
            <p:ph type="sldNum" sz="quarter" idx="4294967295"/>
          </p:nvPr>
        </p:nvSpPr>
        <p:spPr>
          <a:xfrm>
            <a:off x="5733288" y="65562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4"/>
          <p:cNvSpPr/>
          <p:nvPr>
            <p:ph idx="105" type="title" hasCustomPrompt="1"/>
          </p:nvPr>
        </p:nvSpPr>
        <p:spPr>
          <a:xfrm>
            <a:off x="1463040" y="155448"/>
            <a:ext cx="9262872" cy="621792"/>
          </a:xfrm>
          <a:prstGeom prst="rect">
            <a:avLst/>
          </a:prstGeom>
          <a:noFill/>
          <a:ln/>
        </p:spPr>
        <p:txBody>
          <a:bodyPr wrap="square" lIns="0" tIns="0" rIns="0" bIns="0" rtlCol="0" anchor="ctr"/>
          <a:lstStyle/>
          <a:p>
            <a:pPr algn="ctr" indent="0" marL="0">
              <a:buNone/>
            </a:pPr>
            <a:r>
              <a:rPr lang="en-US" sz="3000" b="1" dirty="0">
                <a:solidFill>
                  <a:srgbClr val="0B5A3C"/>
                </a:solidFill>
                <a:latin typeface="Arial" pitchFamily="34" charset="0"/>
                <a:ea typeface="Arial" pitchFamily="34" charset="-122"/>
                <a:cs typeface="Arial" pitchFamily="34" charset="-120"/>
              </a:rPr>
              <a:t>Is 98.70% Too Optimistic? Unseen Drives</a:t>
            </a:r>
            <a:endParaRPr lang="en-US" sz="3000" dirty="0"/>
          </a:p>
        </p:txBody>
      </p:sp>
      <p:sp>
        <p:nvSpPr>
          <p:cNvPr id="3" name="Shape 1"/>
          <p:cNvSpPr/>
          <p:nvPr/>
        </p:nvSpPr>
        <p:spPr>
          <a:xfrm>
            <a:off x="457200" y="1188720"/>
            <a:ext cx="4663440" cy="5120640"/>
          </a:xfrm>
          <a:prstGeom prst="roundRect">
            <a:avLst>
              <a:gd name="adj" fmla="val 1569"/>
            </a:avLst>
          </a:prstGeom>
          <a:solidFill>
            <a:srgbClr val="F2F7F4"/>
          </a:solidFill>
          <a:ln w="9525">
            <a:solidFill>
              <a:srgbClr val="F2F7F4"/>
            </a:solidFill>
            <a:prstDash val="solid"/>
          </a:ln>
        </p:spPr>
      </p:sp>
      <p:sp>
        <p:nvSpPr>
          <p:cNvPr id="4" name="Text 2"/>
          <p:cNvSpPr txBox="1"/>
          <p:nvPr/>
        </p:nvSpPr>
        <p:spPr>
          <a:xfrm>
            <a:off x="640080" y="1325880"/>
            <a:ext cx="4297680" cy="411480"/>
          </a:xfrm>
          <a:prstGeom prst="rect">
            <a:avLst/>
          </a:prstGeom>
          <a:noFill/>
          <a:ln/>
        </p:spPr>
        <p:txBody>
          <a:bodyPr wrap="square" lIns="508" tIns="508" rIns="508" bIns="508" rtlCol="0" anchor="t"/>
          <a:lstStyle/>
          <a:p>
            <a:pPr indent="0" marL="0">
              <a:buNone/>
            </a:pPr>
            <a:r>
              <a:rPr lang="en-US" sz="2000" b="1" dirty="0">
                <a:solidFill>
                  <a:srgbClr val="0B5A3C"/>
                </a:solidFill>
                <a:latin typeface="Arial" pitchFamily="34" charset="0"/>
                <a:ea typeface="Arial" pitchFamily="34" charset="-122"/>
                <a:cs typeface="Arial" pitchFamily="34" charset="-120"/>
              </a:rPr>
              <a:t>The concern</a:t>
            </a:r>
            <a:endParaRPr lang="en-US" sz="2000" dirty="0"/>
          </a:p>
        </p:txBody>
      </p:sp>
      <p:sp>
        <p:nvSpPr>
          <p:cNvPr id="5" name="Text 3"/>
          <p:cNvSpPr txBox="1"/>
          <p:nvPr/>
        </p:nvSpPr>
        <p:spPr>
          <a:xfrm>
            <a:off x="640080" y="1737360"/>
            <a:ext cx="4297680" cy="1325880"/>
          </a:xfrm>
          <a:prstGeom prst="rect">
            <a:avLst/>
          </a:prstGeom>
          <a:noFill/>
          <a:ln/>
        </p:spPr>
        <p:txBody>
          <a:bodyPr wrap="square" lIns="508" tIns="508" rIns="508" bIns="508" rtlCol="0" anchor="t"/>
          <a:lstStyle/>
          <a:p>
            <a:pPr indent="0" marL="0">
              <a:buNone/>
            </a:pPr>
            <a:r>
              <a:rPr lang="en-US" sz="1700" dirty="0">
                <a:solidFill>
                  <a:srgbClr val="111111"/>
                </a:solidFill>
                <a:latin typeface="Arial" pitchFamily="34" charset="0"/>
                <a:ea typeface="Arial" pitchFamily="34" charset="-122"/>
                <a:cs typeface="Arial" pitchFamily="34" charset="-120"/>
              </a:rPr>
              <a:t>Photos are video frames. 84 of 463 test crops (18%) have a training frame of the same sign ≤ 2 s away.</a:t>
            </a:r>
            <a:endParaRPr lang="en-US" sz="1700" dirty="0"/>
          </a:p>
        </p:txBody>
      </p:sp>
      <p:sp>
        <p:nvSpPr>
          <p:cNvPr id="6" name="Text 4"/>
          <p:cNvSpPr txBox="1"/>
          <p:nvPr/>
        </p:nvSpPr>
        <p:spPr>
          <a:xfrm>
            <a:off x="640080" y="3108960"/>
            <a:ext cx="4297680" cy="411480"/>
          </a:xfrm>
          <a:prstGeom prst="rect">
            <a:avLst/>
          </a:prstGeom>
          <a:noFill/>
          <a:ln/>
        </p:spPr>
        <p:txBody>
          <a:bodyPr wrap="square" lIns="508" tIns="508" rIns="508" bIns="508" rtlCol="0" anchor="t"/>
          <a:lstStyle/>
          <a:p>
            <a:pPr indent="0" marL="0">
              <a:buNone/>
            </a:pPr>
            <a:r>
              <a:rPr lang="en-US" sz="2000" b="1" dirty="0">
                <a:solidFill>
                  <a:srgbClr val="0B5A3C"/>
                </a:solidFill>
                <a:latin typeface="Arial" pitchFamily="34" charset="0"/>
                <a:ea typeface="Arial" pitchFamily="34" charset="-122"/>
                <a:cs typeface="Arial" pitchFamily="34" charset="-120"/>
              </a:rPr>
              <a:t>The check</a:t>
            </a:r>
            <a:endParaRPr lang="en-US" sz="2000" dirty="0"/>
          </a:p>
        </p:txBody>
      </p:sp>
      <p:sp>
        <p:nvSpPr>
          <p:cNvPr id="7" name="Text 5"/>
          <p:cNvSpPr txBox="1"/>
          <p:nvPr/>
        </p:nvSpPr>
        <p:spPr>
          <a:xfrm>
            <a:off x="640080" y="3520440"/>
            <a:ext cx="4343400" cy="2240280"/>
          </a:xfrm>
          <a:prstGeom prst="rect">
            <a:avLst/>
          </a:prstGeom>
          <a:noFill/>
          <a:ln/>
        </p:spPr>
        <p:txBody>
          <a:bodyPr wrap="square" lIns="635" tIns="635" rIns="635" bIns="635" rtlCol="0" anchor="t"/>
          <a:lstStyle/>
          <a:p>
            <a:pPr marL="279400" indent="-279400">
              <a:spcAft>
                <a:spcPts val="1000"/>
              </a:spcAft>
              <a:buSzPct val="100000"/>
              <a:buChar char="•"/>
            </a:pPr>
            <a:r>
              <a:rPr lang="en-US" sz="1700" dirty="0">
                <a:solidFill>
                  <a:srgbClr val="111111"/>
                </a:solidFill>
                <a:latin typeface="Arial" pitchFamily="34" charset="0"/>
                <a:ea typeface="Arial" pitchFamily="34" charset="-122"/>
                <a:cs typeface="Arial" pitchFamily="34" charset="-120"/>
              </a:rPr>
              <a:t>Group photos into 20 drives</a:t>
            </a:r>
            <a:endParaRPr lang="en-US" sz="1700" dirty="0"/>
          </a:p>
          <a:p>
            <a:pPr marL="279400" indent="-279400">
              <a:spcAft>
                <a:spcPts val="1000"/>
              </a:spcAft>
              <a:buSzPct val="100000"/>
              <a:buChar char="•"/>
            </a:pPr>
            <a:r>
              <a:rPr lang="en-US" sz="1700" dirty="0">
                <a:solidFill>
                  <a:srgbClr val="111111"/>
                </a:solidFill>
                <a:latin typeface="Arial" pitchFamily="34" charset="0"/>
                <a:ea typeface="Arial" pitchFamily="34" charset="-122"/>
                <a:cs typeface="Arial" pitchFamily="34" charset="-120"/>
              </a:rPr>
              <a:t>5 folds: always test on drives the model never saw</a:t>
            </a:r>
            <a:endParaRPr lang="en-US" sz="1700" dirty="0"/>
          </a:p>
          <a:p>
            <a:pPr marL="279400" indent="-279400">
              <a:spcAft>
                <a:spcPts val="1000"/>
              </a:spcAft>
              <a:buSzPct val="100000"/>
              <a:buChar char="•"/>
            </a:pPr>
            <a:r>
              <a:rPr lang="en-US" sz="1700" dirty="0">
                <a:solidFill>
                  <a:srgbClr val="111111"/>
                </a:solidFill>
                <a:latin typeface="Arial" pitchFamily="34" charset="0"/>
                <a:ea typeface="Arial" pitchFamily="34" charset="-122"/>
                <a:cs typeface="Arial" pitchFamily="34" charset="-120"/>
              </a:rPr>
              <a:t>3 seeds → 15 training runs, same final settings</a:t>
            </a:r>
            <a:endParaRPr lang="en-US" sz="17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394960" y="1188720"/>
          <a:ext cx="6336792" cy="914400"/>
        </p:xfrm>
        <a:graphic>
          <a:graphicData uri="http://schemas.openxmlformats.org/drawingml/2006/table">
            <a:tbl>
              <a:tblPr/>
              <a:tblGrid>
                <a:gridCol w="1856232"/>
                <a:gridCol w="1005840"/>
                <a:gridCol w="1737360"/>
                <a:gridCol w="1737360"/>
              </a:tblGrid>
              <a:tr h="493776">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Test fold</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Crops</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Accuracy</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Macro F1</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r>
              <a:tr h="493776">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All folds pooled</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FBEDE5"/>
                    </a:solidFill>
                  </a:tcPr>
                </a:tc>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3,070</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FBEDE5"/>
                    </a:solidFill>
                  </a:tcPr>
                </a:tc>
                <a:tc>
                  <a:txBody>
                    <a:bodyPr/>
                    <a:lstStyle/>
                    <a:p>
                      <a:pPr algn="ctr" indent="0" marL="0">
                        <a:buNone/>
                      </a:pPr>
                      <a:r>
                        <a:rPr lang="en-US" sz="1700" b="1" dirty="0">
                          <a:solidFill>
                            <a:srgbClr val="C75B1E"/>
                          </a:solidFill>
                          <a:latin typeface="Arial" pitchFamily="34" charset="0"/>
                          <a:ea typeface="Arial" pitchFamily="34" charset="-122"/>
                          <a:cs typeface="Arial" pitchFamily="34" charset="-120"/>
                        </a:rPr>
                        <a:t>98.31% ± 0.20</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FBEDE5"/>
                    </a:solidFill>
                  </a:tcPr>
                </a:tc>
                <a:tc>
                  <a:txBody>
                    <a:bodyPr/>
                    <a:lstStyle/>
                    <a:p>
                      <a:pPr algn="ctr" indent="0" marL="0">
                        <a:buNone/>
                      </a:pPr>
                      <a:r>
                        <a:rPr lang="en-US" sz="1700" b="1" dirty="0">
                          <a:solidFill>
                            <a:srgbClr val="C75B1E"/>
                          </a:solidFill>
                          <a:latin typeface="Arial" pitchFamily="34" charset="0"/>
                          <a:ea typeface="Arial" pitchFamily="34" charset="-122"/>
                          <a:cs typeface="Arial" pitchFamily="34" charset="-120"/>
                        </a:rPr>
                        <a:t>97.24% ± 0.68</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FBEDE5"/>
                    </a:solidFill>
                  </a:tcPr>
                </a:tc>
              </a:tr>
              <a:tr h="493776">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Fold 0</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522</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99.55%</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99.38%</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r h="493776">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Fold 1</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538</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98.39%</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96.21%</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r h="493776">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Fold 2</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649</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97.74%</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b="1" dirty="0">
                          <a:solidFill>
                            <a:srgbClr val="C44E52"/>
                          </a:solidFill>
                          <a:latin typeface="Arial" pitchFamily="34" charset="0"/>
                          <a:ea typeface="Arial" pitchFamily="34" charset="-122"/>
                          <a:cs typeface="Arial" pitchFamily="34" charset="-120"/>
                        </a:rPr>
                        <a:t>93.03%</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r h="493776">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Fold 3</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755</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97.70%</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96.54%</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r h="493776">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Fold 4</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606</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98.51%</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98.19%</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bl>
          </a:graphicData>
        </a:graphic>
      </p:graphicFrame>
      <p:sp>
        <p:nvSpPr>
          <p:cNvPr id="9" name="Text 6"/>
          <p:cNvSpPr txBox="1"/>
          <p:nvPr/>
        </p:nvSpPr>
        <p:spPr>
          <a:xfrm>
            <a:off x="5394960" y="4800600"/>
            <a:ext cx="6336792" cy="914400"/>
          </a:xfrm>
          <a:prstGeom prst="rect">
            <a:avLst/>
          </a:prstGeom>
          <a:noFill/>
          <a:ln/>
        </p:spPr>
        <p:txBody>
          <a:bodyPr wrap="square" lIns="508" tIns="508" rIns="508" bIns="508" rtlCol="0" anchor="t"/>
          <a:lstStyle/>
          <a:p>
            <a:pPr indent="0" marL="0">
              <a:buNone/>
            </a:pPr>
            <a:r>
              <a:rPr lang="en-US" sz="1500" b="1" dirty="0">
                <a:solidFill>
                  <a:srgbClr val="C75B1E"/>
                </a:solidFill>
                <a:latin typeface="Arial" pitchFamily="34" charset="0"/>
                <a:ea typeface="Arial" pitchFamily="34" charset="-122"/>
                <a:cs typeface="Arial" pitchFamily="34" charset="-120"/>
              </a:rPr>
              <a:t>± = variation over 3 seeds. Different test protocol from 98.70%, so not a before/after comparison. Independent by drive, not guaranteed by location.</a:t>
            </a:r>
            <a:endParaRPr lang="en-US" sz="1500" dirty="0"/>
          </a:p>
        </p:txBody>
      </p:sp>
      <p:sp>
        <p:nvSpPr>
          <p:cNvPr id="10" name="Text 7"/>
          <p:cNvSpPr txBox="1"/>
          <p:nvPr/>
        </p:nvSpPr>
        <p:spPr>
          <a:xfrm>
            <a:off x="5394960" y="5806440"/>
            <a:ext cx="6336792" cy="365760"/>
          </a:xfrm>
          <a:prstGeom prst="rect">
            <a:avLst/>
          </a:prstGeom>
          <a:noFill/>
          <a:ln/>
        </p:spPr>
        <p:txBody>
          <a:bodyPr wrap="square" lIns="508" tIns="508" rIns="508" bIns="508" rtlCol="0" anchor="t"/>
          <a:lstStyle/>
          <a:p>
            <a:pPr indent="0" marL="0">
              <a:buNone/>
            </a:pPr>
            <a:r>
              <a:rPr lang="en-US" sz="1400" dirty="0">
                <a:solidFill>
                  <a:srgbClr val="4A4A4A"/>
                </a:solidFill>
                <a:latin typeface="Arial" pitchFamily="34" charset="0"/>
                <a:ea typeface="Arial" pitchFamily="34" charset="-122"/>
                <a:cs typeface="Arial" pitchFamily="34" charset="-120"/>
              </a:rPr>
              <a:t>Per-fold values: mean of 3 seeds.</a:t>
            </a:r>
            <a:endParaRPr lang="en-US" sz="1400" dirty="0"/>
          </a:p>
        </p:txBody>
      </p:sp>
      <p:sp>
        <p:nvSpPr>
          <p:cNvPr id="25" name="Slide Number Placeholder 0"/>
          <p:cNvSpPr>
            <a:spLocks noGrp="1"/>
          </p:cNvSpPr>
          <p:nvPr>
            <p:ph type="sldNum" sz="quarter" idx="4294967295"/>
          </p:nvPr>
        </p:nvSpPr>
        <p:spPr>
          <a:xfrm>
            <a:off x="5733288" y="65562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4"/>
          <p:cNvSpPr/>
          <p:nvPr>
            <p:ph idx="105" type="title" hasCustomPrompt="1"/>
          </p:nvPr>
        </p:nvSpPr>
        <p:spPr>
          <a:xfrm>
            <a:off x="1463040" y="155448"/>
            <a:ext cx="9262872" cy="621792"/>
          </a:xfrm>
          <a:prstGeom prst="rect">
            <a:avLst/>
          </a:prstGeom>
          <a:noFill/>
          <a:ln/>
        </p:spPr>
        <p:txBody>
          <a:bodyPr wrap="square" lIns="0" tIns="0" rIns="0" bIns="0" rtlCol="0" anchor="ctr"/>
          <a:lstStyle/>
          <a:p>
            <a:pPr algn="ctr" indent="0" marL="0">
              <a:buNone/>
            </a:pPr>
            <a:r>
              <a:rPr lang="en-US" sz="3000" b="1" dirty="0">
                <a:solidFill>
                  <a:srgbClr val="0B5A3C"/>
                </a:solidFill>
                <a:latin typeface="Arial" pitchFamily="34" charset="0"/>
                <a:ea typeface="Arial" pitchFamily="34" charset="-122"/>
                <a:cs typeface="Arial" pitchFamily="34" charset="-120"/>
              </a:rPr>
              <a:t>Hardest Pair: Cross Road vs. Priority Road</a:t>
            </a:r>
            <a:endParaRPr lang="en-US" sz="3000" dirty="0"/>
          </a:p>
        </p:txBody>
      </p:sp>
      <p:sp>
        <p:nvSpPr>
          <p:cNvPr id="3" name="Text 1"/>
          <p:cNvSpPr txBox="1"/>
          <p:nvPr/>
        </p:nvSpPr>
        <p:spPr>
          <a:xfrm>
            <a:off x="457200" y="1005840"/>
            <a:ext cx="11274552" cy="365760"/>
          </a:xfrm>
          <a:prstGeom prst="rect">
            <a:avLst/>
          </a:prstGeom>
          <a:noFill/>
          <a:ln/>
        </p:spPr>
        <p:txBody>
          <a:bodyPr wrap="square" lIns="0" tIns="0" rIns="0" bIns="0" rtlCol="0" anchor="t"/>
          <a:lstStyle/>
          <a:p>
            <a:pPr indent="0" marL="0">
              <a:buNone/>
            </a:pPr>
            <a:r>
              <a:rPr lang="en-US" sz="1700" dirty="0">
                <a:solidFill>
                  <a:srgbClr val="4A4A4A"/>
                </a:solidFill>
                <a:latin typeface="Arial" pitchFamily="34" charset="0"/>
                <a:ea typeface="Arial" pitchFamily="34" charset="-122"/>
                <a:cs typeface="Arial" pitchFamily="34" charset="-120"/>
              </a:rPr>
              <a:t>From the grouped evaluation (all folds and seeds)</a:t>
            </a:r>
            <a:endParaRPr lang="en-US" sz="1700" dirty="0"/>
          </a:p>
        </p:txBody>
      </p:sp>
      <p:pic>
        <p:nvPicPr>
          <p:cNvPr id="4" name="Image 0" descr="C:/Users/ASUSG1~1/AppData/Local/Temp/claude/C--Users-ASUS-G-16-JVR-Desktop-deepLearning-CNN/ddb4b7a1-b5ad-4432-b312-271443ec143d/scratchpad/deck_v3/assets/cross_vs_priority.png">    </p:cNvPr>
          <p:cNvPicPr>
            <a:picLocks noChangeAspect="1"/>
          </p:cNvPicPr>
          <p:nvPr/>
        </p:nvPicPr>
        <p:blipFill>
          <a:blip r:embed="rId1"/>
          <a:stretch>
            <a:fillRect/>
          </a:stretch>
        </p:blipFill>
        <p:spPr>
          <a:xfrm>
            <a:off x="457200" y="1417320"/>
            <a:ext cx="5534632" cy="4937760"/>
          </a:xfrm>
          <a:prstGeom prst="rect">
            <a:avLst/>
          </a:prstGeom>
        </p:spPr>
      </p:pic>
      <p:sp>
        <p:nvSpPr>
          <p:cNvPr id="5" name="Text 2"/>
          <p:cNvSpPr txBox="1"/>
          <p:nvPr/>
        </p:nvSpPr>
        <p:spPr>
          <a:xfrm>
            <a:off x="6766560" y="1554480"/>
            <a:ext cx="2377440" cy="658368"/>
          </a:xfrm>
          <a:prstGeom prst="rect">
            <a:avLst/>
          </a:prstGeom>
          <a:noFill/>
          <a:ln/>
        </p:spPr>
        <p:txBody>
          <a:bodyPr wrap="square" lIns="0" tIns="0" rIns="0" bIns="0" rtlCol="0" anchor="b"/>
          <a:lstStyle/>
          <a:p>
            <a:pPr algn="ctr" indent="0" marL="0">
              <a:buNone/>
            </a:pPr>
            <a:r>
              <a:rPr lang="en-US" sz="3800" b="1" dirty="0">
                <a:solidFill>
                  <a:srgbClr val="C44E52"/>
                </a:solidFill>
                <a:latin typeface="Arial" pitchFamily="34" charset="0"/>
                <a:ea typeface="Arial" pitchFamily="34" charset="-122"/>
                <a:cs typeface="Arial" pitchFamily="34" charset="-120"/>
              </a:rPr>
              <a:t>0.81</a:t>
            </a:r>
            <a:endParaRPr lang="en-US" sz="3800" dirty="0"/>
          </a:p>
        </p:txBody>
      </p:sp>
      <p:sp>
        <p:nvSpPr>
          <p:cNvPr id="6" name="Text 3"/>
          <p:cNvSpPr txBox="1"/>
          <p:nvPr/>
        </p:nvSpPr>
        <p:spPr>
          <a:xfrm>
            <a:off x="6766560" y="2231136"/>
            <a:ext cx="2377440" cy="566928"/>
          </a:xfrm>
          <a:prstGeom prst="rect">
            <a:avLst/>
          </a:prstGeom>
          <a:noFill/>
          <a:ln/>
        </p:spPr>
        <p:txBody>
          <a:bodyPr wrap="square" lIns="0" tIns="0" rIns="0" bIns="0" rtlCol="0" anchor="t"/>
          <a:lstStyle/>
          <a:p>
            <a:pPr algn="ctr" indent="0" marL="0">
              <a:buNone/>
            </a:pPr>
            <a:r>
              <a:rPr lang="en-US" sz="1600" dirty="0">
                <a:solidFill>
                  <a:srgbClr val="4A4A4A"/>
                </a:solidFill>
                <a:latin typeface="Arial" pitchFamily="34" charset="0"/>
                <a:ea typeface="Arial" pitchFamily="34" charset="-122"/>
                <a:cs typeface="Arial" pitchFamily="34" charset="-120"/>
              </a:rPr>
              <a:t>Cross Road F1 (only 42 images)</a:t>
            </a:r>
            <a:endParaRPr lang="en-US" sz="1600" dirty="0"/>
          </a:p>
        </p:txBody>
      </p:sp>
      <p:sp>
        <p:nvSpPr>
          <p:cNvPr id="7" name="Text 4"/>
          <p:cNvSpPr txBox="1"/>
          <p:nvPr/>
        </p:nvSpPr>
        <p:spPr>
          <a:xfrm>
            <a:off x="9326880" y="1554480"/>
            <a:ext cx="2404872" cy="658368"/>
          </a:xfrm>
          <a:prstGeom prst="rect">
            <a:avLst/>
          </a:prstGeom>
          <a:noFill/>
          <a:ln/>
        </p:spPr>
        <p:txBody>
          <a:bodyPr wrap="square" lIns="0" tIns="0" rIns="0" bIns="0" rtlCol="0" anchor="b"/>
          <a:lstStyle/>
          <a:p>
            <a:pPr algn="ctr" indent="0" marL="0">
              <a:buNone/>
            </a:pPr>
            <a:r>
              <a:rPr lang="en-US" sz="3800" b="1" dirty="0">
                <a:solidFill>
                  <a:srgbClr val="C44E52"/>
                </a:solidFill>
                <a:latin typeface="Arial" pitchFamily="34" charset="0"/>
                <a:ea typeface="Arial" pitchFamily="34" charset="-122"/>
                <a:cs typeface="Arial" pitchFamily="34" charset="-120"/>
              </a:rPr>
              <a:t>25</a:t>
            </a:r>
            <a:endParaRPr lang="en-US" sz="3800" dirty="0"/>
          </a:p>
        </p:txBody>
      </p:sp>
      <p:sp>
        <p:nvSpPr>
          <p:cNvPr id="8" name="Text 5"/>
          <p:cNvSpPr txBox="1"/>
          <p:nvPr/>
        </p:nvSpPr>
        <p:spPr>
          <a:xfrm>
            <a:off x="9326880" y="2231136"/>
            <a:ext cx="2404872" cy="566928"/>
          </a:xfrm>
          <a:prstGeom prst="rect">
            <a:avLst/>
          </a:prstGeom>
          <a:noFill/>
          <a:ln/>
        </p:spPr>
        <p:txBody>
          <a:bodyPr wrap="square" lIns="0" tIns="0" rIns="0" bIns="0" rtlCol="0" anchor="t"/>
          <a:lstStyle/>
          <a:p>
            <a:pPr algn="ctr" indent="0" marL="0">
              <a:buNone/>
            </a:pPr>
            <a:r>
              <a:rPr lang="en-US" sz="1600" dirty="0">
                <a:solidFill>
                  <a:srgbClr val="4A4A4A"/>
                </a:solidFill>
                <a:latin typeface="Arial" pitchFamily="34" charset="0"/>
                <a:ea typeface="Arial" pitchFamily="34" charset="-122"/>
                <a:cs typeface="Arial" pitchFamily="34" charset="-120"/>
              </a:rPr>
              <a:t>times read as Priority Road (summed over 3 seeds)</a:t>
            </a:r>
            <a:endParaRPr lang="en-US" sz="1600" dirty="0"/>
          </a:p>
        </p:txBody>
      </p:sp>
      <p:sp>
        <p:nvSpPr>
          <p:cNvPr id="9" name="Text 6"/>
          <p:cNvSpPr txBox="1"/>
          <p:nvPr/>
        </p:nvSpPr>
        <p:spPr>
          <a:xfrm>
            <a:off x="6766560" y="3063240"/>
            <a:ext cx="4965192" cy="2834640"/>
          </a:xfrm>
          <a:prstGeom prst="rect">
            <a:avLst/>
          </a:prstGeom>
          <a:noFill/>
          <a:ln/>
        </p:spPr>
        <p:txBody>
          <a:bodyPr wrap="square" lIns="635" tIns="635" rIns="635" bIns="635" rtlCol="0" anchor="t"/>
          <a:lstStyle/>
          <a:p>
            <a:pPr marL="279400" indent="-279400">
              <a:spcAft>
                <a:spcPts val="1000"/>
              </a:spcAft>
              <a:buSzPct val="100000"/>
              <a:buChar char="•"/>
            </a:pPr>
            <a:r>
              <a:rPr lang="en-US" sz="1800" dirty="0">
                <a:solidFill>
                  <a:srgbClr val="111111"/>
                </a:solidFill>
                <a:latin typeface="Arial" pitchFamily="34" charset="0"/>
                <a:ea typeface="Arial" pitchFamily="34" charset="-122"/>
                <a:cs typeface="Arial" pitchFamily="34" charset="-120"/>
              </a:rPr>
              <a:t>Both are yellow diamonds with a black cross</a:t>
            </a:r>
            <a:endParaRPr lang="en-US" sz="1800" dirty="0"/>
          </a:p>
          <a:p>
            <a:pPr marL="279400" indent="-279400">
              <a:spcAft>
                <a:spcPts val="1000"/>
              </a:spcAft>
              <a:buSzPct val="100000"/>
              <a:buChar char="•"/>
            </a:pPr>
            <a:r>
              <a:rPr lang="en-US" sz="1800" dirty="0">
                <a:solidFill>
                  <a:srgbClr val="111111"/>
                </a:solidFill>
                <a:latin typeface="Arial" pitchFamily="34" charset="0"/>
                <a:ea typeface="Arial" pitchFamily="34" charset="-122"/>
                <a:cs typeface="Arial" pitchFamily="34" charset="-120"/>
              </a:rPr>
              <a:t>Priority Road: thicker vertical bar with a pointed top</a:t>
            </a:r>
            <a:endParaRPr lang="en-US" sz="1800" dirty="0"/>
          </a:p>
          <a:p>
            <a:pPr marL="279400" indent="-279400">
              <a:spcAft>
                <a:spcPts val="1000"/>
              </a:spcAft>
              <a:buSzPct val="100000"/>
              <a:buChar char="•"/>
            </a:pPr>
            <a:r>
              <a:rPr lang="en-US" sz="1800" dirty="0">
                <a:solidFill>
                  <a:srgbClr val="111111"/>
                </a:solidFill>
                <a:latin typeface="Arial" pitchFamily="34" charset="0"/>
                <a:ea typeface="Arial" pitchFamily="34" charset="-122"/>
                <a:cs typeface="Arial" pitchFamily="34" charset="-120"/>
              </a:rPr>
              <a:t>Tilted or blurred Cross Road signs are misread</a:t>
            </a:r>
            <a:endParaRPr lang="en-US" sz="1800" dirty="0"/>
          </a:p>
          <a:p>
            <a:pPr marL="279400" indent="-279400">
              <a:spcAft>
                <a:spcPts val="1000"/>
              </a:spcAft>
              <a:buSzPct val="100000"/>
              <a:buChar char="•"/>
            </a:pPr>
            <a:r>
              <a:rPr lang="en-US" sz="1800" dirty="0">
                <a:solidFill>
                  <a:srgbClr val="111111"/>
                </a:solidFill>
                <a:latin typeface="Arial" pitchFamily="34" charset="0"/>
                <a:ea typeface="Arial" pitchFamily="34" charset="-122"/>
                <a:cs typeface="Arial" pitchFamily="34" charset="-120"/>
              </a:rPr>
              <a:t>Some errors look like Priority Road: possible label errors (not verified)</a:t>
            </a:r>
            <a:endParaRPr lang="en-US" sz="1800" dirty="0"/>
          </a:p>
        </p:txBody>
      </p:sp>
      <p:sp>
        <p:nvSpPr>
          <p:cNvPr id="25" name="Slide Number Placeholder 0"/>
          <p:cNvSpPr>
            <a:spLocks noGrp="1"/>
          </p:cNvSpPr>
          <p:nvPr>
            <p:ph type="sldNum" sz="quarter" idx="4294967295"/>
          </p:nvPr>
        </p:nvSpPr>
        <p:spPr>
          <a:xfrm>
            <a:off x="5733288" y="65562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4"/>
          <p:cNvSpPr/>
          <p:nvPr>
            <p:ph idx="105" type="title" hasCustomPrompt="1"/>
          </p:nvPr>
        </p:nvSpPr>
        <p:spPr>
          <a:xfrm>
            <a:off x="1463040" y="155448"/>
            <a:ext cx="9262872" cy="621792"/>
          </a:xfrm>
          <a:prstGeom prst="rect">
            <a:avLst/>
          </a:prstGeom>
          <a:noFill/>
          <a:ln/>
        </p:spPr>
        <p:txBody>
          <a:bodyPr wrap="square" lIns="0" tIns="0" rIns="0" bIns="0" rtlCol="0" anchor="ctr"/>
          <a:lstStyle/>
          <a:p>
            <a:pPr algn="ctr" indent="0" marL="0">
              <a:buNone/>
            </a:pPr>
            <a:r>
              <a:rPr lang="en-US" sz="3000" b="1" dirty="0">
                <a:solidFill>
                  <a:srgbClr val="0B5A3C"/>
                </a:solidFill>
                <a:latin typeface="Arial" pitchFamily="34" charset="0"/>
                <a:ea typeface="Arial" pitchFamily="34" charset="-122"/>
                <a:cs typeface="Arial" pitchFamily="34" charset="-120"/>
              </a:rPr>
              <a:t>Live Demo: Local Web App (Gradio)</a:t>
            </a:r>
            <a:endParaRPr lang="en-US" sz="3000" dirty="0"/>
          </a:p>
        </p:txBody>
      </p:sp>
      <p:sp>
        <p:nvSpPr>
          <p:cNvPr id="3" name="Text 1"/>
          <p:cNvSpPr txBox="1"/>
          <p:nvPr/>
        </p:nvSpPr>
        <p:spPr>
          <a:xfrm>
            <a:off x="457200" y="1005840"/>
            <a:ext cx="11274552" cy="365760"/>
          </a:xfrm>
          <a:prstGeom prst="rect">
            <a:avLst/>
          </a:prstGeom>
          <a:noFill/>
          <a:ln/>
        </p:spPr>
        <p:txBody>
          <a:bodyPr wrap="square" lIns="0" tIns="0" rIns="0" bIns="0" rtlCol="0" anchor="t"/>
          <a:lstStyle/>
          <a:p>
            <a:pPr indent="0" marL="0">
              <a:buNone/>
            </a:pPr>
            <a:r>
              <a:rPr lang="en-US" sz="1700" dirty="0">
                <a:solidFill>
                  <a:srgbClr val="4A4A4A"/>
                </a:solidFill>
                <a:latin typeface="Arial" pitchFamily="34" charset="0"/>
                <a:ea typeface="Arial" pitchFamily="34" charset="-122"/>
                <a:cs typeface="Arial" pitchFamily="34" charset="-120"/>
              </a:rPr>
              <a:t>Runs on this laptop at http://127.0.0.1:7860 · not deployed online</a:t>
            </a:r>
            <a:endParaRPr lang="en-US" sz="1700" dirty="0"/>
          </a:p>
        </p:txBody>
      </p:sp>
      <p:sp>
        <p:nvSpPr>
          <p:cNvPr id="4" name="Shape 2"/>
          <p:cNvSpPr/>
          <p:nvPr/>
        </p:nvSpPr>
        <p:spPr>
          <a:xfrm>
            <a:off x="457200" y="1645920"/>
            <a:ext cx="5486400" cy="3840480"/>
          </a:xfrm>
          <a:prstGeom prst="roundRect">
            <a:avLst>
              <a:gd name="adj" fmla="val 1905"/>
            </a:avLst>
          </a:prstGeom>
          <a:solidFill>
            <a:srgbClr val="F2F7F4"/>
          </a:solidFill>
          <a:ln w="9525">
            <a:solidFill>
              <a:srgbClr val="F2F7F4"/>
            </a:solidFill>
            <a:prstDash val="solid"/>
          </a:ln>
        </p:spPr>
      </p:sp>
      <p:sp>
        <p:nvSpPr>
          <p:cNvPr id="5" name="Text 3"/>
          <p:cNvSpPr txBox="1"/>
          <p:nvPr/>
        </p:nvSpPr>
        <p:spPr>
          <a:xfrm>
            <a:off x="640080" y="1783080"/>
            <a:ext cx="5120640" cy="411480"/>
          </a:xfrm>
          <a:prstGeom prst="rect">
            <a:avLst/>
          </a:prstGeom>
          <a:noFill/>
          <a:ln/>
        </p:spPr>
        <p:txBody>
          <a:bodyPr wrap="square" lIns="508" tIns="508" rIns="508" bIns="508" rtlCol="0" anchor="t"/>
          <a:lstStyle/>
          <a:p>
            <a:pPr indent="0" marL="0">
              <a:buNone/>
            </a:pPr>
            <a:r>
              <a:rPr lang="en-US" sz="2000" b="1" dirty="0">
                <a:solidFill>
                  <a:srgbClr val="0B5A3C"/>
                </a:solidFill>
                <a:latin typeface="Arial" pitchFamily="34" charset="0"/>
                <a:ea typeface="Arial" pitchFamily="34" charset="-122"/>
                <a:cs typeface="Arial" pitchFamily="34" charset="-120"/>
              </a:rPr>
              <a:t>Tab 1 · Classify a cropped sign</a:t>
            </a:r>
            <a:endParaRPr lang="en-US" sz="2000" dirty="0"/>
          </a:p>
        </p:txBody>
      </p:sp>
      <p:sp>
        <p:nvSpPr>
          <p:cNvPr id="6" name="Text 4"/>
          <p:cNvSpPr txBox="1"/>
          <p:nvPr/>
        </p:nvSpPr>
        <p:spPr>
          <a:xfrm>
            <a:off x="640080" y="2286000"/>
            <a:ext cx="5166360" cy="2651760"/>
          </a:xfrm>
          <a:prstGeom prst="rect">
            <a:avLst/>
          </a:prstGeom>
          <a:noFill/>
          <a:ln/>
        </p:spPr>
        <p:txBody>
          <a:bodyPr wrap="square" lIns="635" tIns="635" rIns="635" bIns="635" rtlCol="0" anchor="t"/>
          <a:lstStyle/>
          <a:p>
            <a:pPr marL="279400" indent="-279400">
              <a:spcAft>
                <a:spcPts val="1000"/>
              </a:spcAft>
              <a:buSzPct val="100000"/>
              <a:buChar char="•"/>
            </a:pPr>
            <a:r>
              <a:rPr lang="en-US" sz="1800" dirty="0">
                <a:solidFill>
                  <a:srgbClr val="111111"/>
                </a:solidFill>
                <a:latin typeface="Arial" pitchFamily="34" charset="0"/>
                <a:ea typeface="Arial" pitchFamily="34" charset="-122"/>
                <a:cs typeface="Arial" pitchFamily="34" charset="-120"/>
              </a:rPr>
              <a:t>Pick a real test street scene, e.g. Left Bend</a:t>
            </a:r>
            <a:endParaRPr lang="en-US" sz="1800" dirty="0"/>
          </a:p>
          <a:p>
            <a:pPr marL="279400" indent="-279400">
              <a:spcAft>
                <a:spcPts val="1000"/>
              </a:spcAft>
              <a:buSzPct val="100000"/>
              <a:buChar char="•"/>
            </a:pPr>
            <a:r>
              <a:rPr lang="en-US" sz="1800" dirty="0">
                <a:solidFill>
                  <a:srgbClr val="111111"/>
                </a:solidFill>
                <a:latin typeface="Arial" pitchFamily="34" charset="0"/>
                <a:ea typeface="Arial" pitchFamily="34" charset="-122"/>
                <a:cs typeface="Arial" pitchFamily="34" charset="-120"/>
              </a:rPr>
              <a:t>Classify → Left Bend, 99.66%, marked correct</a:t>
            </a:r>
            <a:endParaRPr lang="en-US" sz="1800" dirty="0"/>
          </a:p>
          <a:p>
            <a:pPr marL="279400" indent="-279400">
              <a:spcAft>
                <a:spcPts val="1000"/>
              </a:spcAft>
              <a:buSzPct val="100000"/>
              <a:buChar char="•"/>
            </a:pPr>
            <a:r>
              <a:rPr lang="en-US" sz="1800" dirty="0">
                <a:solidFill>
                  <a:srgbClr val="111111"/>
                </a:solidFill>
                <a:latin typeface="Arial" pitchFamily="34" charset="0"/>
                <a:ea typeface="Arial" pitchFamily="34" charset="-122"/>
                <a:cs typeface="Arial" pitchFamily="34" charset="-120"/>
              </a:rPr>
              <a:t>Try the whole uncropped photo → wrong, low confidence: this is why we crop</a:t>
            </a:r>
            <a:endParaRPr lang="en-US" sz="1800" dirty="0"/>
          </a:p>
        </p:txBody>
      </p:sp>
      <p:sp>
        <p:nvSpPr>
          <p:cNvPr id="7" name="Shape 5"/>
          <p:cNvSpPr/>
          <p:nvPr/>
        </p:nvSpPr>
        <p:spPr>
          <a:xfrm>
            <a:off x="6245352" y="1645920"/>
            <a:ext cx="5486400" cy="3840480"/>
          </a:xfrm>
          <a:prstGeom prst="roundRect">
            <a:avLst>
              <a:gd name="adj" fmla="val 1905"/>
            </a:avLst>
          </a:prstGeom>
          <a:solidFill>
            <a:srgbClr val="FBEDE5"/>
          </a:solidFill>
          <a:ln w="9525">
            <a:solidFill>
              <a:srgbClr val="FBEDE5"/>
            </a:solidFill>
            <a:prstDash val="solid"/>
          </a:ln>
        </p:spPr>
      </p:sp>
      <p:sp>
        <p:nvSpPr>
          <p:cNvPr id="8" name="Text 6"/>
          <p:cNvSpPr txBox="1"/>
          <p:nvPr/>
        </p:nvSpPr>
        <p:spPr>
          <a:xfrm>
            <a:off x="6428232" y="1783080"/>
            <a:ext cx="5120640" cy="411480"/>
          </a:xfrm>
          <a:prstGeom prst="rect">
            <a:avLst/>
          </a:prstGeom>
          <a:noFill/>
          <a:ln/>
        </p:spPr>
        <p:txBody>
          <a:bodyPr wrap="square" lIns="508" tIns="508" rIns="508" bIns="508" rtlCol="0" anchor="t"/>
          <a:lstStyle/>
          <a:p>
            <a:pPr indent="0" marL="0">
              <a:buNone/>
            </a:pPr>
            <a:r>
              <a:rPr lang="en-US" sz="2000" b="1" dirty="0">
                <a:solidFill>
                  <a:srgbClr val="C75B1E"/>
                </a:solidFill>
                <a:latin typeface="Arial" pitchFamily="34" charset="0"/>
                <a:ea typeface="Arial" pitchFamily="34" charset="-122"/>
                <a:cs typeface="Arial" pitchFamily="34" charset="-120"/>
              </a:rPr>
              <a:t>Tab 2 · Detect all signs in a street photo</a:t>
            </a:r>
            <a:endParaRPr lang="en-US" sz="2000" dirty="0"/>
          </a:p>
        </p:txBody>
      </p:sp>
      <p:sp>
        <p:nvSpPr>
          <p:cNvPr id="9" name="Text 7"/>
          <p:cNvSpPr txBox="1"/>
          <p:nvPr/>
        </p:nvSpPr>
        <p:spPr>
          <a:xfrm>
            <a:off x="6428232" y="2286000"/>
            <a:ext cx="5166360" cy="2651760"/>
          </a:xfrm>
          <a:prstGeom prst="rect">
            <a:avLst/>
          </a:prstGeom>
          <a:noFill/>
          <a:ln/>
        </p:spPr>
        <p:txBody>
          <a:bodyPr wrap="square" lIns="635" tIns="635" rIns="635" bIns="635" rtlCol="0" anchor="t"/>
          <a:lstStyle/>
          <a:p>
            <a:pPr marL="279400" indent="-279400">
              <a:spcAft>
                <a:spcPts val="1000"/>
              </a:spcAft>
              <a:buSzPct val="100000"/>
              <a:buChar char="•"/>
            </a:pPr>
            <a:r>
              <a:rPr lang="en-US" sz="1800" dirty="0">
                <a:solidFill>
                  <a:srgbClr val="111111"/>
                </a:solidFill>
                <a:latin typeface="Arial" pitchFamily="34" charset="0"/>
                <a:ea typeface="Arial" pitchFamily="34" charset="-122"/>
                <a:cs typeface="Arial" pitchFamily="34" charset="-120"/>
              </a:rPr>
              <a:t>Pick the test photo from slide 1</a:t>
            </a:r>
            <a:endParaRPr lang="en-US" sz="1800" dirty="0"/>
          </a:p>
          <a:p>
            <a:pPr marL="279400" indent="-279400">
              <a:spcAft>
                <a:spcPts val="1000"/>
              </a:spcAft>
              <a:buSzPct val="100000"/>
              <a:buChar char="•"/>
            </a:pPr>
            <a:r>
              <a:rPr lang="en-US" sz="1800" dirty="0">
                <a:solidFill>
                  <a:srgbClr val="111111"/>
                </a:solidFill>
                <a:latin typeface="Arial" pitchFamily="34" charset="0"/>
                <a:ea typeface="Arial" pitchFamily="34" charset="-122"/>
                <a:cs typeface="Arial" pitchFamily="34" charset="-120"/>
              </a:rPr>
              <a:t>Detect &amp; Classify → 4 boxes: No U-Turn, Keep Right, No Horn, Hospital</a:t>
            </a:r>
            <a:endParaRPr lang="en-US" sz="1800" dirty="0"/>
          </a:p>
          <a:p>
            <a:pPr marL="279400" indent="-279400">
              <a:spcAft>
                <a:spcPts val="1000"/>
              </a:spcAft>
              <a:buSzPct val="100000"/>
              <a:buChar char="•"/>
            </a:pPr>
            <a:r>
              <a:rPr lang="en-US" sz="1800" dirty="0">
                <a:solidFill>
                  <a:srgbClr val="111111"/>
                </a:solidFill>
                <a:latin typeface="Arial" pitchFamily="34" charset="0"/>
                <a:ea typeface="Arial" pitchFamily="34" charset="-122"/>
                <a:cs typeface="Arial" pitchFamily="34" charset="-120"/>
              </a:rPr>
              <a:t>A results table lists every sign with its confidence</a:t>
            </a:r>
            <a:endParaRPr lang="en-US" sz="1800" dirty="0"/>
          </a:p>
        </p:txBody>
      </p:sp>
      <p:sp>
        <p:nvSpPr>
          <p:cNvPr id="10" name="Text 8"/>
          <p:cNvSpPr txBox="1"/>
          <p:nvPr/>
        </p:nvSpPr>
        <p:spPr>
          <a:xfrm>
            <a:off x="457200" y="5715000"/>
            <a:ext cx="11274552" cy="548640"/>
          </a:xfrm>
          <a:prstGeom prst="rect">
            <a:avLst/>
          </a:prstGeom>
          <a:noFill/>
          <a:ln/>
        </p:spPr>
        <p:txBody>
          <a:bodyPr wrap="square" lIns="508" tIns="508" rIns="508" bIns="508" rtlCol="0" anchor="t"/>
          <a:lstStyle/>
          <a:p>
            <a:pPr indent="0" marL="0">
              <a:buNone/>
            </a:pPr>
            <a:r>
              <a:rPr lang="en-US" sz="1600" dirty="0">
                <a:solidFill>
                  <a:srgbClr val="4A4A4A"/>
                </a:solidFill>
                <a:latin typeface="Arial" pitchFamily="34" charset="0"/>
                <a:ea typeface="Arial" pitchFamily="34" charset="-122"/>
                <a:cs typeface="Arial" pitchFamily="34" charset="-120"/>
              </a:rPr>
              <a:t>Before presenting: start the app, check the banner says "Checkpoint verified". Backup: notebooks/07_demo.ipynb.</a:t>
            </a:r>
            <a:endParaRPr lang="en-US" sz="1600" dirty="0"/>
          </a:p>
        </p:txBody>
      </p:sp>
      <p:sp>
        <p:nvSpPr>
          <p:cNvPr id="25" name="Slide Number Placeholder 0"/>
          <p:cNvSpPr>
            <a:spLocks noGrp="1"/>
          </p:cNvSpPr>
          <p:nvPr>
            <p:ph type="sldNum" sz="quarter" idx="4294967295"/>
          </p:nvPr>
        </p:nvSpPr>
        <p:spPr>
          <a:xfrm>
            <a:off x="5733288" y="65562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4"/>
          <p:cNvSpPr/>
          <p:nvPr>
            <p:ph idx="105" type="title" hasCustomPrompt="1"/>
          </p:nvPr>
        </p:nvSpPr>
        <p:spPr>
          <a:xfrm>
            <a:off x="1463040" y="155448"/>
            <a:ext cx="9262872" cy="621792"/>
          </a:xfrm>
          <a:prstGeom prst="rect">
            <a:avLst/>
          </a:prstGeom>
          <a:noFill/>
          <a:ln/>
        </p:spPr>
        <p:txBody>
          <a:bodyPr wrap="square" lIns="0" tIns="0" rIns="0" bIns="0" rtlCol="0" anchor="ctr"/>
          <a:lstStyle/>
          <a:p>
            <a:pPr algn="ctr" indent="0" marL="0">
              <a:buNone/>
            </a:pPr>
            <a:r>
              <a:rPr lang="en-US" sz="3000" b="1" dirty="0">
                <a:solidFill>
                  <a:srgbClr val="0B5A3C"/>
                </a:solidFill>
                <a:latin typeface="Arial" pitchFamily="34" charset="0"/>
                <a:ea typeface="Arial" pitchFamily="34" charset="-122"/>
                <a:cs typeface="Arial" pitchFamily="34" charset="-120"/>
              </a:rPr>
              <a:t>Limitations and Future Work</a:t>
            </a:r>
            <a:endParaRPr lang="en-US" sz="3000" dirty="0"/>
          </a:p>
        </p:txBody>
      </p:sp>
      <p:sp>
        <p:nvSpPr>
          <p:cNvPr id="3" name="Shape 1"/>
          <p:cNvSpPr/>
          <p:nvPr/>
        </p:nvSpPr>
        <p:spPr>
          <a:xfrm>
            <a:off x="457200" y="1234440"/>
            <a:ext cx="5486400" cy="4617720"/>
          </a:xfrm>
          <a:prstGeom prst="roundRect">
            <a:avLst>
              <a:gd name="adj" fmla="val 1584"/>
            </a:avLst>
          </a:prstGeom>
          <a:solidFill>
            <a:srgbClr val="F2F7F4"/>
          </a:solidFill>
          <a:ln w="9525">
            <a:solidFill>
              <a:srgbClr val="F2F7F4"/>
            </a:solidFill>
            <a:prstDash val="solid"/>
          </a:ln>
        </p:spPr>
      </p:sp>
      <p:sp>
        <p:nvSpPr>
          <p:cNvPr id="4" name="Text 2"/>
          <p:cNvSpPr txBox="1"/>
          <p:nvPr/>
        </p:nvSpPr>
        <p:spPr>
          <a:xfrm>
            <a:off x="685800" y="1371600"/>
            <a:ext cx="5029200" cy="457200"/>
          </a:xfrm>
          <a:prstGeom prst="rect">
            <a:avLst/>
          </a:prstGeom>
          <a:noFill/>
          <a:ln/>
        </p:spPr>
        <p:txBody>
          <a:bodyPr wrap="square" lIns="508" tIns="508" rIns="508" bIns="508" rtlCol="0" anchor="t"/>
          <a:lstStyle/>
          <a:p>
            <a:pPr indent="0" marL="0">
              <a:buNone/>
            </a:pPr>
            <a:r>
              <a:rPr lang="en-US" sz="2200" b="1" dirty="0">
                <a:solidFill>
                  <a:srgbClr val="0B5A3C"/>
                </a:solidFill>
                <a:latin typeface="Arial" pitchFamily="34" charset="0"/>
                <a:ea typeface="Arial" pitchFamily="34" charset="-122"/>
                <a:cs typeface="Arial" pitchFamily="34" charset="-120"/>
              </a:rPr>
              <a:t>Limitations</a:t>
            </a:r>
            <a:endParaRPr lang="en-US" sz="2200" dirty="0"/>
          </a:p>
        </p:txBody>
      </p:sp>
      <p:sp>
        <p:nvSpPr>
          <p:cNvPr id="5" name="Text 3"/>
          <p:cNvSpPr txBox="1"/>
          <p:nvPr/>
        </p:nvSpPr>
        <p:spPr>
          <a:xfrm>
            <a:off x="685800" y="1920240"/>
            <a:ext cx="5120640" cy="3840480"/>
          </a:xfrm>
          <a:prstGeom prst="rect">
            <a:avLst/>
          </a:prstGeom>
          <a:noFill/>
          <a:ln/>
        </p:spPr>
        <p:txBody>
          <a:bodyPr wrap="square" lIns="635" tIns="635" rIns="635" bIns="635" rtlCol="0" anchor="t"/>
          <a:lstStyle/>
          <a:p>
            <a:pPr marL="279400" indent="-279400">
              <a:spcAft>
                <a:spcPts val="1000"/>
              </a:spcAft>
              <a:buSzPct val="100000"/>
              <a:buChar char="•"/>
            </a:pPr>
            <a:r>
              <a:rPr lang="en-US" sz="1800" dirty="0">
                <a:solidFill>
                  <a:srgbClr val="111111"/>
                </a:solidFill>
                <a:latin typeface="Arial" pitchFamily="34" charset="0"/>
                <a:ea typeface="Arial" pitchFamily="34" charset="-122"/>
                <a:cs typeface="Arial" pitchFamily="34" charset="-120"/>
              </a:rPr>
              <a:t>Original split has near-duplicate video frames (18% of test crops)</a:t>
            </a:r>
            <a:endParaRPr lang="en-US" sz="1800" dirty="0"/>
          </a:p>
          <a:p>
            <a:pPr marL="279400" indent="-279400">
              <a:spcAft>
                <a:spcPts val="1000"/>
              </a:spcAft>
              <a:buSzPct val="100000"/>
              <a:buChar char="•"/>
            </a:pPr>
            <a:r>
              <a:rPr lang="en-US" sz="1800" dirty="0">
                <a:solidFill>
                  <a:srgbClr val="111111"/>
                </a:solidFill>
                <a:latin typeface="Arial" pitchFamily="34" charset="0"/>
                <a:ea typeface="Arial" pitchFamily="34" charset="-122"/>
                <a:cs typeface="Arial" pitchFamily="34" charset="-120"/>
              </a:rPr>
              <a:t>Grouped test separates drives, but the same sign can appear on another trip</a:t>
            </a:r>
            <a:endParaRPr lang="en-US" sz="1800" dirty="0"/>
          </a:p>
          <a:p>
            <a:pPr marL="279400" indent="-279400">
              <a:spcAft>
                <a:spcPts val="1000"/>
              </a:spcAft>
              <a:buSzPct val="100000"/>
              <a:buChar char="•"/>
            </a:pPr>
            <a:r>
              <a:rPr lang="en-US" sz="1800" dirty="0">
                <a:solidFill>
                  <a:srgbClr val="111111"/>
                </a:solidFill>
                <a:latin typeface="Arial" pitchFamily="34" charset="0"/>
                <a:ea typeface="Arial" pitchFamily="34" charset="-122"/>
                <a:cs typeface="Arial" pitchFamily="34" charset="-120"/>
              </a:rPr>
              <a:t>Few images for some signs (Cross Road: 42)</a:t>
            </a:r>
            <a:endParaRPr lang="en-US" sz="1800" dirty="0"/>
          </a:p>
          <a:p>
            <a:pPr marL="279400" indent="-279400">
              <a:spcAft>
                <a:spcPts val="1000"/>
              </a:spcAft>
              <a:buSzPct val="100000"/>
              <a:buChar char="•"/>
            </a:pPr>
            <a:r>
              <a:rPr lang="en-US" sz="1800" dirty="0">
                <a:solidFill>
                  <a:srgbClr val="111111"/>
                </a:solidFill>
                <a:latin typeface="Arial" pitchFamily="34" charset="0"/>
                <a:ea typeface="Arial" pitchFamily="34" charset="-122"/>
                <a:cs typeface="Arial" pitchFamily="34" charset="-120"/>
              </a:rPr>
              <a:t>Only 26 classes: other signs (e.g. STOP) get the closest label</a:t>
            </a:r>
            <a:endParaRPr lang="en-US" sz="1800" dirty="0"/>
          </a:p>
        </p:txBody>
      </p:sp>
      <p:sp>
        <p:nvSpPr>
          <p:cNvPr id="6" name="Shape 4"/>
          <p:cNvSpPr/>
          <p:nvPr/>
        </p:nvSpPr>
        <p:spPr>
          <a:xfrm>
            <a:off x="6245352" y="1234440"/>
            <a:ext cx="5486400" cy="4617720"/>
          </a:xfrm>
          <a:prstGeom prst="roundRect">
            <a:avLst>
              <a:gd name="adj" fmla="val 1584"/>
            </a:avLst>
          </a:prstGeom>
          <a:solidFill>
            <a:srgbClr val="F2F7F4"/>
          </a:solidFill>
          <a:ln w="9525">
            <a:solidFill>
              <a:srgbClr val="F2F7F4"/>
            </a:solidFill>
            <a:prstDash val="solid"/>
          </a:ln>
        </p:spPr>
      </p:sp>
      <p:sp>
        <p:nvSpPr>
          <p:cNvPr id="7" name="Text 5"/>
          <p:cNvSpPr txBox="1"/>
          <p:nvPr/>
        </p:nvSpPr>
        <p:spPr>
          <a:xfrm>
            <a:off x="6473952" y="1371600"/>
            <a:ext cx="5029200" cy="457200"/>
          </a:xfrm>
          <a:prstGeom prst="rect">
            <a:avLst/>
          </a:prstGeom>
          <a:noFill/>
          <a:ln/>
        </p:spPr>
        <p:txBody>
          <a:bodyPr wrap="square" lIns="508" tIns="508" rIns="508" bIns="508" rtlCol="0" anchor="t"/>
          <a:lstStyle/>
          <a:p>
            <a:pPr indent="0" marL="0">
              <a:buNone/>
            </a:pPr>
            <a:r>
              <a:rPr lang="en-US" sz="2200" b="1" dirty="0">
                <a:solidFill>
                  <a:srgbClr val="0B5A3C"/>
                </a:solidFill>
                <a:latin typeface="Arial" pitchFamily="34" charset="0"/>
                <a:ea typeface="Arial" pitchFamily="34" charset="-122"/>
                <a:cs typeface="Arial" pitchFamily="34" charset="-120"/>
              </a:rPr>
              <a:t>Future work</a:t>
            </a:r>
            <a:endParaRPr lang="en-US" sz="2200" dirty="0"/>
          </a:p>
        </p:txBody>
      </p:sp>
      <p:sp>
        <p:nvSpPr>
          <p:cNvPr id="8" name="Text 6"/>
          <p:cNvSpPr txBox="1"/>
          <p:nvPr/>
        </p:nvSpPr>
        <p:spPr>
          <a:xfrm>
            <a:off x="6473952" y="1920240"/>
            <a:ext cx="5120640" cy="3840480"/>
          </a:xfrm>
          <a:prstGeom prst="rect">
            <a:avLst/>
          </a:prstGeom>
          <a:noFill/>
          <a:ln/>
        </p:spPr>
        <p:txBody>
          <a:bodyPr wrap="square" lIns="635" tIns="635" rIns="635" bIns="635" rtlCol="0" anchor="t"/>
          <a:lstStyle/>
          <a:p>
            <a:pPr marL="279400" indent="-279400">
              <a:spcAft>
                <a:spcPts val="1000"/>
              </a:spcAft>
              <a:buSzPct val="100000"/>
              <a:buChar char="•"/>
            </a:pPr>
            <a:r>
              <a:rPr lang="en-US" sz="1800" dirty="0">
                <a:solidFill>
                  <a:srgbClr val="111111"/>
                </a:solidFill>
                <a:latin typeface="Arial" pitchFamily="34" charset="0"/>
                <a:ea typeface="Arial" pitchFamily="34" charset="-122"/>
                <a:cs typeface="Arial" pitchFamily="34" charset="-120"/>
              </a:rPr>
              <a:t>Split by location (needs GPS data)</a:t>
            </a:r>
            <a:endParaRPr lang="en-US" sz="1800" dirty="0"/>
          </a:p>
          <a:p>
            <a:pPr marL="279400" indent="-279400">
              <a:spcAft>
                <a:spcPts val="1000"/>
              </a:spcAft>
              <a:buSzPct val="100000"/>
              <a:buChar char="•"/>
            </a:pPr>
            <a:r>
              <a:rPr lang="en-US" sz="1800" dirty="0">
                <a:solidFill>
                  <a:srgbClr val="111111"/>
                </a:solidFill>
                <a:latin typeface="Arial" pitchFamily="34" charset="0"/>
                <a:ea typeface="Arial" pitchFamily="34" charset="-122"/>
                <a:cs typeface="Arial" pitchFamily="34" charset="-120"/>
              </a:rPr>
              <a:t>More images of rare and look-alike signs; fix label errors</a:t>
            </a:r>
            <a:endParaRPr lang="en-US" sz="1800" dirty="0"/>
          </a:p>
          <a:p>
            <a:pPr marL="279400" indent="-279400">
              <a:spcAft>
                <a:spcPts val="1000"/>
              </a:spcAft>
              <a:buSzPct val="100000"/>
              <a:buChar char="•"/>
            </a:pPr>
            <a:r>
              <a:rPr lang="en-US" sz="1800" dirty="0">
                <a:solidFill>
                  <a:srgbClr val="111111"/>
                </a:solidFill>
                <a:latin typeface="Arial" pitchFamily="34" charset="0"/>
                <a:ea typeface="Arial" pitchFamily="34" charset="-122"/>
                <a:cs typeface="Arial" pitchFamily="34" charset="-120"/>
              </a:rPr>
              <a:t>Add an "other sign" class</a:t>
            </a:r>
            <a:endParaRPr lang="en-US" sz="1800" dirty="0"/>
          </a:p>
          <a:p>
            <a:pPr marL="279400" indent="-279400">
              <a:spcAft>
                <a:spcPts val="1000"/>
              </a:spcAft>
              <a:buSzPct val="100000"/>
              <a:buChar char="•"/>
            </a:pPr>
            <a:r>
              <a:rPr lang="en-US" sz="1800" dirty="0">
                <a:solidFill>
                  <a:srgbClr val="111111"/>
                </a:solidFill>
                <a:latin typeface="Arial" pitchFamily="34" charset="0"/>
                <a:ea typeface="Arial" pitchFamily="34" charset="-122"/>
                <a:cs typeface="Arial" pitchFamily="34" charset="-120"/>
              </a:rPr>
              <a:t>Grouped evaluation for the detector too</a:t>
            </a:r>
            <a:endParaRPr lang="en-US" sz="1800" dirty="0"/>
          </a:p>
        </p:txBody>
      </p:sp>
      <p:sp>
        <p:nvSpPr>
          <p:cNvPr id="25" name="Slide Number Placeholder 0"/>
          <p:cNvSpPr>
            <a:spLocks noGrp="1"/>
          </p:cNvSpPr>
          <p:nvPr>
            <p:ph type="sldNum" sz="quarter" idx="4294967295"/>
          </p:nvPr>
        </p:nvSpPr>
        <p:spPr>
          <a:xfrm>
            <a:off x="5733288" y="65562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4"/>
          <p:cNvSpPr/>
          <p:nvPr>
            <p:ph idx="105" type="title" hasCustomPrompt="1"/>
          </p:nvPr>
        </p:nvSpPr>
        <p:spPr>
          <a:xfrm>
            <a:off x="1463040" y="155448"/>
            <a:ext cx="9262872" cy="621792"/>
          </a:xfrm>
          <a:prstGeom prst="rect">
            <a:avLst/>
          </a:prstGeom>
          <a:noFill/>
          <a:ln/>
        </p:spPr>
        <p:txBody>
          <a:bodyPr wrap="square" lIns="0" tIns="0" rIns="0" bIns="0" rtlCol="0" anchor="ctr"/>
          <a:lstStyle/>
          <a:p>
            <a:pPr algn="ctr" indent="0" marL="0">
              <a:buNone/>
            </a:pPr>
            <a:r>
              <a:rPr lang="en-US" sz="3000" b="1" dirty="0">
                <a:solidFill>
                  <a:srgbClr val="0B5A3C"/>
                </a:solidFill>
                <a:latin typeface="Arial" pitchFamily="34" charset="0"/>
                <a:ea typeface="Arial" pitchFamily="34" charset="-122"/>
                <a:cs typeface="Arial" pitchFamily="34" charset="-120"/>
              </a:rPr>
              <a:t>Conclusion</a:t>
            </a:r>
            <a:endParaRPr lang="en-US" sz="3000" dirty="0"/>
          </a:p>
        </p:txBody>
      </p:sp>
      <p:sp>
        <p:nvSpPr>
          <p:cNvPr id="3" name="Shape 1"/>
          <p:cNvSpPr/>
          <p:nvPr/>
        </p:nvSpPr>
        <p:spPr>
          <a:xfrm>
            <a:off x="457200" y="1234440"/>
            <a:ext cx="3611880" cy="2148840"/>
          </a:xfrm>
          <a:prstGeom prst="roundRect">
            <a:avLst>
              <a:gd name="adj" fmla="val 3404"/>
            </a:avLst>
          </a:prstGeom>
          <a:solidFill>
            <a:srgbClr val="F2F7F4"/>
          </a:solidFill>
          <a:ln w="9525">
            <a:solidFill>
              <a:srgbClr val="F2F7F4"/>
            </a:solidFill>
            <a:prstDash val="solid"/>
          </a:ln>
        </p:spPr>
      </p:sp>
      <p:sp>
        <p:nvSpPr>
          <p:cNvPr id="4" name="Text 2"/>
          <p:cNvSpPr txBox="1"/>
          <p:nvPr/>
        </p:nvSpPr>
        <p:spPr>
          <a:xfrm>
            <a:off x="594360" y="1325880"/>
            <a:ext cx="3337560" cy="868680"/>
          </a:xfrm>
          <a:prstGeom prst="rect">
            <a:avLst/>
          </a:prstGeom>
          <a:noFill/>
          <a:ln/>
        </p:spPr>
        <p:txBody>
          <a:bodyPr wrap="square" lIns="0" tIns="0" rIns="0" bIns="0" rtlCol="0" anchor="ctr"/>
          <a:lstStyle/>
          <a:p>
            <a:pPr algn="ctr" indent="0" marL="0">
              <a:buNone/>
            </a:pPr>
            <a:r>
              <a:rPr lang="en-US" sz="4000" b="1" dirty="0">
                <a:solidFill>
                  <a:srgbClr val="C75B1E"/>
                </a:solidFill>
                <a:latin typeface="Arial" pitchFamily="34" charset="0"/>
                <a:ea typeface="Arial" pitchFamily="34" charset="-122"/>
                <a:cs typeface="Arial" pitchFamily="34" charset="-120"/>
              </a:rPr>
              <a:t>98.70%</a:t>
            </a:r>
            <a:endParaRPr lang="en-US" sz="4000" dirty="0"/>
          </a:p>
        </p:txBody>
      </p:sp>
      <p:sp>
        <p:nvSpPr>
          <p:cNvPr id="5" name="Text 3"/>
          <p:cNvSpPr txBox="1"/>
          <p:nvPr/>
        </p:nvSpPr>
        <p:spPr>
          <a:xfrm>
            <a:off x="640080" y="2240280"/>
            <a:ext cx="3246120" cy="1051560"/>
          </a:xfrm>
          <a:prstGeom prst="rect">
            <a:avLst/>
          </a:prstGeom>
          <a:noFill/>
          <a:ln/>
        </p:spPr>
        <p:txBody>
          <a:bodyPr wrap="square" lIns="0" tIns="0" rIns="0" bIns="0" rtlCol="0" anchor="t"/>
          <a:lstStyle/>
          <a:p>
            <a:pPr algn="ctr" indent="0" marL="0">
              <a:buNone/>
            </a:pPr>
            <a:r>
              <a:rPr lang="en-US" sz="1600" dirty="0">
                <a:solidFill>
                  <a:srgbClr val="111111"/>
                </a:solidFill>
                <a:latin typeface="Arial" pitchFamily="34" charset="0"/>
                <a:ea typeface="Arial" pitchFamily="34" charset="-122"/>
                <a:cs typeface="Arial" pitchFamily="34" charset="-120"/>
              </a:rPr>
              <a:t>classifier on the original test set (98.47% macro F1)</a:t>
            </a:r>
            <a:endParaRPr lang="en-US" sz="1600" dirty="0"/>
          </a:p>
        </p:txBody>
      </p:sp>
      <p:sp>
        <p:nvSpPr>
          <p:cNvPr id="6" name="Shape 4"/>
          <p:cNvSpPr/>
          <p:nvPr/>
        </p:nvSpPr>
        <p:spPr>
          <a:xfrm>
            <a:off x="4279392" y="1234440"/>
            <a:ext cx="3611880" cy="2148840"/>
          </a:xfrm>
          <a:prstGeom prst="roundRect">
            <a:avLst>
              <a:gd name="adj" fmla="val 3404"/>
            </a:avLst>
          </a:prstGeom>
          <a:solidFill>
            <a:srgbClr val="F2F7F4"/>
          </a:solidFill>
          <a:ln w="9525">
            <a:solidFill>
              <a:srgbClr val="F2F7F4"/>
            </a:solidFill>
            <a:prstDash val="solid"/>
          </a:ln>
        </p:spPr>
      </p:sp>
      <p:sp>
        <p:nvSpPr>
          <p:cNvPr id="7" name="Text 5"/>
          <p:cNvSpPr txBox="1"/>
          <p:nvPr/>
        </p:nvSpPr>
        <p:spPr>
          <a:xfrm>
            <a:off x="4416552" y="1325880"/>
            <a:ext cx="3337560" cy="868680"/>
          </a:xfrm>
          <a:prstGeom prst="rect">
            <a:avLst/>
          </a:prstGeom>
          <a:noFill/>
          <a:ln/>
        </p:spPr>
        <p:txBody>
          <a:bodyPr wrap="square" lIns="0" tIns="0" rIns="0" bIns="0" rtlCol="0" anchor="ctr"/>
          <a:lstStyle/>
          <a:p>
            <a:pPr algn="ctr" indent="0" marL="0">
              <a:buNone/>
            </a:pPr>
            <a:r>
              <a:rPr lang="en-US" sz="4000" b="1" dirty="0">
                <a:solidFill>
                  <a:srgbClr val="0B5A3C"/>
                </a:solidFill>
                <a:latin typeface="Arial" pitchFamily="34" charset="0"/>
                <a:ea typeface="Arial" pitchFamily="34" charset="-122"/>
                <a:cs typeface="Arial" pitchFamily="34" charset="-120"/>
              </a:rPr>
              <a:t>98.31%</a:t>
            </a:r>
            <a:endParaRPr lang="en-US" sz="4000" dirty="0"/>
          </a:p>
        </p:txBody>
      </p:sp>
      <p:sp>
        <p:nvSpPr>
          <p:cNvPr id="8" name="Text 6"/>
          <p:cNvSpPr txBox="1"/>
          <p:nvPr/>
        </p:nvSpPr>
        <p:spPr>
          <a:xfrm>
            <a:off x="4462272" y="2240280"/>
            <a:ext cx="3246120" cy="1051560"/>
          </a:xfrm>
          <a:prstGeom prst="rect">
            <a:avLst/>
          </a:prstGeom>
          <a:noFill/>
          <a:ln/>
        </p:spPr>
        <p:txBody>
          <a:bodyPr wrap="square" lIns="0" tIns="0" rIns="0" bIns="0" rtlCol="0" anchor="t"/>
          <a:lstStyle/>
          <a:p>
            <a:pPr algn="ctr" indent="0" marL="0">
              <a:buNone/>
            </a:pPr>
            <a:r>
              <a:rPr lang="en-US" sz="1600" dirty="0">
                <a:solidFill>
                  <a:srgbClr val="111111"/>
                </a:solidFill>
                <a:latin typeface="Arial" pitchFamily="34" charset="0"/>
                <a:ea typeface="Arial" pitchFamily="34" charset="-122"/>
                <a:cs typeface="Arial" pitchFamily="34" charset="-120"/>
              </a:rPr>
              <a:t>same classifier recipe, tested on unseen drives (15 runs)</a:t>
            </a:r>
            <a:endParaRPr lang="en-US" sz="1600" dirty="0"/>
          </a:p>
        </p:txBody>
      </p:sp>
      <p:sp>
        <p:nvSpPr>
          <p:cNvPr id="9" name="Shape 7"/>
          <p:cNvSpPr/>
          <p:nvPr/>
        </p:nvSpPr>
        <p:spPr>
          <a:xfrm>
            <a:off x="8101584" y="1234440"/>
            <a:ext cx="3611880" cy="2148840"/>
          </a:xfrm>
          <a:prstGeom prst="roundRect">
            <a:avLst>
              <a:gd name="adj" fmla="val 3404"/>
            </a:avLst>
          </a:prstGeom>
          <a:solidFill>
            <a:srgbClr val="F2F7F4"/>
          </a:solidFill>
          <a:ln w="9525">
            <a:solidFill>
              <a:srgbClr val="F2F7F4"/>
            </a:solidFill>
            <a:prstDash val="solid"/>
          </a:ln>
        </p:spPr>
      </p:sp>
      <p:sp>
        <p:nvSpPr>
          <p:cNvPr id="10" name="Text 8"/>
          <p:cNvSpPr txBox="1"/>
          <p:nvPr/>
        </p:nvSpPr>
        <p:spPr>
          <a:xfrm>
            <a:off x="8238744" y="1325880"/>
            <a:ext cx="3337560" cy="868680"/>
          </a:xfrm>
          <a:prstGeom prst="rect">
            <a:avLst/>
          </a:prstGeom>
          <a:noFill/>
          <a:ln/>
        </p:spPr>
        <p:txBody>
          <a:bodyPr wrap="square" lIns="0" tIns="0" rIns="0" bIns="0" rtlCol="0" anchor="ctr"/>
          <a:lstStyle/>
          <a:p>
            <a:pPr algn="ctr" indent="0" marL="0">
              <a:buNone/>
            </a:pPr>
            <a:r>
              <a:rPr lang="en-US" sz="4000" b="1" dirty="0">
                <a:solidFill>
                  <a:srgbClr val="0B5A3C"/>
                </a:solidFill>
                <a:latin typeface="Arial" pitchFamily="34" charset="0"/>
                <a:ea typeface="Arial" pitchFamily="34" charset="-122"/>
                <a:cs typeface="Arial" pitchFamily="34" charset="-120"/>
              </a:rPr>
              <a:t>96.1%</a:t>
            </a:r>
            <a:endParaRPr lang="en-US" sz="4000" dirty="0"/>
          </a:p>
        </p:txBody>
      </p:sp>
      <p:sp>
        <p:nvSpPr>
          <p:cNvPr id="11" name="Text 9"/>
          <p:cNvSpPr txBox="1"/>
          <p:nvPr/>
        </p:nvSpPr>
        <p:spPr>
          <a:xfrm>
            <a:off x="8284464" y="2240280"/>
            <a:ext cx="3246120" cy="1051560"/>
          </a:xfrm>
          <a:prstGeom prst="rect">
            <a:avLst/>
          </a:prstGeom>
          <a:noFill/>
          <a:ln/>
        </p:spPr>
        <p:txBody>
          <a:bodyPr wrap="square" lIns="0" tIns="0" rIns="0" bIns="0" rtlCol="0" anchor="t"/>
          <a:lstStyle/>
          <a:p>
            <a:pPr algn="ctr" indent="0" marL="0">
              <a:buNone/>
            </a:pPr>
            <a:r>
              <a:rPr lang="en-US" sz="1600" dirty="0">
                <a:solidFill>
                  <a:srgbClr val="111111"/>
                </a:solidFill>
                <a:latin typeface="Arial" pitchFamily="34" charset="0"/>
                <a:ea typeface="Arial" pitchFamily="34" charset="-122"/>
                <a:cs typeface="Arial" pitchFamily="34" charset="-120"/>
              </a:rPr>
              <a:t>full photos: signs found AND correctly named (YOLOv8 + ResNet-18)</a:t>
            </a:r>
            <a:endParaRPr lang="en-US" sz="1600" dirty="0"/>
          </a:p>
        </p:txBody>
      </p:sp>
      <p:sp>
        <p:nvSpPr>
          <p:cNvPr id="12" name="Text 10"/>
          <p:cNvSpPr txBox="1"/>
          <p:nvPr/>
        </p:nvSpPr>
        <p:spPr>
          <a:xfrm>
            <a:off x="457200" y="3611880"/>
            <a:ext cx="11274552" cy="457200"/>
          </a:xfrm>
          <a:prstGeom prst="rect">
            <a:avLst/>
          </a:prstGeom>
          <a:noFill/>
          <a:ln/>
        </p:spPr>
        <p:txBody>
          <a:bodyPr wrap="square" lIns="508" tIns="508" rIns="508" bIns="508" rtlCol="0" anchor="t"/>
          <a:lstStyle/>
          <a:p>
            <a:pPr algn="ctr" indent="0" marL="0">
              <a:buNone/>
            </a:pPr>
            <a:r>
              <a:rPr lang="en-US" sz="2000" b="1" dirty="0">
                <a:solidFill>
                  <a:srgbClr val="0B5A3C"/>
                </a:solidFill>
                <a:latin typeface="Arial" pitchFamily="34" charset="0"/>
                <a:ea typeface="Arial" pitchFamily="34" charset="-122"/>
                <a:cs typeface="Arial" pitchFamily="34" charset="-120"/>
              </a:rPr>
              <a:t>Transfer learning was the biggest gain: 70.19% → 92.44% → 98.70% test accuracy.</a:t>
            </a:r>
            <a:endParaRPr lang="en-US" sz="2000" dirty="0"/>
          </a:p>
        </p:txBody>
      </p:sp>
      <p:sp>
        <p:nvSpPr>
          <p:cNvPr id="13" name="Text 11"/>
          <p:cNvSpPr txBox="1"/>
          <p:nvPr/>
        </p:nvSpPr>
        <p:spPr>
          <a:xfrm>
            <a:off x="457200" y="4160520"/>
            <a:ext cx="11274552" cy="731520"/>
          </a:xfrm>
          <a:prstGeom prst="rect">
            <a:avLst/>
          </a:prstGeom>
          <a:noFill/>
          <a:ln/>
        </p:spPr>
        <p:txBody>
          <a:bodyPr wrap="square" lIns="0" tIns="0" rIns="0" bIns="0" rtlCol="0" anchor="ctr"/>
          <a:lstStyle/>
          <a:p>
            <a:pPr algn="ctr" indent="0" marL="0">
              <a:buNone/>
            </a:pPr>
            <a:r>
              <a:rPr lang="en-US" sz="3400" b="1" dirty="0">
                <a:solidFill>
                  <a:srgbClr val="0B5A3C"/>
                </a:solidFill>
                <a:latin typeface="Arial" pitchFamily="34" charset="0"/>
                <a:ea typeface="Arial" pitchFamily="34" charset="-122"/>
                <a:cs typeface="Arial" pitchFamily="34" charset="-120"/>
              </a:rPr>
              <a:t>Thank you! Questions?</a:t>
            </a:r>
            <a:endParaRPr lang="en-US" sz="3400" dirty="0"/>
          </a:p>
        </p:txBody>
      </p:sp>
      <p:sp>
        <p:nvSpPr>
          <p:cNvPr id="14" name="Text 12"/>
          <p:cNvSpPr txBox="1"/>
          <p:nvPr/>
        </p:nvSpPr>
        <p:spPr>
          <a:xfrm>
            <a:off x="457200" y="4937760"/>
            <a:ext cx="11274552" cy="868680"/>
          </a:xfrm>
          <a:prstGeom prst="rect">
            <a:avLst/>
          </a:prstGeom>
          <a:noFill/>
          <a:ln/>
        </p:spPr>
        <p:txBody>
          <a:bodyPr wrap="square" lIns="0" tIns="0" rIns="0" bIns="0" rtlCol="0" anchor="t"/>
          <a:lstStyle/>
          <a:p>
            <a:pPr algn="ctr" indent="0" marL="0">
              <a:spcAft>
                <a:spcPts val="400"/>
              </a:spcAft>
              <a:buNone/>
            </a:pPr>
            <a:r>
              <a:rPr lang="en-US" sz="1700" u="sng" dirty="0">
                <a:solidFill>
                  <a:srgbClr val="1155CC"/>
                </a:solidFill>
                <a:latin typeface="Arial" pitchFamily="34" charset="0"/>
                <a:ea typeface="Arial" pitchFamily="34" charset="-122"/>
                <a:cs typeface="Arial" pitchFamily="34" charset="-120"/>
                <a:hlinkClick r:id="rId1" invalidUrl="" action="" tgtFrame="" tooltip="https://github.com/RothRothRoth/DeepLearning_CNN" history="1" highlightClick="0" endSnd="0">
                  <a:extLst>
                    <a:ext uri="{A12FA001-AC4F-418D-AE19-62706E023703}">
                      <ahyp:hlinkClr xmlns:ahyp="http://schemas.microsoft.com/office/drawing/2018/hyperlinkcolor" val="tx"/>
                    </a:ext>
                  </a:extLst>
                </a:hlinkClick>
              </a:rPr>
              <a:t>Code and README: github.com/RothRothRoth/DeepLearning_CNN</a:t>
            </a:r>
            <a:endParaRPr lang="en-US" sz="1700" dirty="0"/>
          </a:p>
          <a:p>
            <a:pPr algn="ctr" indent="0" marL="0">
              <a:spcAft>
                <a:spcPts val="400"/>
              </a:spcAft>
              <a:buNone/>
            </a:pPr>
            <a:r>
              <a:rPr lang="en-US" sz="1700" u="sng" dirty="0">
                <a:solidFill>
                  <a:srgbClr val="1155CC"/>
                </a:solidFill>
                <a:latin typeface="Arial" pitchFamily="34" charset="0"/>
                <a:ea typeface="Arial" pitchFamily="34" charset="-122"/>
                <a:cs typeface="Arial" pitchFamily="34" charset="-120"/>
                <a:hlinkClick r:id="rId2" invalidUrl="" action="" tgtFrame="" tooltip="https://www.kaggle.com/datasets/sophalratitya/cambodia-traffic-signs-dataset" history="1" highlightClick="0" endSnd="0">
                  <a:extLst>
                    <a:ext uri="{A12FA001-AC4F-418D-AE19-62706E023703}">
                      <ahyp:hlinkClr xmlns:ahyp="http://schemas.microsoft.com/office/drawing/2018/hyperlinkcolor" val="tx"/>
                    </a:ext>
                  </a:extLst>
                </a:hlinkClick>
              </a:rPr>
              <a:t>Dataset: Cambodia Traffic Signs Dataset on Kaggle</a:t>
            </a:r>
            <a:endParaRPr lang="en-US" sz="1700" dirty="0"/>
          </a:p>
        </p:txBody>
      </p:sp>
      <p:sp>
        <p:nvSpPr>
          <p:cNvPr id="25" name="Slide Number Placeholder 0"/>
          <p:cNvSpPr>
            <a:spLocks noGrp="1"/>
          </p:cNvSpPr>
          <p:nvPr>
            <p:ph type="sldNum" sz="quarter" idx="4294967295"/>
          </p:nvPr>
        </p:nvSpPr>
        <p:spPr>
          <a:xfrm>
            <a:off x="5733288" y="65562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4"/>
          <p:cNvSpPr/>
          <p:nvPr>
            <p:ph idx="105" type="title" hasCustomPrompt="1"/>
          </p:nvPr>
        </p:nvSpPr>
        <p:spPr>
          <a:xfrm>
            <a:off x="1463040" y="155448"/>
            <a:ext cx="9262872" cy="621792"/>
          </a:xfrm>
          <a:prstGeom prst="rect">
            <a:avLst/>
          </a:prstGeom>
          <a:noFill/>
          <a:ln/>
        </p:spPr>
        <p:txBody>
          <a:bodyPr wrap="square" lIns="0" tIns="0" rIns="0" bIns="0" rtlCol="0" anchor="ctr"/>
          <a:lstStyle/>
          <a:p>
            <a:pPr algn="ctr" indent="0" marL="0">
              <a:buNone/>
            </a:pPr>
            <a:r>
              <a:rPr lang="en-US" sz="3000" b="1" dirty="0">
                <a:solidFill>
                  <a:srgbClr val="0B5A3C"/>
                </a:solidFill>
                <a:latin typeface="Arial" pitchFamily="34" charset="0"/>
                <a:ea typeface="Arial" pitchFamily="34" charset="-122"/>
                <a:cs typeface="Arial" pitchFamily="34" charset="-120"/>
              </a:rPr>
              <a:t>Backup: Training vs. Validation Accuracy</a:t>
            </a:r>
            <a:endParaRPr lang="en-US" sz="3000" dirty="0"/>
          </a:p>
        </p:txBody>
      </p:sp>
      <p:sp>
        <p:nvSpPr>
          <p:cNvPr id="3" name="Text 1"/>
          <p:cNvSpPr txBox="1"/>
          <p:nvPr/>
        </p:nvSpPr>
        <p:spPr>
          <a:xfrm>
            <a:off x="457200" y="1005840"/>
            <a:ext cx="11274552" cy="365760"/>
          </a:xfrm>
          <a:prstGeom prst="rect">
            <a:avLst/>
          </a:prstGeom>
          <a:noFill/>
          <a:ln/>
        </p:spPr>
        <p:txBody>
          <a:bodyPr wrap="square" lIns="0" tIns="0" rIns="0" bIns="0" rtlCol="0" anchor="t"/>
          <a:lstStyle/>
          <a:p>
            <a:pPr indent="0" marL="0">
              <a:buNone/>
            </a:pPr>
            <a:r>
              <a:rPr lang="en-US" sz="1700" dirty="0">
                <a:solidFill>
                  <a:srgbClr val="4A4A4A"/>
                </a:solidFill>
                <a:latin typeface="Arial" pitchFamily="34" charset="0"/>
                <a:ea typeface="Arial" pitchFamily="34" charset="-122"/>
                <a:cs typeface="Arial" pitchFamily="34" charset="-120"/>
              </a:rPr>
              <a:t>Same runs as the loss curves</a:t>
            </a:r>
            <a:endParaRPr lang="en-US" sz="1700" dirty="0"/>
          </a:p>
        </p:txBody>
      </p:sp>
      <p:pic>
        <p:nvPicPr>
          <p:cNvPr id="4" name="Image 0" descr="C:/Users/ASUSG1~1/AppData/Local/Temp/claude/C--Users-ASUS-G-16-JVR-Desktop-deepLearning-CNN/ddb4b7a1-b5ad-4432-b312-271443ec143d/scratchpad/deck_v3/assets/acc_curves.png">    </p:cNvPr>
          <p:cNvPicPr>
            <a:picLocks noChangeAspect="1"/>
          </p:cNvPicPr>
          <p:nvPr/>
        </p:nvPicPr>
        <p:blipFill>
          <a:blip r:embed="rId1"/>
          <a:stretch>
            <a:fillRect/>
          </a:stretch>
        </p:blipFill>
        <p:spPr>
          <a:xfrm>
            <a:off x="365760" y="2254783"/>
            <a:ext cx="11457432" cy="3079955"/>
          </a:xfrm>
          <a:prstGeom prst="rect">
            <a:avLst/>
          </a:prstGeom>
        </p:spPr>
      </p:pic>
      <p:sp>
        <p:nvSpPr>
          <p:cNvPr id="25" name="Slide Number Placeholder 0"/>
          <p:cNvSpPr>
            <a:spLocks noGrp="1"/>
          </p:cNvSpPr>
          <p:nvPr>
            <p:ph type="sldNum" sz="quarter" idx="4294967295"/>
          </p:nvPr>
        </p:nvSpPr>
        <p:spPr>
          <a:xfrm>
            <a:off x="5733288" y="65562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4"/>
          <p:cNvSpPr/>
          <p:nvPr>
            <p:ph idx="105" type="title" hasCustomPrompt="1"/>
          </p:nvPr>
        </p:nvSpPr>
        <p:spPr>
          <a:xfrm>
            <a:off x="1463040" y="155448"/>
            <a:ext cx="9262872" cy="621792"/>
          </a:xfrm>
          <a:prstGeom prst="rect">
            <a:avLst/>
          </a:prstGeom>
          <a:noFill/>
          <a:ln/>
        </p:spPr>
        <p:txBody>
          <a:bodyPr wrap="square" lIns="0" tIns="0" rIns="0" bIns="0" rtlCol="0" anchor="ctr"/>
          <a:lstStyle/>
          <a:p>
            <a:pPr algn="ctr" indent="0" marL="0">
              <a:buNone/>
            </a:pPr>
            <a:r>
              <a:rPr lang="en-US" sz="3000" b="1" dirty="0">
                <a:solidFill>
                  <a:srgbClr val="0B5A3C"/>
                </a:solidFill>
                <a:latin typeface="Arial" pitchFamily="34" charset="0"/>
                <a:ea typeface="Arial" pitchFamily="34" charset="-122"/>
                <a:cs typeface="Arial" pitchFamily="34" charset="-120"/>
              </a:rPr>
              <a:t>Backup: Fine-Tuned Baseline vs. Final (Loss)</a:t>
            </a:r>
            <a:endParaRPr lang="en-US" sz="3000" dirty="0"/>
          </a:p>
        </p:txBody>
      </p:sp>
      <p:sp>
        <p:nvSpPr>
          <p:cNvPr id="3" name="Text 1"/>
          <p:cNvSpPr txBox="1"/>
          <p:nvPr/>
        </p:nvSpPr>
        <p:spPr>
          <a:xfrm>
            <a:off x="457200" y="1005840"/>
            <a:ext cx="11274552" cy="365760"/>
          </a:xfrm>
          <a:prstGeom prst="rect">
            <a:avLst/>
          </a:prstGeom>
          <a:noFill/>
          <a:ln/>
        </p:spPr>
        <p:txBody>
          <a:bodyPr wrap="square" lIns="0" tIns="0" rIns="0" bIns="0" rtlCol="0" anchor="t"/>
          <a:lstStyle/>
          <a:p>
            <a:pPr indent="0" marL="0">
              <a:buNone/>
            </a:pPr>
            <a:r>
              <a:rPr lang="en-US" sz="1700" dirty="0">
                <a:solidFill>
                  <a:srgbClr val="4A4A4A"/>
                </a:solidFill>
                <a:latin typeface="Arial" pitchFamily="34" charset="0"/>
                <a:ea typeface="Arial" pitchFamily="34" charset="-122"/>
                <a:cs typeface="Arial" pitchFamily="34" charset="-120"/>
              </a:rPr>
              <a:t>Weight decay 0.0001 (baseline) vs. 0.001 (final)</a:t>
            </a:r>
            <a:endParaRPr lang="en-US" sz="1700" dirty="0"/>
          </a:p>
        </p:txBody>
      </p:sp>
      <p:pic>
        <p:nvPicPr>
          <p:cNvPr id="4" name="Image 0" descr="C:/Users/ASUSG1~1/AppData/Local/Temp/claude/C--Users-ASUS-G-16-JVR-Desktop-deepLearning-CNN/ddb4b7a1-b5ad-4432-b312-271443ec143d/scratchpad/deck_v3/assets/loss_finetuned_baseline_vs_final.png">    </p:cNvPr>
          <p:cNvPicPr>
            <a:picLocks noChangeAspect="1"/>
          </p:cNvPicPr>
          <p:nvPr/>
        </p:nvPicPr>
        <p:blipFill>
          <a:blip r:embed="rId1"/>
          <a:stretch>
            <a:fillRect/>
          </a:stretch>
        </p:blipFill>
        <p:spPr>
          <a:xfrm>
            <a:off x="365760" y="1484794"/>
            <a:ext cx="11457432" cy="4619932"/>
          </a:xfrm>
          <a:prstGeom prst="rect">
            <a:avLst/>
          </a:prstGeom>
        </p:spPr>
      </p:pic>
      <p:sp>
        <p:nvSpPr>
          <p:cNvPr id="25" name="Slide Number Placeholder 0"/>
          <p:cNvSpPr>
            <a:spLocks noGrp="1"/>
          </p:cNvSpPr>
          <p:nvPr>
            <p:ph type="sldNum" sz="quarter" idx="4294967295"/>
          </p:nvPr>
        </p:nvSpPr>
        <p:spPr>
          <a:xfrm>
            <a:off x="5733288" y="65562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4"/>
          <p:cNvSpPr/>
          <p:nvPr>
            <p:ph idx="105" type="title" hasCustomPrompt="1"/>
          </p:nvPr>
        </p:nvSpPr>
        <p:spPr>
          <a:xfrm>
            <a:off x="1463040" y="155448"/>
            <a:ext cx="9262872" cy="621792"/>
          </a:xfrm>
          <a:prstGeom prst="rect">
            <a:avLst/>
          </a:prstGeom>
          <a:noFill/>
          <a:ln/>
        </p:spPr>
        <p:txBody>
          <a:bodyPr wrap="square" lIns="0" tIns="0" rIns="0" bIns="0" rtlCol="0" anchor="ctr"/>
          <a:lstStyle/>
          <a:p>
            <a:pPr algn="ctr" indent="0" marL="0">
              <a:buNone/>
            </a:pPr>
            <a:r>
              <a:rPr lang="en-US" sz="3000" b="1" dirty="0">
                <a:solidFill>
                  <a:srgbClr val="0B5A3C"/>
                </a:solidFill>
                <a:latin typeface="Arial" pitchFamily="34" charset="0"/>
                <a:ea typeface="Arial" pitchFamily="34" charset="-122"/>
                <a:cs typeface="Arial" pitchFamily="34" charset="-120"/>
              </a:rPr>
              <a:t>Backup: Grouped Evaluation Confusion Matrix</a:t>
            </a:r>
            <a:endParaRPr lang="en-US" sz="3000" dirty="0"/>
          </a:p>
        </p:txBody>
      </p:sp>
      <p:pic>
        <p:nvPicPr>
          <p:cNvPr id="3" name="Image 0" descr="C:/Users/ASUSG1~1/AppData/Local/Temp/claude/C--Users-ASUS-G-16-JVR-Desktop-deepLearning-CNN/ddb4b7a1-b5ad-4432-b312-271443ec143d/scratchpad/deck_v3/assets/cm_grouped_pictures.png">    </p:cNvPr>
          <p:cNvPicPr>
            <a:picLocks noChangeAspect="1"/>
          </p:cNvPicPr>
          <p:nvPr/>
        </p:nvPicPr>
        <p:blipFill>
          <a:blip r:embed="rId1"/>
          <a:stretch>
            <a:fillRect/>
          </a:stretch>
        </p:blipFill>
        <p:spPr>
          <a:xfrm>
            <a:off x="274320" y="1005840"/>
            <a:ext cx="7086871" cy="5394960"/>
          </a:xfrm>
          <a:prstGeom prst="rect">
            <a:avLst/>
          </a:prstGeom>
        </p:spPr>
      </p:pic>
      <p:sp>
        <p:nvSpPr>
          <p:cNvPr id="4" name="Text 1"/>
          <p:cNvSpPr txBox="1"/>
          <p:nvPr/>
        </p:nvSpPr>
        <p:spPr>
          <a:xfrm>
            <a:off x="8001000" y="1371600"/>
            <a:ext cx="3749040" cy="4114800"/>
          </a:xfrm>
          <a:prstGeom prst="rect">
            <a:avLst/>
          </a:prstGeom>
          <a:noFill/>
          <a:ln/>
        </p:spPr>
        <p:txBody>
          <a:bodyPr wrap="square" lIns="635" tIns="635" rIns="635" bIns="635" rtlCol="0" anchor="t"/>
          <a:lstStyle/>
          <a:p>
            <a:pPr marL="279400" indent="-279400">
              <a:spcAft>
                <a:spcPts val="1000"/>
              </a:spcAft>
              <a:buSzPct val="100000"/>
              <a:buChar char="•"/>
            </a:pPr>
            <a:r>
              <a:rPr lang="en-US" sz="1800" dirty="0">
                <a:solidFill>
                  <a:srgbClr val="111111"/>
                </a:solidFill>
                <a:latin typeface="Arial" pitchFamily="34" charset="0"/>
                <a:ea typeface="Arial" pitchFamily="34" charset="-122"/>
                <a:cs typeface="Arial" pitchFamily="34" charset="-120"/>
              </a:rPr>
              <a:t>All 3,070 crops, summed over 3 seeds</a:t>
            </a:r>
            <a:endParaRPr lang="en-US" sz="1800" dirty="0"/>
          </a:p>
          <a:p>
            <a:pPr marL="279400" indent="-279400">
              <a:spcAft>
                <a:spcPts val="1000"/>
              </a:spcAft>
              <a:buSzPct val="100000"/>
              <a:buChar char="•"/>
            </a:pPr>
            <a:r>
              <a:rPr lang="en-US" sz="1800" dirty="0">
                <a:solidFill>
                  <a:srgbClr val="111111"/>
                </a:solidFill>
                <a:latin typeface="Arial" pitchFamily="34" charset="0"/>
                <a:ea typeface="Arial" pitchFamily="34" charset="-122"/>
                <a:cs typeface="Arial" pitchFamily="34" charset="-120"/>
              </a:rPr>
              <a:t>Rows: true sign; columns: predicted sign</a:t>
            </a:r>
            <a:endParaRPr lang="en-US" sz="1800" dirty="0"/>
          </a:p>
          <a:p>
            <a:pPr marL="279400" indent="-279400">
              <a:spcAft>
                <a:spcPts val="1000"/>
              </a:spcAft>
              <a:buSzPct val="100000"/>
              <a:buChar char="•"/>
            </a:pPr>
            <a:r>
              <a:rPr lang="en-US" sz="1800" dirty="0">
                <a:solidFill>
                  <a:srgbClr val="111111"/>
                </a:solidFill>
                <a:latin typeface="Arial" pitchFamily="34" charset="0"/>
                <a:ea typeface="Arial" pitchFamily="34" charset="-122"/>
                <a:cs typeface="Arial" pitchFamily="34" charset="-120"/>
              </a:rPr>
              <a:t>Green: correct · red: mistakes</a:t>
            </a:r>
            <a:endParaRPr lang="en-US" sz="1800" dirty="0"/>
          </a:p>
          <a:p>
            <a:pPr marL="279400" indent="-279400">
              <a:spcAft>
                <a:spcPts val="1000"/>
              </a:spcAft>
              <a:buSzPct val="100000"/>
              <a:buChar char="•"/>
            </a:pPr>
            <a:r>
              <a:rPr lang="en-US" sz="1800" dirty="0">
                <a:solidFill>
                  <a:srgbClr val="111111"/>
                </a:solidFill>
                <a:latin typeface="Arial" pitchFamily="34" charset="0"/>
                <a:ea typeface="Arial" pitchFamily="34" charset="-122"/>
                <a:cs typeface="Arial" pitchFamily="34" charset="-120"/>
              </a:rPr>
              <a:t>Biggest: Cross Road → Priority Road (25)</a:t>
            </a:r>
            <a:endParaRPr lang="en-US" sz="1800" dirty="0"/>
          </a:p>
        </p:txBody>
      </p:sp>
      <p:sp>
        <p:nvSpPr>
          <p:cNvPr id="25" name="Slide Number Placeholder 0"/>
          <p:cNvSpPr>
            <a:spLocks noGrp="1"/>
          </p:cNvSpPr>
          <p:nvPr>
            <p:ph type="sldNum" sz="quarter" idx="4294967295"/>
          </p:nvPr>
        </p:nvSpPr>
        <p:spPr>
          <a:xfrm>
            <a:off x="5733288" y="65562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4"/>
          <p:cNvSpPr/>
          <p:nvPr>
            <p:ph idx="105" type="title" hasCustomPrompt="1"/>
          </p:nvPr>
        </p:nvSpPr>
        <p:spPr>
          <a:xfrm>
            <a:off x="1463040" y="155448"/>
            <a:ext cx="9262872" cy="621792"/>
          </a:xfrm>
          <a:prstGeom prst="rect">
            <a:avLst/>
          </a:prstGeom>
          <a:noFill/>
          <a:ln/>
        </p:spPr>
        <p:txBody>
          <a:bodyPr wrap="square" lIns="0" tIns="0" rIns="0" bIns="0" rtlCol="0" anchor="ctr"/>
          <a:lstStyle/>
          <a:p>
            <a:pPr algn="ctr" indent="0" marL="0">
              <a:buNone/>
            </a:pPr>
            <a:r>
              <a:rPr lang="en-US" sz="3000" b="1" dirty="0">
                <a:solidFill>
                  <a:srgbClr val="0B5A3C"/>
                </a:solidFill>
                <a:latin typeface="Arial" pitchFamily="34" charset="0"/>
                <a:ea typeface="Arial" pitchFamily="34" charset="-122"/>
                <a:cs typeface="Arial" pitchFamily="34" charset="-120"/>
              </a:rPr>
              <a:t>Backup: Weakest Classes (Grouped Evaluation)</a:t>
            </a:r>
            <a:endParaRPr lang="en-US" sz="3000" dirty="0"/>
          </a:p>
        </p:txBody>
      </p:sp>
      <p:sp>
        <p:nvSpPr>
          <p:cNvPr id="3" name="Text 1"/>
          <p:cNvSpPr txBox="1"/>
          <p:nvPr/>
        </p:nvSpPr>
        <p:spPr>
          <a:xfrm>
            <a:off x="457200" y="1005840"/>
            <a:ext cx="11274552" cy="365760"/>
          </a:xfrm>
          <a:prstGeom prst="rect">
            <a:avLst/>
          </a:prstGeom>
          <a:noFill/>
          <a:ln/>
        </p:spPr>
        <p:txBody>
          <a:bodyPr wrap="square" lIns="0" tIns="0" rIns="0" bIns="0" rtlCol="0" anchor="t"/>
          <a:lstStyle/>
          <a:p>
            <a:pPr indent="0" marL="0">
              <a:buNone/>
            </a:pPr>
            <a:r>
              <a:rPr lang="en-US" sz="1700" dirty="0">
                <a:solidFill>
                  <a:srgbClr val="4A4A4A"/>
                </a:solidFill>
                <a:latin typeface="Arial" pitchFamily="34" charset="0"/>
                <a:ea typeface="Arial" pitchFamily="34" charset="-122"/>
                <a:cs typeface="Arial" pitchFamily="34" charset="-120"/>
              </a:rPr>
              <a:t>Pooled over folds; mean over 3 seeds</a:t>
            </a:r>
            <a:endParaRPr lang="en-US" sz="17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7040880" cy="914400"/>
        </p:xfrm>
        <a:graphic>
          <a:graphicData uri="http://schemas.openxmlformats.org/drawingml/2006/table">
            <a:tbl>
              <a:tblPr/>
              <a:tblGrid>
                <a:gridCol w="2377440"/>
                <a:gridCol w="1417320"/>
                <a:gridCol w="1005840"/>
                <a:gridCol w="1234440"/>
                <a:gridCol w="1005840"/>
              </a:tblGrid>
              <a:tr h="548640">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Class</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F1</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Recall</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Precision</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Images</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r>
              <a:tr h="548640">
                <a:tc>
                  <a:txBody>
                    <a:bodyPr/>
                    <a:lstStyle/>
                    <a:p>
                      <a:pPr algn="ctr" indent="0" marL="0">
                        <a:buNone/>
                      </a:pPr>
                      <a:r>
                        <a:rPr lang="en-US" sz="1700" b="1" dirty="0">
                          <a:solidFill>
                            <a:srgbClr val="C44E52"/>
                          </a:solidFill>
                          <a:latin typeface="Arial" pitchFamily="34" charset="0"/>
                          <a:ea typeface="Arial" pitchFamily="34" charset="-122"/>
                          <a:cs typeface="Arial" pitchFamily="34" charset="-120"/>
                        </a:rPr>
                        <a:t>Cross Road</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C44E52"/>
                          </a:solidFill>
                          <a:latin typeface="Arial" pitchFamily="34" charset="0"/>
                          <a:ea typeface="Arial" pitchFamily="34" charset="-122"/>
                          <a:cs typeface="Arial" pitchFamily="34" charset="-120"/>
                        </a:rPr>
                        <a:t>0.81 ± 0.15</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0.72</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0.96</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42</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r h="548640">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Hospital</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0.93 ± 0.02</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0.91</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0.95</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53</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r h="548640">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Priority Road</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0.94 ± 0.04</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0.97</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0.92</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109</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r h="548640">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Right Bend</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0.95 ± 0.02</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0.92</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0.98</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47</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r h="548640">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Pedestrian Crossing</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0.96 ± 0.02</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0.98</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0.94</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120</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bl>
          </a:graphicData>
        </a:graphic>
      </p:graphicFrame>
      <p:sp>
        <p:nvSpPr>
          <p:cNvPr id="5" name="Text 2"/>
          <p:cNvSpPr txBox="1"/>
          <p:nvPr/>
        </p:nvSpPr>
        <p:spPr>
          <a:xfrm>
            <a:off x="7818120" y="1645920"/>
            <a:ext cx="3931920" cy="457200"/>
          </a:xfrm>
          <a:prstGeom prst="rect">
            <a:avLst/>
          </a:prstGeom>
          <a:noFill/>
          <a:ln/>
        </p:spPr>
        <p:txBody>
          <a:bodyPr wrap="square" lIns="508" tIns="508" rIns="508" bIns="508" rtlCol="0" anchor="t"/>
          <a:lstStyle/>
          <a:p>
            <a:pPr indent="0" marL="0">
              <a:buNone/>
            </a:pPr>
            <a:r>
              <a:rPr lang="en-US" sz="1900" b="1" dirty="0">
                <a:solidFill>
                  <a:srgbClr val="0B5A3C"/>
                </a:solidFill>
                <a:latin typeface="Arial" pitchFamily="34" charset="0"/>
                <a:ea typeface="Arial" pitchFamily="34" charset="-122"/>
                <a:cs typeface="Arial" pitchFamily="34" charset="-120"/>
              </a:rPr>
              <a:t>Top confusions (3 seeds)</a:t>
            </a:r>
            <a:endParaRPr lang="en-US" sz="1900" dirty="0"/>
          </a:p>
        </p:txBody>
      </p:sp>
      <p:sp>
        <p:nvSpPr>
          <p:cNvPr id="6" name="Text 3"/>
          <p:cNvSpPr txBox="1"/>
          <p:nvPr/>
        </p:nvSpPr>
        <p:spPr>
          <a:xfrm>
            <a:off x="7818120" y="2148840"/>
            <a:ext cx="3931920" cy="3200400"/>
          </a:xfrm>
          <a:prstGeom prst="rect">
            <a:avLst/>
          </a:prstGeom>
          <a:noFill/>
          <a:ln/>
        </p:spPr>
        <p:txBody>
          <a:bodyPr wrap="square" lIns="635" tIns="635" rIns="635" bIns="635" rtlCol="0" anchor="t"/>
          <a:lstStyle/>
          <a:p>
            <a:pPr marL="279400" indent="-279400">
              <a:spcAft>
                <a:spcPts val="1000"/>
              </a:spcAft>
              <a:buSzPct val="100000"/>
              <a:buChar char="•"/>
            </a:pPr>
            <a:r>
              <a:rPr lang="en-US" sz="1700" dirty="0">
                <a:solidFill>
                  <a:srgbClr val="111111"/>
                </a:solidFill>
                <a:latin typeface="Arial" pitchFamily="34" charset="0"/>
                <a:ea typeface="Arial" pitchFamily="34" charset="-122"/>
                <a:cs typeface="Arial" pitchFamily="34" charset="-120"/>
              </a:rPr>
              <a:t>Cross Road → Priority Road: 25</a:t>
            </a:r>
            <a:endParaRPr lang="en-US" sz="1700" dirty="0"/>
          </a:p>
          <a:p>
            <a:pPr marL="279400" indent="-279400">
              <a:spcAft>
                <a:spcPts val="1000"/>
              </a:spcAft>
              <a:buSzPct val="100000"/>
              <a:buChar char="•"/>
            </a:pPr>
            <a:r>
              <a:rPr lang="en-US" sz="1700" dirty="0">
                <a:solidFill>
                  <a:srgbClr val="111111"/>
                </a:solidFill>
                <a:latin typeface="Arial" pitchFamily="34" charset="0"/>
                <a:ea typeface="Arial" pitchFamily="34" charset="-122"/>
                <a:cs typeface="Arial" pitchFamily="34" charset="-120"/>
              </a:rPr>
              <a:t>Priority Road → Pedestrian Crossing: 10</a:t>
            </a:r>
            <a:endParaRPr lang="en-US" sz="1700" dirty="0"/>
          </a:p>
          <a:p>
            <a:pPr marL="279400" indent="-279400">
              <a:spcAft>
                <a:spcPts val="1000"/>
              </a:spcAft>
              <a:buSzPct val="100000"/>
              <a:buChar char="•"/>
            </a:pPr>
            <a:r>
              <a:rPr lang="en-US" sz="1700" dirty="0">
                <a:solidFill>
                  <a:srgbClr val="111111"/>
                </a:solidFill>
                <a:latin typeface="Arial" pitchFamily="34" charset="0"/>
                <a:ea typeface="Arial" pitchFamily="34" charset="-122"/>
                <a:cs typeface="Arial" pitchFamily="34" charset="-120"/>
              </a:rPr>
              <a:t>Cross Road → Junction Right: 9</a:t>
            </a:r>
            <a:endParaRPr lang="en-US" sz="1700" dirty="0"/>
          </a:p>
          <a:p>
            <a:pPr marL="279400" indent="-279400">
              <a:spcAft>
                <a:spcPts val="1000"/>
              </a:spcAft>
              <a:buSzPct val="100000"/>
              <a:buChar char="•"/>
            </a:pPr>
            <a:r>
              <a:rPr lang="en-US" sz="1700" dirty="0">
                <a:solidFill>
                  <a:srgbClr val="111111"/>
                </a:solidFill>
                <a:latin typeface="Arial" pitchFamily="34" charset="0"/>
                <a:ea typeface="Arial" pitchFamily="34" charset="-122"/>
                <a:cs typeface="Arial" pitchFamily="34" charset="-120"/>
              </a:rPr>
              <a:t>Pedestrian → Children Crossing: 7</a:t>
            </a:r>
            <a:endParaRPr lang="en-US" sz="1700" dirty="0"/>
          </a:p>
        </p:txBody>
      </p:sp>
      <p:sp>
        <p:nvSpPr>
          <p:cNvPr id="25" name="Slide Number Placeholder 0"/>
          <p:cNvSpPr>
            <a:spLocks noGrp="1"/>
          </p:cNvSpPr>
          <p:nvPr>
            <p:ph type="sldNum" sz="quarter" idx="4294967295"/>
          </p:nvPr>
        </p:nvSpPr>
        <p:spPr>
          <a:xfrm>
            <a:off x="5733288" y="65562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4"/>
          <p:cNvSpPr/>
          <p:nvPr>
            <p:ph idx="105" type="title" hasCustomPrompt="1"/>
          </p:nvPr>
        </p:nvSpPr>
        <p:spPr>
          <a:xfrm>
            <a:off x="1463040" y="155448"/>
            <a:ext cx="9262872" cy="621792"/>
          </a:xfrm>
          <a:prstGeom prst="rect">
            <a:avLst/>
          </a:prstGeom>
          <a:noFill/>
          <a:ln/>
        </p:spPr>
        <p:txBody>
          <a:bodyPr wrap="square" lIns="0" tIns="0" rIns="0" bIns="0" rtlCol="0" anchor="ctr"/>
          <a:lstStyle/>
          <a:p>
            <a:pPr algn="ctr" indent="0" marL="0">
              <a:buNone/>
            </a:pPr>
            <a:r>
              <a:rPr lang="en-US" sz="3000" b="1" dirty="0">
                <a:solidFill>
                  <a:srgbClr val="0B5A3C"/>
                </a:solidFill>
                <a:latin typeface="Arial" pitchFamily="34" charset="0"/>
                <a:ea typeface="Arial" pitchFamily="34" charset="-122"/>
                <a:cs typeface="Arial" pitchFamily="34" charset="-120"/>
              </a:rPr>
              <a:t>Backup: Detector Threshold and Image-Size Check</a:t>
            </a:r>
            <a:endParaRPr lang="en-US" sz="3000" dirty="0"/>
          </a:p>
        </p:txBody>
      </p:sp>
      <p:sp>
        <p:nvSpPr>
          <p:cNvPr id="3" name="Text 1"/>
          <p:cNvSpPr txBox="1"/>
          <p:nvPr/>
        </p:nvSpPr>
        <p:spPr>
          <a:xfrm>
            <a:off x="457200" y="1005840"/>
            <a:ext cx="11274552" cy="365760"/>
          </a:xfrm>
          <a:prstGeom prst="rect">
            <a:avLst/>
          </a:prstGeom>
          <a:noFill/>
          <a:ln/>
        </p:spPr>
        <p:txBody>
          <a:bodyPr wrap="square" lIns="0" tIns="0" rIns="0" bIns="0" rtlCol="0" anchor="t"/>
          <a:lstStyle/>
          <a:p>
            <a:pPr indent="0" marL="0">
              <a:buNone/>
            </a:pPr>
            <a:r>
              <a:rPr lang="en-US" sz="1700" dirty="0">
                <a:solidFill>
                  <a:srgbClr val="4A4A4A"/>
                </a:solidFill>
                <a:latin typeface="Arial" pitchFamily="34" charset="0"/>
                <a:ea typeface="Arial" pitchFamily="34" charset="-122"/>
                <a:cs typeface="Arial" pitchFamily="34" charset="-120"/>
              </a:rPr>
              <a:t>Setting chosen by a fixed rule on validation photos; test used once</a:t>
            </a:r>
            <a:endParaRPr lang="en-US" sz="17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4023360"/>
                <a:gridCol w="1463040"/>
                <a:gridCol w="2514600"/>
                <a:gridCol w="1554480"/>
                <a:gridCol w="1719072"/>
              </a:tblGrid>
              <a:tr h="566928">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Setting</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Photos</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Found and correctly named</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Missed signs</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Extra boxes</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r>
              <a:tr h="566928">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1280 px, conf 0.25 (default)</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validation</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97.36%</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16</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52</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r h="566928">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1600 px, conf 0.30 (rule's choice)</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validation</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98.02%</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12</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51</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r h="566928">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1280 px, conf 0.25 (default) ★ kept</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FBEDE5"/>
                    </a:solidFill>
                  </a:tcPr>
                </a:tc>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test</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FBEDE5"/>
                    </a:solidFill>
                  </a:tcPr>
                </a:tc>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96.11%</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FBEDE5"/>
                    </a:solidFill>
                  </a:tcPr>
                </a:tc>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15</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FBEDE5"/>
                    </a:solidFill>
                  </a:tcPr>
                </a:tc>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43</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FBEDE5"/>
                    </a:solidFill>
                  </a:tcPr>
                </a:tc>
              </a:tr>
              <a:tr h="566928">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1600 px, conf 0.30</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test</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95.46%</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15</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51</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bl>
          </a:graphicData>
        </a:graphic>
      </p:graphicFrame>
      <p:sp>
        <p:nvSpPr>
          <p:cNvPr id="5" name="Text 2"/>
          <p:cNvSpPr txBox="1"/>
          <p:nvPr/>
        </p:nvSpPr>
        <p:spPr>
          <a:xfrm>
            <a:off x="457200" y="4663440"/>
            <a:ext cx="11274552" cy="1097280"/>
          </a:xfrm>
          <a:prstGeom prst="rect">
            <a:avLst/>
          </a:prstGeom>
          <a:noFill/>
          <a:ln/>
        </p:spPr>
        <p:txBody>
          <a:bodyPr wrap="square" lIns="508" tIns="508" rIns="508" bIns="508" rtlCol="0" anchor="t"/>
          <a:lstStyle/>
          <a:p>
            <a:pPr indent="0" marL="0">
              <a:buNone/>
            </a:pPr>
            <a:r>
              <a:rPr lang="en-US" sz="1700" dirty="0">
                <a:solidFill>
                  <a:srgbClr val="111111"/>
                </a:solidFill>
                <a:latin typeface="Arial" pitchFamily="34" charset="0"/>
                <a:ea typeface="Arial" pitchFamily="34" charset="-122"/>
                <a:cs typeface="Arial" pitchFamily="34" charset="-120"/>
              </a:rPr>
              <a:t>The validation gain did not carry over to test, so the default was kept. Most "extra boxes" are real signs that the dataset did not label (visual check), so precision is probably underestimated.</a:t>
            </a:r>
            <a:endParaRPr lang="en-US" sz="1700" dirty="0"/>
          </a:p>
        </p:txBody>
      </p:sp>
      <p:sp>
        <p:nvSpPr>
          <p:cNvPr id="25" name="Slide Number Placeholder 0"/>
          <p:cNvSpPr>
            <a:spLocks noGrp="1"/>
          </p:cNvSpPr>
          <p:nvPr>
            <p:ph type="sldNum" sz="quarter" idx="4294967295"/>
          </p:nvPr>
        </p:nvSpPr>
        <p:spPr>
          <a:xfrm>
            <a:off x="5733288" y="65562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4"/>
          <p:cNvSpPr/>
          <p:nvPr>
            <p:ph idx="105" type="title" hasCustomPrompt="1"/>
          </p:nvPr>
        </p:nvSpPr>
        <p:spPr>
          <a:xfrm>
            <a:off x="1463040" y="155448"/>
            <a:ext cx="9262872" cy="621792"/>
          </a:xfrm>
          <a:prstGeom prst="rect">
            <a:avLst/>
          </a:prstGeom>
          <a:noFill/>
          <a:ln/>
        </p:spPr>
        <p:txBody>
          <a:bodyPr wrap="square" lIns="0" tIns="0" rIns="0" bIns="0" rtlCol="0" anchor="ctr"/>
          <a:lstStyle/>
          <a:p>
            <a:pPr algn="ctr" indent="0" marL="0">
              <a:buNone/>
            </a:pPr>
            <a:r>
              <a:rPr lang="en-US" sz="3000" b="1" dirty="0">
                <a:solidFill>
                  <a:srgbClr val="0B5A3C"/>
                </a:solidFill>
                <a:latin typeface="Arial" pitchFamily="34" charset="0"/>
                <a:ea typeface="Arial" pitchFamily="34" charset="-122"/>
                <a:cs typeface="Arial" pitchFamily="34" charset="-120"/>
              </a:rPr>
              <a:t>Backup: Shared Training Settings</a:t>
            </a:r>
            <a:endParaRPr lang="en-US" sz="3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74552" cy="914400"/>
        </p:xfrm>
        <a:graphic>
          <a:graphicData uri="http://schemas.openxmlformats.org/drawingml/2006/table">
            <a:tbl>
              <a:tblPr/>
              <a:tblGrid>
                <a:gridCol w="3291840"/>
                <a:gridCol w="7982712"/>
              </a:tblGrid>
              <a:tr h="566928">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Setting</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c>
                  <a:txBody>
                    <a:bodyPr/>
                    <a:lstStyle/>
                    <a:p>
                      <a:pPr algn="ctr" indent="0" marL="0">
                        <a:buNone/>
                      </a:pPr>
                      <a:r>
                        <a:rPr lang="en-US" sz="1700" b="1" dirty="0">
                          <a:solidFill>
                            <a:srgbClr val="FFFFFF"/>
                          </a:solidFill>
                          <a:latin typeface="Arial" pitchFamily="34" charset="0"/>
                          <a:ea typeface="Arial" pitchFamily="34" charset="-122"/>
                          <a:cs typeface="Arial" pitchFamily="34" charset="-120"/>
                        </a:rPr>
                        <a:t>Value</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solidFill>
                      <a:srgbClr val="0B5A3C"/>
                    </a:solidFill>
                  </a:tcPr>
                </a:tc>
              </a:tr>
              <a:tr h="566928">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Optimiser / loss</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Adam · cross-entropy</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r h="566928">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Batch size / max epochs</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32 · 40</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r h="566928">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Learning rate schedule</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ReduceLROnPlateau (×0.5 after 3 epochs without improvement)</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r h="566928">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Model selection</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early stopping (patience 10), best-validation checkpoint</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r h="566928">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Reproducibility</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seed 42 for Python, NumPy, PyTorch; deterministic cuDNN</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r h="566928">
                <a:tc>
                  <a:txBody>
                    <a:bodyPr/>
                    <a:lstStyle/>
                    <a:p>
                      <a:pPr algn="ctr" indent="0" marL="0">
                        <a:buNone/>
                      </a:pPr>
                      <a:r>
                        <a:rPr lang="en-US" sz="1700" b="1" dirty="0">
                          <a:solidFill>
                            <a:srgbClr val="111111"/>
                          </a:solidFill>
                          <a:latin typeface="Arial" pitchFamily="34" charset="0"/>
                          <a:ea typeface="Arial" pitchFamily="34" charset="-122"/>
                          <a:cs typeface="Arial" pitchFamily="34" charset="-120"/>
                        </a:rPr>
                        <a:t>Hardware</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c>
                  <a:txBody>
                    <a:bodyPr/>
                    <a:lstStyle/>
                    <a:p>
                      <a:pPr algn="ctr" indent="0" marL="0">
                        <a:buNone/>
                      </a:pPr>
                      <a:r>
                        <a:rPr lang="en-US" sz="1700" dirty="0">
                          <a:solidFill>
                            <a:srgbClr val="111111"/>
                          </a:solidFill>
                          <a:latin typeface="Arial" pitchFamily="34" charset="0"/>
                          <a:ea typeface="Arial" pitchFamily="34" charset="-122"/>
                          <a:cs typeface="Arial" pitchFamily="34" charset="-120"/>
                        </a:rPr>
                        <a:t>Google Colab, NVIDIA Tesla T4 (classifiers); RTX 4060 laptop (YOLOv8, grouped runs)</a:t>
                      </a:r>
                      <a:endParaRPr lang="en-US" sz="1700" dirty="0">
                        <a:latin typeface="Arial" charset="0"/>
                        <a:ea typeface="Arial" charset="0"/>
                        <a:cs typeface="Arial" charset="0"/>
                      </a:endParaRPr>
                    </a:p>
                  </a:txBody>
                  <a:tcPr marL="91440" marR="91440" marT="45720" marB="45720" anchor="ctr">
                    <a:lnL w="12700" cap="flat" cmpd="sng" algn="ctr">
                      <a:solidFill>
                        <a:srgbClr val="D5E4DB"/>
                      </a:solidFill>
                      <a:prstDash val="solid"/>
                      <a:round/>
                      <a:headEnd type="none" w="med" len="med"/>
                      <a:tailEnd type="none" w="med" len="med"/>
                    </a:lnL>
                    <a:lnR w="12700" cap="flat" cmpd="sng" algn="ctr">
                      <a:solidFill>
                        <a:srgbClr val="D5E4DB"/>
                      </a:solidFill>
                      <a:prstDash val="solid"/>
                      <a:round/>
                      <a:headEnd type="none" w="med" len="med"/>
                      <a:tailEnd type="none" w="med" len="med"/>
                    </a:lnR>
                    <a:lnT w="12700" cap="flat" cmpd="sng" algn="ctr">
                      <a:solidFill>
                        <a:srgbClr val="D5E4DB"/>
                      </a:solidFill>
                      <a:prstDash val="solid"/>
                      <a:round/>
                      <a:headEnd type="none" w="med" len="med"/>
                      <a:tailEnd type="none" w="med" len="med"/>
                    </a:lnT>
                    <a:lnB w="12700" cap="flat" cmpd="sng" algn="ctr">
                      <a:solidFill>
                        <a:srgbClr val="D5E4DB"/>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5733288" y="655624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Cambodian Traffic Sign Recognition (v4)</dc:title>
  <dc:subject>PptxGenJS Presentation</dc:subject>
  <dc:creator>Tes Sothyroth</dc:creator>
  <cp:lastModifiedBy>Tes Sothyroth</cp:lastModifiedBy>
  <cp:revision>1</cp:revision>
  <dcterms:created xsi:type="dcterms:W3CDTF">2026-10-17T11:08:39Z</dcterms:created>
  <dcterms:modified xsi:type="dcterms:W3CDTF">2026-10-17T11:08:39Z</dcterms:modified>
</cp:coreProperties>
</file>